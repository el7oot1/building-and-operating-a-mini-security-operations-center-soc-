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56"/>
  </p:notesMasterIdLst>
  <p:sldIdLst>
    <p:sldId id="312" r:id="rId2"/>
    <p:sldId id="259" r:id="rId3"/>
    <p:sldId id="260" r:id="rId4"/>
    <p:sldId id="258" r:id="rId5"/>
    <p:sldId id="264" r:id="rId6"/>
    <p:sldId id="265" r:id="rId7"/>
    <p:sldId id="266" r:id="rId8"/>
    <p:sldId id="267" r:id="rId9"/>
    <p:sldId id="268" r:id="rId10"/>
    <p:sldId id="269" r:id="rId11"/>
    <p:sldId id="270" r:id="rId12"/>
    <p:sldId id="271" r:id="rId13"/>
    <p:sldId id="272" r:id="rId14"/>
    <p:sldId id="273" r:id="rId15"/>
    <p:sldId id="283" r:id="rId16"/>
    <p:sldId id="284" r:id="rId17"/>
    <p:sldId id="285" r:id="rId18"/>
    <p:sldId id="274" r:id="rId19"/>
    <p:sldId id="275" r:id="rId20"/>
    <p:sldId id="276" r:id="rId21"/>
    <p:sldId id="277" r:id="rId22"/>
    <p:sldId id="278" r:id="rId23"/>
    <p:sldId id="279" r:id="rId24"/>
    <p:sldId id="282" r:id="rId25"/>
    <p:sldId id="281" r:id="rId26"/>
    <p:sldId id="286" r:id="rId27"/>
    <p:sldId id="287" r:id="rId28"/>
    <p:sldId id="288" r:id="rId29"/>
    <p:sldId id="289" r:id="rId30"/>
    <p:sldId id="290" r:id="rId31"/>
    <p:sldId id="291" r:id="rId32"/>
    <p:sldId id="292" r:id="rId33"/>
    <p:sldId id="293" r:id="rId34"/>
    <p:sldId id="294" r:id="rId35"/>
    <p:sldId id="295" r:id="rId36"/>
    <p:sldId id="296" r:id="rId37"/>
    <p:sldId id="297" r:id="rId38"/>
    <p:sldId id="298" r:id="rId39"/>
    <p:sldId id="299" r:id="rId40"/>
    <p:sldId id="300" r:id="rId41"/>
    <p:sldId id="301" r:id="rId42"/>
    <p:sldId id="302" r:id="rId43"/>
    <p:sldId id="280" r:id="rId44"/>
    <p:sldId id="303" r:id="rId45"/>
    <p:sldId id="304" r:id="rId46"/>
    <p:sldId id="305" r:id="rId47"/>
    <p:sldId id="306" r:id="rId48"/>
    <p:sldId id="307" r:id="rId49"/>
    <p:sldId id="308" r:id="rId50"/>
    <p:sldId id="309" r:id="rId51"/>
    <p:sldId id="310" r:id="rId52"/>
    <p:sldId id="313" r:id="rId53"/>
    <p:sldId id="314" r:id="rId54"/>
    <p:sldId id="311" r:id="rId55"/>
  </p:sldIdLst>
  <p:sldSz cx="10691813" cy="752475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660"/>
  </p:normalViewPr>
  <p:slideViewPr>
    <p:cSldViewPr snapToGrid="0">
      <p:cViewPr varScale="1">
        <p:scale>
          <a:sx n="71" d="100"/>
          <a:sy n="71" d="100"/>
        </p:scale>
        <p:origin x="1459"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2EC0BD-D578-4F1D-9352-557E5B52D6BC}" type="datetimeFigureOut">
              <a:rPr lang="en-US" smtClean="0"/>
              <a:t>6/21/2026</a:t>
            </a:fld>
            <a:endParaRPr lang="en-US"/>
          </a:p>
        </p:txBody>
      </p:sp>
      <p:sp>
        <p:nvSpPr>
          <p:cNvPr id="4" name="Slide Image Placeholder 3"/>
          <p:cNvSpPr>
            <a:spLocks noGrp="1" noRot="1" noChangeAspect="1"/>
          </p:cNvSpPr>
          <p:nvPr>
            <p:ph type="sldImg" idx="2"/>
          </p:nvPr>
        </p:nvSpPr>
        <p:spPr>
          <a:xfrm>
            <a:off x="1236663" y="1143000"/>
            <a:ext cx="43846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0186AC-E083-445C-B78F-52F88F4A754A}" type="slidenum">
              <a:rPr lang="en-US" smtClean="0"/>
              <a:t>‹#›</a:t>
            </a:fld>
            <a:endParaRPr lang="en-US"/>
          </a:p>
        </p:txBody>
      </p:sp>
    </p:spTree>
    <p:extLst>
      <p:ext uri="{BB962C8B-B14F-4D97-AF65-F5344CB8AC3E}">
        <p14:creationId xmlns:p14="http://schemas.microsoft.com/office/powerpoint/2010/main" val="25967216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40186AC-E083-445C-B78F-52F88F4A754A}" type="slidenum">
              <a:rPr lang="en-US" smtClean="0"/>
              <a:t>20</a:t>
            </a:fld>
            <a:endParaRPr lang="en-US"/>
          </a:p>
        </p:txBody>
      </p:sp>
    </p:spTree>
    <p:extLst>
      <p:ext uri="{BB962C8B-B14F-4D97-AF65-F5344CB8AC3E}">
        <p14:creationId xmlns:p14="http://schemas.microsoft.com/office/powerpoint/2010/main" val="15267925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45D5B71-E659-4910-9F42-5BB278DCB5A1}" type="slidenum">
              <a:rPr lang="en-US" smtClean="0"/>
              <a:t>21</a:t>
            </a:fld>
            <a:endParaRPr lang="en-US"/>
          </a:p>
        </p:txBody>
      </p:sp>
    </p:spTree>
    <p:extLst>
      <p:ext uri="{BB962C8B-B14F-4D97-AF65-F5344CB8AC3E}">
        <p14:creationId xmlns:p14="http://schemas.microsoft.com/office/powerpoint/2010/main" val="4873355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40186AC-E083-445C-B78F-52F88F4A754A}" type="slidenum">
              <a:rPr lang="en-US" smtClean="0"/>
              <a:t>31</a:t>
            </a:fld>
            <a:endParaRPr lang="en-US"/>
          </a:p>
        </p:txBody>
      </p:sp>
    </p:spTree>
    <p:extLst>
      <p:ext uri="{BB962C8B-B14F-4D97-AF65-F5344CB8AC3E}">
        <p14:creationId xmlns:p14="http://schemas.microsoft.com/office/powerpoint/2010/main" val="12656012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40186AC-E083-445C-B78F-52F88F4A754A}" type="slidenum">
              <a:rPr lang="en-US" smtClean="0"/>
              <a:t>32</a:t>
            </a:fld>
            <a:endParaRPr lang="en-US"/>
          </a:p>
        </p:txBody>
      </p:sp>
    </p:spTree>
    <p:extLst>
      <p:ext uri="{BB962C8B-B14F-4D97-AF65-F5344CB8AC3E}">
        <p14:creationId xmlns:p14="http://schemas.microsoft.com/office/powerpoint/2010/main" val="9102913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01886" y="1231482"/>
            <a:ext cx="9088041" cy="2619728"/>
          </a:xfrm>
        </p:spPr>
        <p:txBody>
          <a:bodyPr anchor="b"/>
          <a:lstStyle>
            <a:lvl1pPr algn="ctr">
              <a:defRPr sz="6583"/>
            </a:lvl1pPr>
          </a:lstStyle>
          <a:p>
            <a:r>
              <a:rPr lang="en-US"/>
              <a:t>Click to edit Master title style</a:t>
            </a:r>
            <a:endParaRPr lang="en-US" dirty="0"/>
          </a:p>
        </p:txBody>
      </p:sp>
      <p:sp>
        <p:nvSpPr>
          <p:cNvPr id="3" name="Subtitle 2"/>
          <p:cNvSpPr>
            <a:spLocks noGrp="1"/>
          </p:cNvSpPr>
          <p:nvPr>
            <p:ph type="subTitle" idx="1"/>
          </p:nvPr>
        </p:nvSpPr>
        <p:spPr>
          <a:xfrm>
            <a:off x="1336477" y="3952236"/>
            <a:ext cx="8018860" cy="1816739"/>
          </a:xfrm>
        </p:spPr>
        <p:txBody>
          <a:bodyPr/>
          <a:lstStyle>
            <a:lvl1pPr marL="0" indent="0" algn="ctr">
              <a:buNone/>
              <a:defRPr sz="2633"/>
            </a:lvl1pPr>
            <a:lvl2pPr marL="501640" indent="0" algn="ctr">
              <a:buNone/>
              <a:defRPr sz="2194"/>
            </a:lvl2pPr>
            <a:lvl3pPr marL="1003280" indent="0" algn="ctr">
              <a:buNone/>
              <a:defRPr sz="1975"/>
            </a:lvl3pPr>
            <a:lvl4pPr marL="1504920" indent="0" algn="ctr">
              <a:buNone/>
              <a:defRPr sz="1756"/>
            </a:lvl4pPr>
            <a:lvl5pPr marL="2006559" indent="0" algn="ctr">
              <a:buNone/>
              <a:defRPr sz="1756"/>
            </a:lvl5pPr>
            <a:lvl6pPr marL="2508199" indent="0" algn="ctr">
              <a:buNone/>
              <a:defRPr sz="1756"/>
            </a:lvl6pPr>
            <a:lvl7pPr marL="3009839" indent="0" algn="ctr">
              <a:buNone/>
              <a:defRPr sz="1756"/>
            </a:lvl7pPr>
            <a:lvl8pPr marL="3511479" indent="0" algn="ctr">
              <a:buNone/>
              <a:defRPr sz="1756"/>
            </a:lvl8pPr>
            <a:lvl9pPr marL="4013119" indent="0" algn="ctr">
              <a:buNone/>
              <a:defRPr sz="1756"/>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303FA4A-C922-4E7B-BE6A-F7C0B5A1E4F1}"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FFDECE-6D06-405A-9F10-5F2C46D3AEC6}" type="slidenum">
              <a:rPr lang="en-US" smtClean="0"/>
              <a:t>‹#›</a:t>
            </a:fld>
            <a:endParaRPr lang="en-US"/>
          </a:p>
        </p:txBody>
      </p:sp>
    </p:spTree>
    <p:extLst>
      <p:ext uri="{BB962C8B-B14F-4D97-AF65-F5344CB8AC3E}">
        <p14:creationId xmlns:p14="http://schemas.microsoft.com/office/powerpoint/2010/main" val="18603830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303FA4A-C922-4E7B-BE6A-F7C0B5A1E4F1}"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FFDECE-6D06-405A-9F10-5F2C46D3AEC6}" type="slidenum">
              <a:rPr lang="en-US" smtClean="0"/>
              <a:t>‹#›</a:t>
            </a:fld>
            <a:endParaRPr lang="en-US"/>
          </a:p>
        </p:txBody>
      </p:sp>
    </p:spTree>
    <p:extLst>
      <p:ext uri="{BB962C8B-B14F-4D97-AF65-F5344CB8AC3E}">
        <p14:creationId xmlns:p14="http://schemas.microsoft.com/office/powerpoint/2010/main" val="8813729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9494" y="1875964"/>
            <a:ext cx="9221689" cy="3130086"/>
          </a:xfrm>
        </p:spPr>
        <p:txBody>
          <a:bodyPr anchor="b"/>
          <a:lstStyle>
            <a:lvl1pPr>
              <a:defRPr sz="6583"/>
            </a:lvl1pPr>
          </a:lstStyle>
          <a:p>
            <a:r>
              <a:rPr lang="en-US"/>
              <a:t>Click to edit Master title style</a:t>
            </a:r>
            <a:endParaRPr lang="en-US" dirty="0"/>
          </a:p>
        </p:txBody>
      </p:sp>
      <p:sp>
        <p:nvSpPr>
          <p:cNvPr id="3" name="Text Placeholder 2"/>
          <p:cNvSpPr>
            <a:spLocks noGrp="1"/>
          </p:cNvSpPr>
          <p:nvPr>
            <p:ph type="body" idx="1"/>
          </p:nvPr>
        </p:nvSpPr>
        <p:spPr>
          <a:xfrm>
            <a:off x="729494" y="5035662"/>
            <a:ext cx="9221689" cy="1646039"/>
          </a:xfrm>
        </p:spPr>
        <p:txBody>
          <a:bodyPr/>
          <a:lstStyle>
            <a:lvl1pPr marL="0" indent="0">
              <a:buNone/>
              <a:defRPr sz="2633">
                <a:solidFill>
                  <a:schemeClr val="tx1">
                    <a:tint val="82000"/>
                  </a:schemeClr>
                </a:solidFill>
              </a:defRPr>
            </a:lvl1pPr>
            <a:lvl2pPr marL="501640" indent="0">
              <a:buNone/>
              <a:defRPr sz="2194">
                <a:solidFill>
                  <a:schemeClr val="tx1">
                    <a:tint val="82000"/>
                  </a:schemeClr>
                </a:solidFill>
              </a:defRPr>
            </a:lvl2pPr>
            <a:lvl3pPr marL="1003280" indent="0">
              <a:buNone/>
              <a:defRPr sz="1975">
                <a:solidFill>
                  <a:schemeClr val="tx1">
                    <a:tint val="82000"/>
                  </a:schemeClr>
                </a:solidFill>
              </a:defRPr>
            </a:lvl3pPr>
            <a:lvl4pPr marL="1504920" indent="0">
              <a:buNone/>
              <a:defRPr sz="1756">
                <a:solidFill>
                  <a:schemeClr val="tx1">
                    <a:tint val="82000"/>
                  </a:schemeClr>
                </a:solidFill>
              </a:defRPr>
            </a:lvl4pPr>
            <a:lvl5pPr marL="2006559" indent="0">
              <a:buNone/>
              <a:defRPr sz="1756">
                <a:solidFill>
                  <a:schemeClr val="tx1">
                    <a:tint val="82000"/>
                  </a:schemeClr>
                </a:solidFill>
              </a:defRPr>
            </a:lvl5pPr>
            <a:lvl6pPr marL="2508199" indent="0">
              <a:buNone/>
              <a:defRPr sz="1756">
                <a:solidFill>
                  <a:schemeClr val="tx1">
                    <a:tint val="82000"/>
                  </a:schemeClr>
                </a:solidFill>
              </a:defRPr>
            </a:lvl6pPr>
            <a:lvl7pPr marL="3009839" indent="0">
              <a:buNone/>
              <a:defRPr sz="1756">
                <a:solidFill>
                  <a:schemeClr val="tx1">
                    <a:tint val="82000"/>
                  </a:schemeClr>
                </a:solidFill>
              </a:defRPr>
            </a:lvl7pPr>
            <a:lvl8pPr marL="3511479" indent="0">
              <a:buNone/>
              <a:defRPr sz="1756">
                <a:solidFill>
                  <a:schemeClr val="tx1">
                    <a:tint val="82000"/>
                  </a:schemeClr>
                </a:solidFill>
              </a:defRPr>
            </a:lvl8pPr>
            <a:lvl9pPr marL="4013119" indent="0">
              <a:buNone/>
              <a:defRPr sz="1756">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303FA4A-C922-4E7B-BE6A-F7C0B5A1E4F1}"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FFDECE-6D06-405A-9F10-5F2C46D3AEC6}" type="slidenum">
              <a:rPr lang="en-US" smtClean="0"/>
              <a:t>‹#›</a:t>
            </a:fld>
            <a:endParaRPr lang="en-US"/>
          </a:p>
        </p:txBody>
      </p:sp>
    </p:spTree>
    <p:extLst>
      <p:ext uri="{BB962C8B-B14F-4D97-AF65-F5344CB8AC3E}">
        <p14:creationId xmlns:p14="http://schemas.microsoft.com/office/powerpoint/2010/main" val="17363121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735062" y="2003116"/>
            <a:ext cx="4544021" cy="47743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412730" y="2003116"/>
            <a:ext cx="4544021" cy="47743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303FA4A-C922-4E7B-BE6A-F7C0B5A1E4F1}" type="datetimeFigureOut">
              <a:rPr lang="en-US" smtClean="0"/>
              <a:t>6/21/2026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4FFDECE-6D06-405A-9F10-5F2C46D3AEC6}" type="slidenum">
              <a:rPr lang="en-US" smtClean="0"/>
              <a:t>‹#›</a:t>
            </a:fld>
            <a:endParaRPr lang="en-US"/>
          </a:p>
        </p:txBody>
      </p:sp>
    </p:spTree>
    <p:extLst>
      <p:ext uri="{BB962C8B-B14F-4D97-AF65-F5344CB8AC3E}">
        <p14:creationId xmlns:p14="http://schemas.microsoft.com/office/powerpoint/2010/main" val="29659446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36455" y="400625"/>
            <a:ext cx="9221689" cy="1454437"/>
          </a:xfrm>
        </p:spPr>
        <p:txBody>
          <a:bodyPr/>
          <a:lstStyle/>
          <a:p>
            <a:r>
              <a:rPr lang="en-US"/>
              <a:t>Click to edit Master title style</a:t>
            </a:r>
            <a:endParaRPr lang="en-US" dirty="0"/>
          </a:p>
        </p:txBody>
      </p:sp>
      <p:sp>
        <p:nvSpPr>
          <p:cNvPr id="3" name="Text Placeholder 2"/>
          <p:cNvSpPr>
            <a:spLocks noGrp="1"/>
          </p:cNvSpPr>
          <p:nvPr>
            <p:ph type="body" idx="1"/>
          </p:nvPr>
        </p:nvSpPr>
        <p:spPr>
          <a:xfrm>
            <a:off x="736456" y="1844609"/>
            <a:ext cx="4523137" cy="904015"/>
          </a:xfrm>
        </p:spPr>
        <p:txBody>
          <a:bodyPr anchor="b"/>
          <a:lstStyle>
            <a:lvl1pPr marL="0" indent="0">
              <a:buNone/>
              <a:defRPr sz="2633" b="1"/>
            </a:lvl1pPr>
            <a:lvl2pPr marL="501640" indent="0">
              <a:buNone/>
              <a:defRPr sz="2194" b="1"/>
            </a:lvl2pPr>
            <a:lvl3pPr marL="1003280" indent="0">
              <a:buNone/>
              <a:defRPr sz="1975" b="1"/>
            </a:lvl3pPr>
            <a:lvl4pPr marL="1504920" indent="0">
              <a:buNone/>
              <a:defRPr sz="1756" b="1"/>
            </a:lvl4pPr>
            <a:lvl5pPr marL="2006559" indent="0">
              <a:buNone/>
              <a:defRPr sz="1756" b="1"/>
            </a:lvl5pPr>
            <a:lvl6pPr marL="2508199" indent="0">
              <a:buNone/>
              <a:defRPr sz="1756" b="1"/>
            </a:lvl6pPr>
            <a:lvl7pPr marL="3009839" indent="0">
              <a:buNone/>
              <a:defRPr sz="1756" b="1"/>
            </a:lvl7pPr>
            <a:lvl8pPr marL="3511479" indent="0">
              <a:buNone/>
              <a:defRPr sz="1756" b="1"/>
            </a:lvl8pPr>
            <a:lvl9pPr marL="4013119" indent="0">
              <a:buNone/>
              <a:defRPr sz="1756" b="1"/>
            </a:lvl9pPr>
          </a:lstStyle>
          <a:p>
            <a:pPr lvl="0"/>
            <a:r>
              <a:rPr lang="en-US"/>
              <a:t>Click to edit Master text styles</a:t>
            </a:r>
          </a:p>
        </p:txBody>
      </p:sp>
      <p:sp>
        <p:nvSpPr>
          <p:cNvPr id="4" name="Content Placeholder 3"/>
          <p:cNvSpPr>
            <a:spLocks noGrp="1"/>
          </p:cNvSpPr>
          <p:nvPr>
            <p:ph sz="half" idx="2"/>
          </p:nvPr>
        </p:nvSpPr>
        <p:spPr>
          <a:xfrm>
            <a:off x="736456" y="2748624"/>
            <a:ext cx="4523137" cy="40428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412731" y="1844609"/>
            <a:ext cx="4545413" cy="904015"/>
          </a:xfrm>
        </p:spPr>
        <p:txBody>
          <a:bodyPr anchor="b"/>
          <a:lstStyle>
            <a:lvl1pPr marL="0" indent="0">
              <a:buNone/>
              <a:defRPr sz="2633" b="1"/>
            </a:lvl1pPr>
            <a:lvl2pPr marL="501640" indent="0">
              <a:buNone/>
              <a:defRPr sz="2194" b="1"/>
            </a:lvl2pPr>
            <a:lvl3pPr marL="1003280" indent="0">
              <a:buNone/>
              <a:defRPr sz="1975" b="1"/>
            </a:lvl3pPr>
            <a:lvl4pPr marL="1504920" indent="0">
              <a:buNone/>
              <a:defRPr sz="1756" b="1"/>
            </a:lvl4pPr>
            <a:lvl5pPr marL="2006559" indent="0">
              <a:buNone/>
              <a:defRPr sz="1756" b="1"/>
            </a:lvl5pPr>
            <a:lvl6pPr marL="2508199" indent="0">
              <a:buNone/>
              <a:defRPr sz="1756" b="1"/>
            </a:lvl6pPr>
            <a:lvl7pPr marL="3009839" indent="0">
              <a:buNone/>
              <a:defRPr sz="1756" b="1"/>
            </a:lvl7pPr>
            <a:lvl8pPr marL="3511479" indent="0">
              <a:buNone/>
              <a:defRPr sz="1756" b="1"/>
            </a:lvl8pPr>
            <a:lvl9pPr marL="4013119" indent="0">
              <a:buNone/>
              <a:defRPr sz="1756" b="1"/>
            </a:lvl9pPr>
          </a:lstStyle>
          <a:p>
            <a:pPr lvl="0"/>
            <a:r>
              <a:rPr lang="en-US"/>
              <a:t>Click to edit Master text styles</a:t>
            </a:r>
          </a:p>
        </p:txBody>
      </p:sp>
      <p:sp>
        <p:nvSpPr>
          <p:cNvPr id="6" name="Content Placeholder 5"/>
          <p:cNvSpPr>
            <a:spLocks noGrp="1"/>
          </p:cNvSpPr>
          <p:nvPr>
            <p:ph sz="quarter" idx="4"/>
          </p:nvPr>
        </p:nvSpPr>
        <p:spPr>
          <a:xfrm>
            <a:off x="5412731" y="2748624"/>
            <a:ext cx="4545413" cy="40428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303FA4A-C922-4E7B-BE6A-F7C0B5A1E4F1}" type="datetimeFigureOut">
              <a:rPr lang="en-US" smtClean="0"/>
              <a:t>6/21/2026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4FFDECE-6D06-405A-9F10-5F2C46D3AEC6}" type="slidenum">
              <a:rPr lang="en-US" smtClean="0"/>
              <a:t>‹#›</a:t>
            </a:fld>
            <a:endParaRPr lang="en-US"/>
          </a:p>
        </p:txBody>
      </p:sp>
    </p:spTree>
    <p:extLst>
      <p:ext uri="{BB962C8B-B14F-4D97-AF65-F5344CB8AC3E}">
        <p14:creationId xmlns:p14="http://schemas.microsoft.com/office/powerpoint/2010/main" val="22244454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303FA4A-C922-4E7B-BE6A-F7C0B5A1E4F1}" type="datetimeFigureOut">
              <a:rPr lang="en-US" smtClean="0"/>
              <a:t>6/21/2026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4FFDECE-6D06-405A-9F10-5F2C46D3AEC6}" type="slidenum">
              <a:rPr lang="en-US" smtClean="0"/>
              <a:t>‹#›</a:t>
            </a:fld>
            <a:endParaRPr lang="en-US"/>
          </a:p>
        </p:txBody>
      </p:sp>
    </p:spTree>
    <p:extLst>
      <p:ext uri="{BB962C8B-B14F-4D97-AF65-F5344CB8AC3E}">
        <p14:creationId xmlns:p14="http://schemas.microsoft.com/office/powerpoint/2010/main" val="7447052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303FA4A-C922-4E7B-BE6A-F7C0B5A1E4F1}" type="datetimeFigureOut">
              <a:rPr lang="en-US" smtClean="0"/>
              <a:t>6/21/2026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4FFDECE-6D06-405A-9F10-5F2C46D3AEC6}" type="slidenum">
              <a:rPr lang="en-US" smtClean="0"/>
              <a:t>‹#›</a:t>
            </a:fld>
            <a:endParaRPr lang="en-US"/>
          </a:p>
        </p:txBody>
      </p:sp>
    </p:spTree>
    <p:extLst>
      <p:ext uri="{BB962C8B-B14F-4D97-AF65-F5344CB8AC3E}">
        <p14:creationId xmlns:p14="http://schemas.microsoft.com/office/powerpoint/2010/main" val="4731207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36455" y="501650"/>
            <a:ext cx="3448388" cy="1755775"/>
          </a:xfrm>
        </p:spPr>
        <p:txBody>
          <a:bodyPr anchor="b"/>
          <a:lstStyle>
            <a:lvl1pPr>
              <a:defRPr sz="3511"/>
            </a:lvl1pPr>
          </a:lstStyle>
          <a:p>
            <a:r>
              <a:rPr lang="en-US"/>
              <a:t>Click to edit Master title style</a:t>
            </a:r>
            <a:endParaRPr lang="en-US" dirty="0"/>
          </a:p>
        </p:txBody>
      </p:sp>
      <p:sp>
        <p:nvSpPr>
          <p:cNvPr id="3" name="Content Placeholder 2"/>
          <p:cNvSpPr>
            <a:spLocks noGrp="1"/>
          </p:cNvSpPr>
          <p:nvPr>
            <p:ph idx="1"/>
          </p:nvPr>
        </p:nvSpPr>
        <p:spPr>
          <a:xfrm>
            <a:off x="4545413" y="1083426"/>
            <a:ext cx="5412730" cy="5347450"/>
          </a:xfrm>
        </p:spPr>
        <p:txBody>
          <a:bodyPr/>
          <a:lstStyle>
            <a:lvl1pPr>
              <a:defRPr sz="3511"/>
            </a:lvl1pPr>
            <a:lvl2pPr>
              <a:defRPr sz="3072"/>
            </a:lvl2pPr>
            <a:lvl3pPr>
              <a:defRPr sz="2633"/>
            </a:lvl3pPr>
            <a:lvl4pPr>
              <a:defRPr sz="2194"/>
            </a:lvl4pPr>
            <a:lvl5pPr>
              <a:defRPr sz="2194"/>
            </a:lvl5pPr>
            <a:lvl6pPr>
              <a:defRPr sz="2194"/>
            </a:lvl6pPr>
            <a:lvl7pPr>
              <a:defRPr sz="2194"/>
            </a:lvl7pPr>
            <a:lvl8pPr>
              <a:defRPr sz="2194"/>
            </a:lvl8pPr>
            <a:lvl9pPr>
              <a:defRPr sz="219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36455" y="2257425"/>
            <a:ext cx="3448388" cy="4182159"/>
          </a:xfrm>
        </p:spPr>
        <p:txBody>
          <a:bodyPr/>
          <a:lstStyle>
            <a:lvl1pPr marL="0" indent="0">
              <a:buNone/>
              <a:defRPr sz="1756"/>
            </a:lvl1pPr>
            <a:lvl2pPr marL="501640" indent="0">
              <a:buNone/>
              <a:defRPr sz="1536"/>
            </a:lvl2pPr>
            <a:lvl3pPr marL="1003280" indent="0">
              <a:buNone/>
              <a:defRPr sz="1317"/>
            </a:lvl3pPr>
            <a:lvl4pPr marL="1504920" indent="0">
              <a:buNone/>
              <a:defRPr sz="1097"/>
            </a:lvl4pPr>
            <a:lvl5pPr marL="2006559" indent="0">
              <a:buNone/>
              <a:defRPr sz="1097"/>
            </a:lvl5pPr>
            <a:lvl6pPr marL="2508199" indent="0">
              <a:buNone/>
              <a:defRPr sz="1097"/>
            </a:lvl6pPr>
            <a:lvl7pPr marL="3009839" indent="0">
              <a:buNone/>
              <a:defRPr sz="1097"/>
            </a:lvl7pPr>
            <a:lvl8pPr marL="3511479" indent="0">
              <a:buNone/>
              <a:defRPr sz="1097"/>
            </a:lvl8pPr>
            <a:lvl9pPr marL="4013119" indent="0">
              <a:buNone/>
              <a:defRPr sz="1097"/>
            </a:lvl9pPr>
          </a:lstStyle>
          <a:p>
            <a:pPr lvl="0"/>
            <a:r>
              <a:rPr lang="en-US"/>
              <a:t>Click to edit Master text styles</a:t>
            </a:r>
          </a:p>
        </p:txBody>
      </p:sp>
      <p:sp>
        <p:nvSpPr>
          <p:cNvPr id="5" name="Date Placeholder 4"/>
          <p:cNvSpPr>
            <a:spLocks noGrp="1"/>
          </p:cNvSpPr>
          <p:nvPr>
            <p:ph type="dt" sz="half" idx="10"/>
          </p:nvPr>
        </p:nvSpPr>
        <p:spPr/>
        <p:txBody>
          <a:bodyPr/>
          <a:lstStyle/>
          <a:p>
            <a:fld id="{4303FA4A-C922-4E7B-BE6A-F7C0B5A1E4F1}" type="datetimeFigureOut">
              <a:rPr lang="en-US" smtClean="0"/>
              <a:t>6/21/2026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4FFDECE-6D06-405A-9F10-5F2C46D3AEC6}" type="slidenum">
              <a:rPr lang="en-US" smtClean="0"/>
              <a:t>‹#›</a:t>
            </a:fld>
            <a:endParaRPr lang="en-US"/>
          </a:p>
        </p:txBody>
      </p:sp>
    </p:spTree>
    <p:extLst>
      <p:ext uri="{BB962C8B-B14F-4D97-AF65-F5344CB8AC3E}">
        <p14:creationId xmlns:p14="http://schemas.microsoft.com/office/powerpoint/2010/main" val="18218855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36455" y="501650"/>
            <a:ext cx="3448388" cy="1755775"/>
          </a:xfrm>
        </p:spPr>
        <p:txBody>
          <a:bodyPr anchor="b"/>
          <a:lstStyle>
            <a:lvl1pPr>
              <a:defRPr sz="3511"/>
            </a:lvl1pPr>
          </a:lstStyle>
          <a:p>
            <a:r>
              <a:rPr lang="en-US"/>
              <a:t>Click to edit Master title style</a:t>
            </a:r>
            <a:endParaRPr lang="en-US" dirty="0"/>
          </a:p>
        </p:txBody>
      </p:sp>
      <p:sp>
        <p:nvSpPr>
          <p:cNvPr id="3" name="Picture Placeholder 2"/>
          <p:cNvSpPr>
            <a:spLocks noGrp="1" noChangeAspect="1"/>
          </p:cNvSpPr>
          <p:nvPr>
            <p:ph type="pic" idx="1"/>
          </p:nvPr>
        </p:nvSpPr>
        <p:spPr>
          <a:xfrm>
            <a:off x="4545413" y="1083426"/>
            <a:ext cx="5412730" cy="5347450"/>
          </a:xfrm>
        </p:spPr>
        <p:txBody>
          <a:bodyPr anchor="t"/>
          <a:lstStyle>
            <a:lvl1pPr marL="0" indent="0">
              <a:buNone/>
              <a:defRPr sz="3511"/>
            </a:lvl1pPr>
            <a:lvl2pPr marL="501640" indent="0">
              <a:buNone/>
              <a:defRPr sz="3072"/>
            </a:lvl2pPr>
            <a:lvl3pPr marL="1003280" indent="0">
              <a:buNone/>
              <a:defRPr sz="2633"/>
            </a:lvl3pPr>
            <a:lvl4pPr marL="1504920" indent="0">
              <a:buNone/>
              <a:defRPr sz="2194"/>
            </a:lvl4pPr>
            <a:lvl5pPr marL="2006559" indent="0">
              <a:buNone/>
              <a:defRPr sz="2194"/>
            </a:lvl5pPr>
            <a:lvl6pPr marL="2508199" indent="0">
              <a:buNone/>
              <a:defRPr sz="2194"/>
            </a:lvl6pPr>
            <a:lvl7pPr marL="3009839" indent="0">
              <a:buNone/>
              <a:defRPr sz="2194"/>
            </a:lvl7pPr>
            <a:lvl8pPr marL="3511479" indent="0">
              <a:buNone/>
              <a:defRPr sz="2194"/>
            </a:lvl8pPr>
            <a:lvl9pPr marL="4013119" indent="0">
              <a:buNone/>
              <a:defRPr sz="2194"/>
            </a:lvl9pPr>
          </a:lstStyle>
          <a:p>
            <a:r>
              <a:rPr lang="en-US"/>
              <a:t>Click icon to add picture</a:t>
            </a:r>
            <a:endParaRPr lang="en-US" dirty="0"/>
          </a:p>
        </p:txBody>
      </p:sp>
      <p:sp>
        <p:nvSpPr>
          <p:cNvPr id="4" name="Text Placeholder 3"/>
          <p:cNvSpPr>
            <a:spLocks noGrp="1"/>
          </p:cNvSpPr>
          <p:nvPr>
            <p:ph type="body" sz="half" idx="2"/>
          </p:nvPr>
        </p:nvSpPr>
        <p:spPr>
          <a:xfrm>
            <a:off x="736455" y="2257425"/>
            <a:ext cx="3448388" cy="4182159"/>
          </a:xfrm>
        </p:spPr>
        <p:txBody>
          <a:bodyPr/>
          <a:lstStyle>
            <a:lvl1pPr marL="0" indent="0">
              <a:buNone/>
              <a:defRPr sz="1756"/>
            </a:lvl1pPr>
            <a:lvl2pPr marL="501640" indent="0">
              <a:buNone/>
              <a:defRPr sz="1536"/>
            </a:lvl2pPr>
            <a:lvl3pPr marL="1003280" indent="0">
              <a:buNone/>
              <a:defRPr sz="1317"/>
            </a:lvl3pPr>
            <a:lvl4pPr marL="1504920" indent="0">
              <a:buNone/>
              <a:defRPr sz="1097"/>
            </a:lvl4pPr>
            <a:lvl5pPr marL="2006559" indent="0">
              <a:buNone/>
              <a:defRPr sz="1097"/>
            </a:lvl5pPr>
            <a:lvl6pPr marL="2508199" indent="0">
              <a:buNone/>
              <a:defRPr sz="1097"/>
            </a:lvl6pPr>
            <a:lvl7pPr marL="3009839" indent="0">
              <a:buNone/>
              <a:defRPr sz="1097"/>
            </a:lvl7pPr>
            <a:lvl8pPr marL="3511479" indent="0">
              <a:buNone/>
              <a:defRPr sz="1097"/>
            </a:lvl8pPr>
            <a:lvl9pPr marL="4013119" indent="0">
              <a:buNone/>
              <a:defRPr sz="1097"/>
            </a:lvl9pPr>
          </a:lstStyle>
          <a:p>
            <a:pPr lvl="0"/>
            <a:r>
              <a:rPr lang="en-US"/>
              <a:t>Click to edit Master text styles</a:t>
            </a:r>
          </a:p>
        </p:txBody>
      </p:sp>
      <p:sp>
        <p:nvSpPr>
          <p:cNvPr id="5" name="Date Placeholder 4"/>
          <p:cNvSpPr>
            <a:spLocks noGrp="1"/>
          </p:cNvSpPr>
          <p:nvPr>
            <p:ph type="dt" sz="half" idx="10"/>
          </p:nvPr>
        </p:nvSpPr>
        <p:spPr/>
        <p:txBody>
          <a:bodyPr/>
          <a:lstStyle/>
          <a:p>
            <a:fld id="{4303FA4A-C922-4E7B-BE6A-F7C0B5A1E4F1}" type="datetimeFigureOut">
              <a:rPr lang="en-US" smtClean="0"/>
              <a:t>6/21/2026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4FFDECE-6D06-405A-9F10-5F2C46D3AEC6}" type="slidenum">
              <a:rPr lang="en-US" smtClean="0"/>
              <a:t>‹#›</a:t>
            </a:fld>
            <a:endParaRPr lang="en-US"/>
          </a:p>
        </p:txBody>
      </p:sp>
    </p:spTree>
    <p:extLst>
      <p:ext uri="{BB962C8B-B14F-4D97-AF65-F5344CB8AC3E}">
        <p14:creationId xmlns:p14="http://schemas.microsoft.com/office/powerpoint/2010/main" val="27967808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303FA4A-C922-4E7B-BE6A-F7C0B5A1E4F1}"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FFDECE-6D06-405A-9F10-5F2C46D3AEC6}" type="slidenum">
              <a:rPr lang="en-US" smtClean="0"/>
              <a:t>‹#›</a:t>
            </a:fld>
            <a:endParaRPr lang="en-US"/>
          </a:p>
        </p:txBody>
      </p:sp>
    </p:spTree>
    <p:extLst>
      <p:ext uri="{BB962C8B-B14F-4D97-AF65-F5344CB8AC3E}">
        <p14:creationId xmlns:p14="http://schemas.microsoft.com/office/powerpoint/2010/main" val="18893981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651329" y="400623"/>
            <a:ext cx="2305422" cy="637687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35063" y="400623"/>
            <a:ext cx="6782619" cy="637687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303FA4A-C922-4E7B-BE6A-F7C0B5A1E4F1}"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FFDECE-6D06-405A-9F10-5F2C46D3AEC6}" type="slidenum">
              <a:rPr lang="en-US" smtClean="0"/>
              <a:t>‹#›</a:t>
            </a:fld>
            <a:endParaRPr lang="en-US"/>
          </a:p>
        </p:txBody>
      </p:sp>
    </p:spTree>
    <p:extLst>
      <p:ext uri="{BB962C8B-B14F-4D97-AF65-F5344CB8AC3E}">
        <p14:creationId xmlns:p14="http://schemas.microsoft.com/office/powerpoint/2010/main" val="31317136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35062" y="400625"/>
            <a:ext cx="9221689" cy="145443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735062" y="2003116"/>
            <a:ext cx="9221689" cy="477438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35062" y="6974330"/>
            <a:ext cx="2405658" cy="400623"/>
          </a:xfrm>
          <a:prstGeom prst="rect">
            <a:avLst/>
          </a:prstGeom>
        </p:spPr>
        <p:txBody>
          <a:bodyPr vert="horz" lIns="91440" tIns="45720" rIns="91440" bIns="45720" rtlCol="0" anchor="ctr"/>
          <a:lstStyle>
            <a:lvl1pPr algn="l">
              <a:defRPr sz="1317">
                <a:solidFill>
                  <a:schemeClr val="tx1">
                    <a:tint val="82000"/>
                  </a:schemeClr>
                </a:solidFill>
              </a:defRPr>
            </a:lvl1pPr>
          </a:lstStyle>
          <a:p>
            <a:fld id="{4303FA4A-C922-4E7B-BE6A-F7C0B5A1E4F1}" type="datetimeFigureOut">
              <a:rPr lang="en-US" smtClean="0"/>
              <a:t>6/21/2026</a:t>
            </a:fld>
            <a:endParaRPr lang="en-US"/>
          </a:p>
        </p:txBody>
      </p:sp>
      <p:sp>
        <p:nvSpPr>
          <p:cNvPr id="5" name="Footer Placeholder 4"/>
          <p:cNvSpPr>
            <a:spLocks noGrp="1"/>
          </p:cNvSpPr>
          <p:nvPr>
            <p:ph type="ftr" sz="quarter" idx="3"/>
          </p:nvPr>
        </p:nvSpPr>
        <p:spPr>
          <a:xfrm>
            <a:off x="3541663" y="6974330"/>
            <a:ext cx="3608487" cy="400623"/>
          </a:xfrm>
          <a:prstGeom prst="rect">
            <a:avLst/>
          </a:prstGeom>
        </p:spPr>
        <p:txBody>
          <a:bodyPr vert="horz" lIns="91440" tIns="45720" rIns="91440" bIns="45720" rtlCol="0" anchor="ctr"/>
          <a:lstStyle>
            <a:lvl1pPr algn="ctr">
              <a:defRPr sz="1317">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7551093" y="6974330"/>
            <a:ext cx="2405658" cy="400623"/>
          </a:xfrm>
          <a:prstGeom prst="rect">
            <a:avLst/>
          </a:prstGeom>
        </p:spPr>
        <p:txBody>
          <a:bodyPr vert="horz" lIns="91440" tIns="45720" rIns="91440" bIns="45720" rtlCol="0" anchor="ctr"/>
          <a:lstStyle>
            <a:lvl1pPr algn="r">
              <a:defRPr sz="1317">
                <a:solidFill>
                  <a:schemeClr val="tx1">
                    <a:tint val="82000"/>
                  </a:schemeClr>
                </a:solidFill>
              </a:defRPr>
            </a:lvl1pPr>
          </a:lstStyle>
          <a:p>
            <a:fld id="{44FFDECE-6D06-405A-9F10-5F2C46D3AEC6}" type="slidenum">
              <a:rPr lang="en-US" smtClean="0"/>
              <a:t>‹#›</a:t>
            </a:fld>
            <a:endParaRPr lang="en-US"/>
          </a:p>
        </p:txBody>
      </p:sp>
    </p:spTree>
    <p:extLst>
      <p:ext uri="{BB962C8B-B14F-4D97-AF65-F5344CB8AC3E}">
        <p14:creationId xmlns:p14="http://schemas.microsoft.com/office/powerpoint/2010/main" val="64360893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1003280" rtl="0" eaLnBrk="1" latinLnBrk="0" hangingPunct="1">
        <a:lnSpc>
          <a:spcPct val="90000"/>
        </a:lnSpc>
        <a:spcBef>
          <a:spcPct val="0"/>
        </a:spcBef>
        <a:buNone/>
        <a:defRPr sz="4828" kern="1200">
          <a:solidFill>
            <a:schemeClr val="tx1"/>
          </a:solidFill>
          <a:latin typeface="+mj-lt"/>
          <a:ea typeface="+mj-ea"/>
          <a:cs typeface="+mj-cs"/>
        </a:defRPr>
      </a:lvl1pPr>
    </p:titleStyle>
    <p:bodyStyle>
      <a:lvl1pPr marL="250820" indent="-250820" algn="l" defTabSz="1003280" rtl="0" eaLnBrk="1" latinLnBrk="0" hangingPunct="1">
        <a:lnSpc>
          <a:spcPct val="90000"/>
        </a:lnSpc>
        <a:spcBef>
          <a:spcPts val="1097"/>
        </a:spcBef>
        <a:buFont typeface="Arial" panose="020B0604020202020204" pitchFamily="34" charset="0"/>
        <a:buChar char="•"/>
        <a:defRPr sz="3072" kern="1200">
          <a:solidFill>
            <a:schemeClr val="tx1"/>
          </a:solidFill>
          <a:latin typeface="+mn-lt"/>
          <a:ea typeface="+mn-ea"/>
          <a:cs typeface="+mn-cs"/>
        </a:defRPr>
      </a:lvl1pPr>
      <a:lvl2pPr marL="752460" indent="-250820" algn="l" defTabSz="1003280" rtl="0" eaLnBrk="1" latinLnBrk="0" hangingPunct="1">
        <a:lnSpc>
          <a:spcPct val="90000"/>
        </a:lnSpc>
        <a:spcBef>
          <a:spcPts val="549"/>
        </a:spcBef>
        <a:buFont typeface="Arial" panose="020B0604020202020204" pitchFamily="34" charset="0"/>
        <a:buChar char="•"/>
        <a:defRPr sz="2633" kern="1200">
          <a:solidFill>
            <a:schemeClr val="tx1"/>
          </a:solidFill>
          <a:latin typeface="+mn-lt"/>
          <a:ea typeface="+mn-ea"/>
          <a:cs typeface="+mn-cs"/>
        </a:defRPr>
      </a:lvl2pPr>
      <a:lvl3pPr marL="1254100" indent="-250820" algn="l" defTabSz="1003280" rtl="0" eaLnBrk="1" latinLnBrk="0" hangingPunct="1">
        <a:lnSpc>
          <a:spcPct val="90000"/>
        </a:lnSpc>
        <a:spcBef>
          <a:spcPts val="549"/>
        </a:spcBef>
        <a:buFont typeface="Arial" panose="020B0604020202020204" pitchFamily="34" charset="0"/>
        <a:buChar char="•"/>
        <a:defRPr sz="2194" kern="1200">
          <a:solidFill>
            <a:schemeClr val="tx1"/>
          </a:solidFill>
          <a:latin typeface="+mn-lt"/>
          <a:ea typeface="+mn-ea"/>
          <a:cs typeface="+mn-cs"/>
        </a:defRPr>
      </a:lvl3pPr>
      <a:lvl4pPr marL="1755739" indent="-250820" algn="l" defTabSz="1003280" rtl="0" eaLnBrk="1" latinLnBrk="0" hangingPunct="1">
        <a:lnSpc>
          <a:spcPct val="90000"/>
        </a:lnSpc>
        <a:spcBef>
          <a:spcPts val="549"/>
        </a:spcBef>
        <a:buFont typeface="Arial" panose="020B0604020202020204" pitchFamily="34" charset="0"/>
        <a:buChar char="•"/>
        <a:defRPr sz="1975" kern="1200">
          <a:solidFill>
            <a:schemeClr val="tx1"/>
          </a:solidFill>
          <a:latin typeface="+mn-lt"/>
          <a:ea typeface="+mn-ea"/>
          <a:cs typeface="+mn-cs"/>
        </a:defRPr>
      </a:lvl4pPr>
      <a:lvl5pPr marL="2257379" indent="-250820" algn="l" defTabSz="1003280" rtl="0" eaLnBrk="1" latinLnBrk="0" hangingPunct="1">
        <a:lnSpc>
          <a:spcPct val="90000"/>
        </a:lnSpc>
        <a:spcBef>
          <a:spcPts val="549"/>
        </a:spcBef>
        <a:buFont typeface="Arial" panose="020B0604020202020204" pitchFamily="34" charset="0"/>
        <a:buChar char="•"/>
        <a:defRPr sz="1975" kern="1200">
          <a:solidFill>
            <a:schemeClr val="tx1"/>
          </a:solidFill>
          <a:latin typeface="+mn-lt"/>
          <a:ea typeface="+mn-ea"/>
          <a:cs typeface="+mn-cs"/>
        </a:defRPr>
      </a:lvl5pPr>
      <a:lvl6pPr marL="2759019" indent="-250820" algn="l" defTabSz="1003280" rtl="0" eaLnBrk="1" latinLnBrk="0" hangingPunct="1">
        <a:lnSpc>
          <a:spcPct val="90000"/>
        </a:lnSpc>
        <a:spcBef>
          <a:spcPts val="549"/>
        </a:spcBef>
        <a:buFont typeface="Arial" panose="020B0604020202020204" pitchFamily="34" charset="0"/>
        <a:buChar char="•"/>
        <a:defRPr sz="1975" kern="1200">
          <a:solidFill>
            <a:schemeClr val="tx1"/>
          </a:solidFill>
          <a:latin typeface="+mn-lt"/>
          <a:ea typeface="+mn-ea"/>
          <a:cs typeface="+mn-cs"/>
        </a:defRPr>
      </a:lvl6pPr>
      <a:lvl7pPr marL="3260659" indent="-250820" algn="l" defTabSz="1003280" rtl="0" eaLnBrk="1" latinLnBrk="0" hangingPunct="1">
        <a:lnSpc>
          <a:spcPct val="90000"/>
        </a:lnSpc>
        <a:spcBef>
          <a:spcPts val="549"/>
        </a:spcBef>
        <a:buFont typeface="Arial" panose="020B0604020202020204" pitchFamily="34" charset="0"/>
        <a:buChar char="•"/>
        <a:defRPr sz="1975" kern="1200">
          <a:solidFill>
            <a:schemeClr val="tx1"/>
          </a:solidFill>
          <a:latin typeface="+mn-lt"/>
          <a:ea typeface="+mn-ea"/>
          <a:cs typeface="+mn-cs"/>
        </a:defRPr>
      </a:lvl7pPr>
      <a:lvl8pPr marL="3762299" indent="-250820" algn="l" defTabSz="1003280" rtl="0" eaLnBrk="1" latinLnBrk="0" hangingPunct="1">
        <a:lnSpc>
          <a:spcPct val="90000"/>
        </a:lnSpc>
        <a:spcBef>
          <a:spcPts val="549"/>
        </a:spcBef>
        <a:buFont typeface="Arial" panose="020B0604020202020204" pitchFamily="34" charset="0"/>
        <a:buChar char="•"/>
        <a:defRPr sz="1975" kern="1200">
          <a:solidFill>
            <a:schemeClr val="tx1"/>
          </a:solidFill>
          <a:latin typeface="+mn-lt"/>
          <a:ea typeface="+mn-ea"/>
          <a:cs typeface="+mn-cs"/>
        </a:defRPr>
      </a:lvl8pPr>
      <a:lvl9pPr marL="4263939" indent="-250820" algn="l" defTabSz="1003280" rtl="0" eaLnBrk="1" latinLnBrk="0" hangingPunct="1">
        <a:lnSpc>
          <a:spcPct val="90000"/>
        </a:lnSpc>
        <a:spcBef>
          <a:spcPts val="549"/>
        </a:spcBef>
        <a:buFont typeface="Arial" panose="020B0604020202020204" pitchFamily="34" charset="0"/>
        <a:buChar char="•"/>
        <a:defRPr sz="1975" kern="1200">
          <a:solidFill>
            <a:schemeClr val="tx1"/>
          </a:solidFill>
          <a:latin typeface="+mn-lt"/>
          <a:ea typeface="+mn-ea"/>
          <a:cs typeface="+mn-cs"/>
        </a:defRPr>
      </a:lvl9pPr>
    </p:bodyStyle>
    <p:otherStyle>
      <a:defPPr>
        <a:defRPr lang="en-US"/>
      </a:defPPr>
      <a:lvl1pPr marL="0" algn="l" defTabSz="1003280" rtl="0" eaLnBrk="1" latinLnBrk="0" hangingPunct="1">
        <a:defRPr sz="1975" kern="1200">
          <a:solidFill>
            <a:schemeClr val="tx1"/>
          </a:solidFill>
          <a:latin typeface="+mn-lt"/>
          <a:ea typeface="+mn-ea"/>
          <a:cs typeface="+mn-cs"/>
        </a:defRPr>
      </a:lvl1pPr>
      <a:lvl2pPr marL="501640" algn="l" defTabSz="1003280" rtl="0" eaLnBrk="1" latinLnBrk="0" hangingPunct="1">
        <a:defRPr sz="1975" kern="1200">
          <a:solidFill>
            <a:schemeClr val="tx1"/>
          </a:solidFill>
          <a:latin typeface="+mn-lt"/>
          <a:ea typeface="+mn-ea"/>
          <a:cs typeface="+mn-cs"/>
        </a:defRPr>
      </a:lvl2pPr>
      <a:lvl3pPr marL="1003280" algn="l" defTabSz="1003280" rtl="0" eaLnBrk="1" latinLnBrk="0" hangingPunct="1">
        <a:defRPr sz="1975" kern="1200">
          <a:solidFill>
            <a:schemeClr val="tx1"/>
          </a:solidFill>
          <a:latin typeface="+mn-lt"/>
          <a:ea typeface="+mn-ea"/>
          <a:cs typeface="+mn-cs"/>
        </a:defRPr>
      </a:lvl3pPr>
      <a:lvl4pPr marL="1504920" algn="l" defTabSz="1003280" rtl="0" eaLnBrk="1" latinLnBrk="0" hangingPunct="1">
        <a:defRPr sz="1975" kern="1200">
          <a:solidFill>
            <a:schemeClr val="tx1"/>
          </a:solidFill>
          <a:latin typeface="+mn-lt"/>
          <a:ea typeface="+mn-ea"/>
          <a:cs typeface="+mn-cs"/>
        </a:defRPr>
      </a:lvl4pPr>
      <a:lvl5pPr marL="2006559" algn="l" defTabSz="1003280" rtl="0" eaLnBrk="1" latinLnBrk="0" hangingPunct="1">
        <a:defRPr sz="1975" kern="1200">
          <a:solidFill>
            <a:schemeClr val="tx1"/>
          </a:solidFill>
          <a:latin typeface="+mn-lt"/>
          <a:ea typeface="+mn-ea"/>
          <a:cs typeface="+mn-cs"/>
        </a:defRPr>
      </a:lvl5pPr>
      <a:lvl6pPr marL="2508199" algn="l" defTabSz="1003280" rtl="0" eaLnBrk="1" latinLnBrk="0" hangingPunct="1">
        <a:defRPr sz="1975" kern="1200">
          <a:solidFill>
            <a:schemeClr val="tx1"/>
          </a:solidFill>
          <a:latin typeface="+mn-lt"/>
          <a:ea typeface="+mn-ea"/>
          <a:cs typeface="+mn-cs"/>
        </a:defRPr>
      </a:lvl6pPr>
      <a:lvl7pPr marL="3009839" algn="l" defTabSz="1003280" rtl="0" eaLnBrk="1" latinLnBrk="0" hangingPunct="1">
        <a:defRPr sz="1975" kern="1200">
          <a:solidFill>
            <a:schemeClr val="tx1"/>
          </a:solidFill>
          <a:latin typeface="+mn-lt"/>
          <a:ea typeface="+mn-ea"/>
          <a:cs typeface="+mn-cs"/>
        </a:defRPr>
      </a:lvl7pPr>
      <a:lvl8pPr marL="3511479" algn="l" defTabSz="1003280" rtl="0" eaLnBrk="1" latinLnBrk="0" hangingPunct="1">
        <a:defRPr sz="1975" kern="1200">
          <a:solidFill>
            <a:schemeClr val="tx1"/>
          </a:solidFill>
          <a:latin typeface="+mn-lt"/>
          <a:ea typeface="+mn-ea"/>
          <a:cs typeface="+mn-cs"/>
        </a:defRPr>
      </a:lvl8pPr>
      <a:lvl9pPr marL="4013119" algn="l" defTabSz="1003280" rtl="0" eaLnBrk="1" latinLnBrk="0" hangingPunct="1">
        <a:defRPr sz="197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5.jpe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7.jpg"/></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9.jpe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7.jpeg"/></Relationships>
</file>

<file path=ppt/slides/_rels/slide1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1.jpeg"/></Relationships>
</file>

<file path=ppt/slides/_rels/slide22.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7.png"/></Relationships>
</file>

<file path=ppt/slides/_rels/slide3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3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3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5.png"/></Relationships>
</file>

<file path=ppt/slides/_rels/slide3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39.png"/><Relationship Id="rId4" Type="http://schemas.openxmlformats.org/officeDocument/2006/relationships/image" Target="../media/image38.png"/></Relationships>
</file>

<file path=ppt/slides/_rels/slide4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74D3AC-9C63-34AA-E51F-C6D5CC08EBA8}"/>
            </a:ext>
          </a:extLst>
        </p:cNvPr>
        <p:cNvGrpSpPr/>
        <p:nvPr/>
      </p:nvGrpSpPr>
      <p:grpSpPr>
        <a:xfrm>
          <a:off x="0" y="0"/>
          <a:ext cx="0" cy="0"/>
          <a:chOff x="0" y="0"/>
          <a:chExt cx="0" cy="0"/>
        </a:xfrm>
      </p:grpSpPr>
      <p:pic>
        <p:nvPicPr>
          <p:cNvPr id="1027" name="Picture 3">
            <a:extLst>
              <a:ext uri="{FF2B5EF4-FFF2-40B4-BE49-F238E27FC236}">
                <a16:creationId xmlns:a16="http://schemas.microsoft.com/office/drawing/2014/main" id="{4CBFF6CD-3DEC-F1D9-C824-E5C1E78698E1}"/>
              </a:ext>
            </a:extLst>
          </p:cNvPr>
          <p:cNvPicPr>
            <a:picLocks noChangeAspect="1" noChangeArrowheads="1"/>
          </p:cNvPicPr>
          <p:nvPr/>
        </p:nvPicPr>
        <p:blipFill>
          <a:blip r:embed="rId2"/>
          <a:srcRect t="-9550" b="9550"/>
          <a:stretch>
            <a:fillRect/>
          </a:stretch>
        </p:blipFill>
        <p:spPr bwMode="auto">
          <a:xfrm>
            <a:off x="-8414" y="-159570"/>
            <a:ext cx="10691814" cy="5932170"/>
          </a:xfrm>
          <a:prstGeom prst="rect">
            <a:avLst/>
          </a:prstGeom>
          <a:noFill/>
        </p:spPr>
      </p:pic>
      <p:sp>
        <p:nvSpPr>
          <p:cNvPr id="5" name="TextBox 4">
            <a:extLst>
              <a:ext uri="{FF2B5EF4-FFF2-40B4-BE49-F238E27FC236}">
                <a16:creationId xmlns:a16="http://schemas.microsoft.com/office/drawing/2014/main" id="{DC33EBAB-EA22-181B-F674-51796813D080}"/>
              </a:ext>
            </a:extLst>
          </p:cNvPr>
          <p:cNvSpPr txBox="1"/>
          <p:nvPr/>
        </p:nvSpPr>
        <p:spPr>
          <a:xfrm>
            <a:off x="1605353" y="904873"/>
            <a:ext cx="7481087" cy="783291"/>
          </a:xfrm>
          <a:prstGeom prst="rect">
            <a:avLst/>
          </a:prstGeom>
          <a:noFill/>
        </p:spPr>
        <p:txBody>
          <a:bodyPr wrap="none" lIns="0" tIns="0" rIns="0" rtlCol="0">
            <a:spAutoFit/>
          </a:bodyPr>
          <a:lstStyle/>
          <a:p>
            <a:pPr>
              <a:lnSpc>
                <a:spcPts val="6095"/>
              </a:lnSpc>
            </a:pPr>
            <a:r>
              <a:rPr lang="en-US" altLang="zh-CN" sz="5004" dirty="0">
                <a:solidFill>
                  <a:srgbClr val="000000"/>
                </a:solidFill>
                <a:latin typeface="Times New Roman" pitchFamily="18" charset="0"/>
                <a:cs typeface="Times New Roman" pitchFamily="18" charset="0"/>
              </a:rPr>
              <a:t>Information</a:t>
            </a:r>
            <a:r>
              <a:rPr lang="en-US" altLang="zh-CN" sz="5004" dirty="0">
                <a:latin typeface="Times New Roman" pitchFamily="18" charset="0"/>
                <a:cs typeface="Times New Roman" pitchFamily="18" charset="0"/>
              </a:rPr>
              <a:t> </a:t>
            </a:r>
            <a:r>
              <a:rPr lang="en-US" altLang="zh-CN" sz="5004" dirty="0">
                <a:solidFill>
                  <a:srgbClr val="000000"/>
                </a:solidFill>
                <a:latin typeface="Times New Roman" pitchFamily="18" charset="0"/>
                <a:cs typeface="Times New Roman" pitchFamily="18" charset="0"/>
              </a:rPr>
              <a:t>Security</a:t>
            </a:r>
            <a:r>
              <a:rPr lang="en-US" altLang="zh-CN" sz="5004" dirty="0">
                <a:latin typeface="Times New Roman" pitchFamily="18" charset="0"/>
                <a:cs typeface="Times New Roman" pitchFamily="18" charset="0"/>
              </a:rPr>
              <a:t> </a:t>
            </a:r>
            <a:r>
              <a:rPr lang="en-US" altLang="zh-CN" sz="5004" dirty="0">
                <a:solidFill>
                  <a:srgbClr val="000000"/>
                </a:solidFill>
                <a:latin typeface="Times New Roman" pitchFamily="18" charset="0"/>
                <a:cs typeface="Times New Roman" pitchFamily="18" charset="0"/>
              </a:rPr>
              <a:t>Analyst</a:t>
            </a:r>
          </a:p>
        </p:txBody>
      </p:sp>
      <p:sp>
        <p:nvSpPr>
          <p:cNvPr id="9" name="TextBox 1">
            <a:extLst>
              <a:ext uri="{FF2B5EF4-FFF2-40B4-BE49-F238E27FC236}">
                <a16:creationId xmlns:a16="http://schemas.microsoft.com/office/drawing/2014/main" id="{74B4F903-7A5E-9333-024D-79F4A36F757D}"/>
              </a:ext>
            </a:extLst>
          </p:cNvPr>
          <p:cNvSpPr txBox="1"/>
          <p:nvPr/>
        </p:nvSpPr>
        <p:spPr>
          <a:xfrm>
            <a:off x="4608579" y="1555231"/>
            <a:ext cx="1474634" cy="783291"/>
          </a:xfrm>
          <a:prstGeom prst="rect">
            <a:avLst/>
          </a:prstGeom>
          <a:noFill/>
        </p:spPr>
        <p:txBody>
          <a:bodyPr wrap="none" lIns="0" tIns="0" rIns="0" rtlCol="0">
            <a:spAutoFit/>
          </a:bodyPr>
          <a:lstStyle/>
          <a:p>
            <a:pPr>
              <a:lnSpc>
                <a:spcPts val="6095"/>
              </a:lnSpc>
            </a:pPr>
            <a:r>
              <a:rPr lang="en-US" altLang="zh-CN" sz="5004" dirty="0">
                <a:solidFill>
                  <a:srgbClr val="000000"/>
                </a:solidFill>
                <a:latin typeface="Times New Roman" pitchFamily="18" charset="0"/>
                <a:cs typeface="Times New Roman" pitchFamily="18" charset="0"/>
              </a:rPr>
              <a:t>Track</a:t>
            </a:r>
          </a:p>
        </p:txBody>
      </p:sp>
      <p:sp>
        <p:nvSpPr>
          <p:cNvPr id="13" name="TextBox 1">
            <a:extLst>
              <a:ext uri="{FF2B5EF4-FFF2-40B4-BE49-F238E27FC236}">
                <a16:creationId xmlns:a16="http://schemas.microsoft.com/office/drawing/2014/main" id="{9817B6BF-492A-95BE-1B6E-02297B71A752}"/>
              </a:ext>
            </a:extLst>
          </p:cNvPr>
          <p:cNvSpPr txBox="1"/>
          <p:nvPr/>
        </p:nvSpPr>
        <p:spPr>
          <a:xfrm>
            <a:off x="4237610" y="2265119"/>
            <a:ext cx="2216569" cy="783291"/>
          </a:xfrm>
          <a:prstGeom prst="rect">
            <a:avLst/>
          </a:prstGeom>
          <a:noFill/>
        </p:spPr>
        <p:txBody>
          <a:bodyPr wrap="none" lIns="0" tIns="0" rIns="0" rtlCol="0">
            <a:spAutoFit/>
          </a:bodyPr>
          <a:lstStyle/>
          <a:p>
            <a:pPr>
              <a:lnSpc>
                <a:spcPts val="6095"/>
              </a:lnSpc>
            </a:pPr>
            <a:r>
              <a:rPr lang="en-US" altLang="zh-CN" sz="5004" b="1" dirty="0">
                <a:solidFill>
                  <a:srgbClr val="FF0000"/>
                </a:solidFill>
                <a:latin typeface="Times New Roman" pitchFamily="18" charset="0"/>
                <a:cs typeface="Times New Roman" pitchFamily="18" charset="0"/>
              </a:rPr>
              <a:t>SOC T1</a:t>
            </a:r>
          </a:p>
        </p:txBody>
      </p:sp>
      <p:sp>
        <p:nvSpPr>
          <p:cNvPr id="16" name="TextBox 15">
            <a:extLst>
              <a:ext uri="{FF2B5EF4-FFF2-40B4-BE49-F238E27FC236}">
                <a16:creationId xmlns:a16="http://schemas.microsoft.com/office/drawing/2014/main" id="{4B2E0FF5-3634-B9FC-BEE3-52EE6C4E02E1}"/>
              </a:ext>
            </a:extLst>
          </p:cNvPr>
          <p:cNvSpPr txBox="1"/>
          <p:nvPr/>
        </p:nvSpPr>
        <p:spPr>
          <a:xfrm>
            <a:off x="1605350" y="3039444"/>
            <a:ext cx="7481087" cy="1815882"/>
          </a:xfrm>
          <a:prstGeom prst="rect">
            <a:avLst/>
          </a:prstGeom>
          <a:noFill/>
        </p:spPr>
        <p:txBody>
          <a:bodyPr wrap="square">
            <a:spAutoFit/>
          </a:bodyPr>
          <a:lstStyle/>
          <a:p>
            <a:pPr algn="ctr"/>
            <a:r>
              <a:rPr lang="en-US" sz="4000" b="1" dirty="0"/>
              <a:t>Project</a:t>
            </a:r>
            <a:r>
              <a:rPr lang="en-US" sz="3600" dirty="0"/>
              <a:t> </a:t>
            </a:r>
          </a:p>
          <a:p>
            <a:pPr algn="ctr"/>
            <a:r>
              <a:rPr lang="en-US" sz="3600" dirty="0"/>
              <a:t> Building and Operating a Mini Security Operations Center (SOC) </a:t>
            </a:r>
          </a:p>
        </p:txBody>
      </p:sp>
      <p:sp>
        <p:nvSpPr>
          <p:cNvPr id="18" name="TextBox 17">
            <a:extLst>
              <a:ext uri="{FF2B5EF4-FFF2-40B4-BE49-F238E27FC236}">
                <a16:creationId xmlns:a16="http://schemas.microsoft.com/office/drawing/2014/main" id="{F5CE9CD8-D45D-0845-155F-1E985F17A979}"/>
              </a:ext>
            </a:extLst>
          </p:cNvPr>
          <p:cNvSpPr txBox="1"/>
          <p:nvPr/>
        </p:nvSpPr>
        <p:spPr>
          <a:xfrm>
            <a:off x="3536549" y="5858876"/>
            <a:ext cx="3618683" cy="830997"/>
          </a:xfrm>
          <a:prstGeom prst="rect">
            <a:avLst/>
          </a:prstGeom>
          <a:noFill/>
        </p:spPr>
        <p:txBody>
          <a:bodyPr wrap="none" rtlCol="0">
            <a:spAutoFit/>
          </a:bodyPr>
          <a:lstStyle/>
          <a:p>
            <a:pPr algn="ctr"/>
            <a:r>
              <a:rPr lang="en-US" sz="2400" b="1" dirty="0"/>
              <a:t>Supervised by :</a:t>
            </a:r>
          </a:p>
          <a:p>
            <a:r>
              <a:rPr lang="en-US" sz="2400" b="1" dirty="0"/>
              <a:t>ENG/ Marwan EL-Sayyad</a:t>
            </a:r>
          </a:p>
        </p:txBody>
      </p:sp>
      <p:sp>
        <p:nvSpPr>
          <p:cNvPr id="19" name="TextBox 18">
            <a:extLst>
              <a:ext uri="{FF2B5EF4-FFF2-40B4-BE49-F238E27FC236}">
                <a16:creationId xmlns:a16="http://schemas.microsoft.com/office/drawing/2014/main" id="{1DA6B460-D4F8-FCE7-0883-8FBF8DCAD96D}"/>
              </a:ext>
            </a:extLst>
          </p:cNvPr>
          <p:cNvSpPr txBox="1"/>
          <p:nvPr/>
        </p:nvSpPr>
        <p:spPr>
          <a:xfrm>
            <a:off x="4923340" y="6689873"/>
            <a:ext cx="845103" cy="461665"/>
          </a:xfrm>
          <a:prstGeom prst="rect">
            <a:avLst/>
          </a:prstGeom>
          <a:noFill/>
        </p:spPr>
        <p:txBody>
          <a:bodyPr wrap="none" rtlCol="0">
            <a:spAutoFit/>
          </a:bodyPr>
          <a:lstStyle/>
          <a:p>
            <a:r>
              <a:rPr lang="en-US" sz="2400" b="1" dirty="0"/>
              <a:t>2026</a:t>
            </a:r>
            <a:endParaRPr lang="en-US" b="1" dirty="0"/>
          </a:p>
        </p:txBody>
      </p:sp>
      <p:sp>
        <p:nvSpPr>
          <p:cNvPr id="20" name="TextBox 19">
            <a:extLst>
              <a:ext uri="{FF2B5EF4-FFF2-40B4-BE49-F238E27FC236}">
                <a16:creationId xmlns:a16="http://schemas.microsoft.com/office/drawing/2014/main" id="{724EBAC4-069C-A934-3007-0BB46881B439}"/>
              </a:ext>
            </a:extLst>
          </p:cNvPr>
          <p:cNvSpPr txBox="1"/>
          <p:nvPr/>
        </p:nvSpPr>
        <p:spPr>
          <a:xfrm>
            <a:off x="3349870" y="7124740"/>
            <a:ext cx="3992055" cy="369332"/>
          </a:xfrm>
          <a:prstGeom prst="rect">
            <a:avLst/>
          </a:prstGeom>
          <a:noFill/>
        </p:spPr>
        <p:txBody>
          <a:bodyPr wrap="none" rtlCol="0">
            <a:spAutoFit/>
          </a:bodyPr>
          <a:lstStyle/>
          <a:p>
            <a:r>
              <a:rPr lang="en-US" dirty="0"/>
              <a:t>Digital Egypt Initiative (DEPI) – Round 4</a:t>
            </a:r>
          </a:p>
        </p:txBody>
      </p:sp>
      <p:sp>
        <p:nvSpPr>
          <p:cNvPr id="21" name="TextBox 20">
            <a:extLst>
              <a:ext uri="{FF2B5EF4-FFF2-40B4-BE49-F238E27FC236}">
                <a16:creationId xmlns:a16="http://schemas.microsoft.com/office/drawing/2014/main" id="{52F5AEF3-62C6-3985-33F5-F0EBBA26A3F0}"/>
              </a:ext>
            </a:extLst>
          </p:cNvPr>
          <p:cNvSpPr txBox="1"/>
          <p:nvPr/>
        </p:nvSpPr>
        <p:spPr>
          <a:xfrm>
            <a:off x="4310478" y="4941603"/>
            <a:ext cx="2070823" cy="830997"/>
          </a:xfrm>
          <a:prstGeom prst="rect">
            <a:avLst/>
          </a:prstGeom>
          <a:noFill/>
        </p:spPr>
        <p:txBody>
          <a:bodyPr wrap="none" rtlCol="0">
            <a:spAutoFit/>
          </a:bodyPr>
          <a:lstStyle/>
          <a:p>
            <a:pPr algn="ctr"/>
            <a:r>
              <a:rPr lang="en-US" sz="2400" b="1" dirty="0"/>
              <a:t>Done by :</a:t>
            </a:r>
          </a:p>
          <a:p>
            <a:r>
              <a:rPr lang="en-US" sz="2400" b="1" dirty="0"/>
              <a:t>El-</a:t>
            </a:r>
            <a:r>
              <a:rPr lang="en-US" sz="2400" b="1" dirty="0" err="1"/>
              <a:t>hout</a:t>
            </a:r>
            <a:r>
              <a:rPr lang="en-US" sz="2400" b="1" dirty="0"/>
              <a:t> Team </a:t>
            </a:r>
          </a:p>
        </p:txBody>
      </p:sp>
    </p:spTree>
    <p:extLst>
      <p:ext uri="{BB962C8B-B14F-4D97-AF65-F5344CB8AC3E}">
        <p14:creationId xmlns:p14="http://schemas.microsoft.com/office/powerpoint/2010/main" val="28016227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F849F-B56F-B159-DD0A-6CFA478650E4}"/>
            </a:ext>
          </a:extLst>
        </p:cNvPr>
        <p:cNvGrpSpPr/>
        <p:nvPr/>
      </p:nvGrpSpPr>
      <p:grpSpPr>
        <a:xfrm>
          <a:off x="0" y="0"/>
          <a:ext cx="0" cy="0"/>
          <a:chOff x="0" y="0"/>
          <a:chExt cx="0" cy="0"/>
        </a:xfrm>
      </p:grpSpPr>
      <p:sp>
        <p:nvSpPr>
          <p:cNvPr id="4" name="Freeform 3">
            <a:extLst>
              <a:ext uri="{FF2B5EF4-FFF2-40B4-BE49-F238E27FC236}">
                <a16:creationId xmlns:a16="http://schemas.microsoft.com/office/drawing/2014/main" id="{BB10D4E9-1F4B-415A-CBFB-638E11B25D55}"/>
              </a:ext>
            </a:extLst>
          </p:cNvPr>
          <p:cNvSpPr/>
          <p:nvPr/>
        </p:nvSpPr>
        <p:spPr>
          <a:xfrm>
            <a:off x="279368" y="911603"/>
            <a:ext cx="10133623" cy="5699440"/>
          </a:xfrm>
          <a:custGeom>
            <a:avLst/>
            <a:gdLst>
              <a:gd name="connsiteX0" fmla="*/ 0 w 10692384"/>
              <a:gd name="connsiteY0" fmla="*/ 0 h 6013703"/>
              <a:gd name="connsiteX1" fmla="*/ 10692384 w 10692384"/>
              <a:gd name="connsiteY1" fmla="*/ 0 h 6013703"/>
              <a:gd name="connsiteX2" fmla="*/ 10692384 w 10692384"/>
              <a:gd name="connsiteY2" fmla="*/ 6013703 h 6013703"/>
              <a:gd name="connsiteX3" fmla="*/ 0 w 10692384"/>
              <a:gd name="connsiteY3" fmla="*/ 6013703 h 6013703"/>
              <a:gd name="connsiteX4" fmla="*/ 0 w 10692384"/>
              <a:gd name="connsiteY4" fmla="*/ 0 h 6013703"/>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92384" h="6013703">
                <a:moveTo>
                  <a:pt x="0" y="0"/>
                </a:moveTo>
                <a:lnTo>
                  <a:pt x="10692384" y="0"/>
                </a:lnTo>
                <a:lnTo>
                  <a:pt x="10692384" y="6013703"/>
                </a:lnTo>
                <a:lnTo>
                  <a:pt x="0" y="6013703"/>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92"/>
              <a:t>utilizing the </a:t>
            </a:r>
            <a:r>
              <a:rPr lang="en-US" sz="1592" b="1"/>
              <a:t>Elastic Stack</a:t>
            </a:r>
            <a:endParaRPr lang="zh-CN" altLang="en-US" sz="1707"/>
          </a:p>
        </p:txBody>
      </p:sp>
      <p:pic>
        <p:nvPicPr>
          <p:cNvPr id="1027" name="Picture 3">
            <a:extLst>
              <a:ext uri="{FF2B5EF4-FFF2-40B4-BE49-F238E27FC236}">
                <a16:creationId xmlns:a16="http://schemas.microsoft.com/office/drawing/2014/main" id="{6EF0D3A5-06AE-FC3A-CC47-18FC2B21038C}"/>
              </a:ext>
            </a:extLst>
          </p:cNvPr>
          <p:cNvPicPr>
            <a:picLocks noChangeAspect="1" noChangeArrowheads="1"/>
          </p:cNvPicPr>
          <p:nvPr/>
        </p:nvPicPr>
        <p:blipFill>
          <a:blip r:embed="rId2"/>
          <a:srcRect t="-9550" b="9550"/>
          <a:stretch>
            <a:fillRect/>
          </a:stretch>
        </p:blipFill>
        <p:spPr bwMode="auto">
          <a:xfrm>
            <a:off x="25815" y="172049"/>
            <a:ext cx="10640183" cy="5717255"/>
          </a:xfrm>
          <a:prstGeom prst="rect">
            <a:avLst/>
          </a:prstGeom>
          <a:noFill/>
        </p:spPr>
      </p:pic>
      <p:sp>
        <p:nvSpPr>
          <p:cNvPr id="5" name="TextBox 4">
            <a:extLst>
              <a:ext uri="{FF2B5EF4-FFF2-40B4-BE49-F238E27FC236}">
                <a16:creationId xmlns:a16="http://schemas.microsoft.com/office/drawing/2014/main" id="{6B54441A-C383-F07E-FD3C-9FA6777226AC}"/>
              </a:ext>
            </a:extLst>
          </p:cNvPr>
          <p:cNvSpPr txBox="1"/>
          <p:nvPr/>
        </p:nvSpPr>
        <p:spPr>
          <a:xfrm>
            <a:off x="502220" y="1680165"/>
            <a:ext cx="5320732" cy="581951"/>
          </a:xfrm>
          <a:prstGeom prst="rect">
            <a:avLst/>
          </a:prstGeom>
          <a:noFill/>
        </p:spPr>
        <p:txBody>
          <a:bodyPr wrap="square">
            <a:spAutoFit/>
          </a:bodyPr>
          <a:lstStyle/>
          <a:p>
            <a:r>
              <a:rPr lang="en-US" sz="3185" b="1" dirty="0"/>
              <a:t>Project Overview</a:t>
            </a:r>
          </a:p>
        </p:txBody>
      </p:sp>
      <p:sp>
        <p:nvSpPr>
          <p:cNvPr id="8" name="TextBox 7">
            <a:extLst>
              <a:ext uri="{FF2B5EF4-FFF2-40B4-BE49-F238E27FC236}">
                <a16:creationId xmlns:a16="http://schemas.microsoft.com/office/drawing/2014/main" id="{FCA006C1-4C25-DFE8-66EF-E72448EA0011}"/>
              </a:ext>
            </a:extLst>
          </p:cNvPr>
          <p:cNvSpPr txBox="1"/>
          <p:nvPr/>
        </p:nvSpPr>
        <p:spPr>
          <a:xfrm>
            <a:off x="621405" y="2433411"/>
            <a:ext cx="9791041" cy="1194533"/>
          </a:xfrm>
          <a:prstGeom prst="rect">
            <a:avLst/>
          </a:prstGeom>
          <a:noFill/>
        </p:spPr>
        <p:txBody>
          <a:bodyPr wrap="square">
            <a:spAutoFit/>
          </a:bodyPr>
          <a:lstStyle/>
          <a:p>
            <a:pPr algn="ctr"/>
            <a:r>
              <a:rPr lang="en-US" sz="2388" dirty="0"/>
              <a:t>This project focuses on building a centralized  </a:t>
            </a:r>
            <a:r>
              <a:rPr lang="en-US" sz="2388" b="1" dirty="0"/>
              <a:t>Security Information</a:t>
            </a:r>
          </a:p>
          <a:p>
            <a:pPr algn="ctr"/>
            <a:r>
              <a:rPr lang="en-US" sz="2388" b="1" dirty="0"/>
              <a:t> and Event Management (SIEM)</a:t>
            </a:r>
            <a:r>
              <a:rPr lang="en-US" sz="2388" dirty="0"/>
              <a:t> system designed to monitor, detect,</a:t>
            </a:r>
          </a:p>
          <a:p>
            <a:pPr algn="ctr"/>
            <a:r>
              <a:rPr lang="en-US" sz="2388" dirty="0"/>
              <a:t> and analyze security events across Linux environments</a:t>
            </a:r>
          </a:p>
        </p:txBody>
      </p:sp>
      <p:sp>
        <p:nvSpPr>
          <p:cNvPr id="11" name="TextBox 10">
            <a:extLst>
              <a:ext uri="{FF2B5EF4-FFF2-40B4-BE49-F238E27FC236}">
                <a16:creationId xmlns:a16="http://schemas.microsoft.com/office/drawing/2014/main" id="{0DA489F4-5681-1C17-266D-89E9D05CED97}"/>
              </a:ext>
            </a:extLst>
          </p:cNvPr>
          <p:cNvSpPr txBox="1"/>
          <p:nvPr/>
        </p:nvSpPr>
        <p:spPr>
          <a:xfrm>
            <a:off x="3411836" y="3848401"/>
            <a:ext cx="5320732" cy="459436"/>
          </a:xfrm>
          <a:prstGeom prst="rect">
            <a:avLst/>
          </a:prstGeom>
          <a:noFill/>
        </p:spPr>
        <p:txBody>
          <a:bodyPr wrap="square">
            <a:spAutoFit/>
          </a:bodyPr>
          <a:lstStyle/>
          <a:p>
            <a:r>
              <a:rPr lang="en-US" sz="2388" dirty="0"/>
              <a:t>utilizing the </a:t>
            </a:r>
            <a:r>
              <a:rPr lang="en-US" sz="2388" b="1" dirty="0"/>
              <a:t>Elastic Stack</a:t>
            </a:r>
            <a:endParaRPr lang="en-US" sz="2388" dirty="0"/>
          </a:p>
        </p:txBody>
      </p:sp>
      <p:sp>
        <p:nvSpPr>
          <p:cNvPr id="13" name="TextBox 12">
            <a:extLst>
              <a:ext uri="{FF2B5EF4-FFF2-40B4-BE49-F238E27FC236}">
                <a16:creationId xmlns:a16="http://schemas.microsoft.com/office/drawing/2014/main" id="{60D4BCA5-5072-6E6B-46D2-F1EC074A5FB2}"/>
              </a:ext>
            </a:extLst>
          </p:cNvPr>
          <p:cNvSpPr txBox="1"/>
          <p:nvPr/>
        </p:nvSpPr>
        <p:spPr>
          <a:xfrm>
            <a:off x="1842536" y="4528295"/>
            <a:ext cx="7348779" cy="1194533"/>
          </a:xfrm>
          <a:prstGeom prst="rect">
            <a:avLst/>
          </a:prstGeom>
          <a:noFill/>
        </p:spPr>
        <p:txBody>
          <a:bodyPr wrap="square">
            <a:spAutoFit/>
          </a:bodyPr>
          <a:lstStyle/>
          <a:p>
            <a:pPr algn="ctr"/>
            <a:r>
              <a:rPr lang="en-US" sz="2388" dirty="0"/>
              <a:t>the system provides a robust framework for real-time log management and performance tracking, ensuring a proactive defense against cyber threats</a:t>
            </a:r>
          </a:p>
        </p:txBody>
      </p:sp>
    </p:spTree>
    <p:extLst>
      <p:ext uri="{BB962C8B-B14F-4D97-AF65-F5344CB8AC3E}">
        <p14:creationId xmlns:p14="http://schemas.microsoft.com/office/powerpoint/2010/main" val="24023514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699BF-D123-3BCE-2A62-6529F633BA5C}"/>
            </a:ext>
          </a:extLst>
        </p:cNvPr>
        <p:cNvGrpSpPr/>
        <p:nvPr/>
      </p:nvGrpSpPr>
      <p:grpSpPr>
        <a:xfrm>
          <a:off x="0" y="0"/>
          <a:ext cx="0" cy="0"/>
          <a:chOff x="0" y="0"/>
          <a:chExt cx="0" cy="0"/>
        </a:xfrm>
      </p:grpSpPr>
      <p:sp>
        <p:nvSpPr>
          <p:cNvPr id="4" name="Freeform 3">
            <a:extLst>
              <a:ext uri="{FF2B5EF4-FFF2-40B4-BE49-F238E27FC236}">
                <a16:creationId xmlns:a16="http://schemas.microsoft.com/office/drawing/2014/main" id="{1CBFAF58-3C65-05EC-0F67-013D38523082}"/>
              </a:ext>
            </a:extLst>
          </p:cNvPr>
          <p:cNvSpPr/>
          <p:nvPr/>
        </p:nvSpPr>
        <p:spPr>
          <a:xfrm>
            <a:off x="279368" y="911603"/>
            <a:ext cx="10133623" cy="5699440"/>
          </a:xfrm>
          <a:custGeom>
            <a:avLst/>
            <a:gdLst>
              <a:gd name="connsiteX0" fmla="*/ 0 w 10692384"/>
              <a:gd name="connsiteY0" fmla="*/ 0 h 6013703"/>
              <a:gd name="connsiteX1" fmla="*/ 10692384 w 10692384"/>
              <a:gd name="connsiteY1" fmla="*/ 0 h 6013703"/>
              <a:gd name="connsiteX2" fmla="*/ 10692384 w 10692384"/>
              <a:gd name="connsiteY2" fmla="*/ 6013703 h 6013703"/>
              <a:gd name="connsiteX3" fmla="*/ 0 w 10692384"/>
              <a:gd name="connsiteY3" fmla="*/ 6013703 h 6013703"/>
              <a:gd name="connsiteX4" fmla="*/ 0 w 10692384"/>
              <a:gd name="connsiteY4" fmla="*/ 0 h 6013703"/>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92384" h="6013703">
                <a:moveTo>
                  <a:pt x="0" y="0"/>
                </a:moveTo>
                <a:lnTo>
                  <a:pt x="10692384" y="0"/>
                </a:lnTo>
                <a:lnTo>
                  <a:pt x="10692384" y="6013703"/>
                </a:lnTo>
                <a:lnTo>
                  <a:pt x="0" y="6013703"/>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92"/>
              <a:t>Project 1: Building and Operating a Mini Security Operations Center (SOC) </a:t>
            </a:r>
            <a:endParaRPr lang="zh-CN" altLang="en-US" sz="1707"/>
          </a:p>
        </p:txBody>
      </p:sp>
      <p:pic>
        <p:nvPicPr>
          <p:cNvPr id="1027" name="Picture 3">
            <a:extLst>
              <a:ext uri="{FF2B5EF4-FFF2-40B4-BE49-F238E27FC236}">
                <a16:creationId xmlns:a16="http://schemas.microsoft.com/office/drawing/2014/main" id="{C41E77C2-2294-8223-11B6-B8D6387A754C}"/>
              </a:ext>
            </a:extLst>
          </p:cNvPr>
          <p:cNvPicPr>
            <a:picLocks noChangeAspect="1" noChangeArrowheads="1"/>
          </p:cNvPicPr>
          <p:nvPr/>
        </p:nvPicPr>
        <p:blipFill>
          <a:blip r:embed="rId2"/>
          <a:srcRect t="-9550" b="9550"/>
          <a:stretch>
            <a:fillRect/>
          </a:stretch>
        </p:blipFill>
        <p:spPr bwMode="auto">
          <a:xfrm>
            <a:off x="25815" y="176472"/>
            <a:ext cx="10640183" cy="5717255"/>
          </a:xfrm>
          <a:prstGeom prst="rect">
            <a:avLst/>
          </a:prstGeom>
          <a:noFill/>
        </p:spPr>
      </p:pic>
      <p:sp>
        <p:nvSpPr>
          <p:cNvPr id="3" name="TextBox 2">
            <a:extLst>
              <a:ext uri="{FF2B5EF4-FFF2-40B4-BE49-F238E27FC236}">
                <a16:creationId xmlns:a16="http://schemas.microsoft.com/office/drawing/2014/main" id="{E7590A89-6C61-EFDE-4C2A-DDA0281EE6F8}"/>
              </a:ext>
            </a:extLst>
          </p:cNvPr>
          <p:cNvSpPr txBox="1"/>
          <p:nvPr/>
        </p:nvSpPr>
        <p:spPr>
          <a:xfrm>
            <a:off x="416572" y="1627577"/>
            <a:ext cx="5320732" cy="581951"/>
          </a:xfrm>
          <a:prstGeom prst="rect">
            <a:avLst/>
          </a:prstGeom>
          <a:noFill/>
        </p:spPr>
        <p:txBody>
          <a:bodyPr wrap="square">
            <a:spAutoFit/>
          </a:bodyPr>
          <a:lstStyle/>
          <a:p>
            <a:r>
              <a:rPr lang="en-US" sz="3185" b="1" dirty="0"/>
              <a:t>Objectives</a:t>
            </a:r>
          </a:p>
        </p:txBody>
      </p:sp>
      <p:sp>
        <p:nvSpPr>
          <p:cNvPr id="6" name="TextBox 5">
            <a:extLst>
              <a:ext uri="{FF2B5EF4-FFF2-40B4-BE49-F238E27FC236}">
                <a16:creationId xmlns:a16="http://schemas.microsoft.com/office/drawing/2014/main" id="{4B1A97E6-1619-71DB-F60D-3B6196BBFF05}"/>
              </a:ext>
            </a:extLst>
          </p:cNvPr>
          <p:cNvSpPr txBox="1"/>
          <p:nvPr/>
        </p:nvSpPr>
        <p:spPr>
          <a:xfrm>
            <a:off x="716332" y="2664922"/>
            <a:ext cx="5320732" cy="398178"/>
          </a:xfrm>
          <a:prstGeom prst="rect">
            <a:avLst/>
          </a:prstGeom>
          <a:noFill/>
        </p:spPr>
        <p:txBody>
          <a:bodyPr wrap="square">
            <a:spAutoFit/>
          </a:bodyPr>
          <a:lstStyle/>
          <a:p>
            <a:pPr marL="284378" indent="-284378">
              <a:buFont typeface="Arial" panose="020B0604020202020204" pitchFamily="34" charset="0"/>
              <a:buChar char="•"/>
            </a:pPr>
            <a:r>
              <a:rPr lang="en-US" sz="1990" dirty="0"/>
              <a:t>Centralized Logging</a:t>
            </a:r>
          </a:p>
        </p:txBody>
      </p:sp>
      <p:sp>
        <p:nvSpPr>
          <p:cNvPr id="8" name="TextBox 7">
            <a:extLst>
              <a:ext uri="{FF2B5EF4-FFF2-40B4-BE49-F238E27FC236}">
                <a16:creationId xmlns:a16="http://schemas.microsoft.com/office/drawing/2014/main" id="{AF2CAB9B-C8A0-FEF8-88E0-C69D3AFB8038}"/>
              </a:ext>
            </a:extLst>
          </p:cNvPr>
          <p:cNvSpPr txBox="1"/>
          <p:nvPr/>
        </p:nvSpPr>
        <p:spPr>
          <a:xfrm>
            <a:off x="716332" y="3516146"/>
            <a:ext cx="5320732" cy="398178"/>
          </a:xfrm>
          <a:prstGeom prst="rect">
            <a:avLst/>
          </a:prstGeom>
          <a:noFill/>
        </p:spPr>
        <p:txBody>
          <a:bodyPr wrap="square">
            <a:spAutoFit/>
          </a:bodyPr>
          <a:lstStyle/>
          <a:p>
            <a:pPr marL="284378" indent="-284378">
              <a:buFont typeface="Arial" panose="020B0604020202020204" pitchFamily="34" charset="0"/>
              <a:buChar char="•"/>
            </a:pPr>
            <a:r>
              <a:rPr lang="en-US" sz="1990" dirty="0"/>
              <a:t>Real-time Monitoring</a:t>
            </a:r>
          </a:p>
        </p:txBody>
      </p:sp>
      <p:sp>
        <p:nvSpPr>
          <p:cNvPr id="10" name="TextBox 9">
            <a:extLst>
              <a:ext uri="{FF2B5EF4-FFF2-40B4-BE49-F238E27FC236}">
                <a16:creationId xmlns:a16="http://schemas.microsoft.com/office/drawing/2014/main" id="{EE2689A5-6320-302E-CC22-46A55E95E87F}"/>
              </a:ext>
            </a:extLst>
          </p:cNvPr>
          <p:cNvSpPr txBox="1"/>
          <p:nvPr/>
        </p:nvSpPr>
        <p:spPr>
          <a:xfrm>
            <a:off x="716332" y="4367369"/>
            <a:ext cx="5320732" cy="398178"/>
          </a:xfrm>
          <a:prstGeom prst="rect">
            <a:avLst/>
          </a:prstGeom>
          <a:noFill/>
        </p:spPr>
        <p:txBody>
          <a:bodyPr wrap="square">
            <a:spAutoFit/>
          </a:bodyPr>
          <a:lstStyle/>
          <a:p>
            <a:pPr marL="284378" indent="-284378">
              <a:buFont typeface="Arial" panose="020B0604020202020204" pitchFamily="34" charset="0"/>
              <a:buChar char="•"/>
            </a:pPr>
            <a:r>
              <a:rPr lang="en-US" sz="1990" dirty="0"/>
              <a:t>Threat Detection</a:t>
            </a:r>
          </a:p>
        </p:txBody>
      </p:sp>
      <p:sp>
        <p:nvSpPr>
          <p:cNvPr id="12" name="TextBox 11">
            <a:extLst>
              <a:ext uri="{FF2B5EF4-FFF2-40B4-BE49-F238E27FC236}">
                <a16:creationId xmlns:a16="http://schemas.microsoft.com/office/drawing/2014/main" id="{AE313386-5A69-DF64-31F6-C56600E87002}"/>
              </a:ext>
            </a:extLst>
          </p:cNvPr>
          <p:cNvSpPr txBox="1"/>
          <p:nvPr/>
        </p:nvSpPr>
        <p:spPr>
          <a:xfrm>
            <a:off x="716332" y="5218593"/>
            <a:ext cx="5320732" cy="398178"/>
          </a:xfrm>
          <a:prstGeom prst="rect">
            <a:avLst/>
          </a:prstGeom>
          <a:noFill/>
        </p:spPr>
        <p:txBody>
          <a:bodyPr wrap="square">
            <a:spAutoFit/>
          </a:bodyPr>
          <a:lstStyle/>
          <a:p>
            <a:pPr marL="284378" indent="-284378">
              <a:buFont typeface="Arial" panose="020B0604020202020204" pitchFamily="34" charset="0"/>
              <a:buChar char="•"/>
            </a:pPr>
            <a:r>
              <a:rPr lang="en-US" sz="1990" dirty="0"/>
              <a:t>Data Visualization </a:t>
            </a:r>
          </a:p>
        </p:txBody>
      </p:sp>
    </p:spTree>
    <p:extLst>
      <p:ext uri="{BB962C8B-B14F-4D97-AF65-F5344CB8AC3E}">
        <p14:creationId xmlns:p14="http://schemas.microsoft.com/office/powerpoint/2010/main" val="21131336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070F96-C544-B94A-CA90-6F2C30BEBA4D}"/>
            </a:ext>
          </a:extLst>
        </p:cNvPr>
        <p:cNvGrpSpPr/>
        <p:nvPr/>
      </p:nvGrpSpPr>
      <p:grpSpPr>
        <a:xfrm>
          <a:off x="0" y="0"/>
          <a:ext cx="0" cy="0"/>
          <a:chOff x="0" y="0"/>
          <a:chExt cx="0" cy="0"/>
        </a:xfrm>
      </p:grpSpPr>
      <p:sp>
        <p:nvSpPr>
          <p:cNvPr id="4" name="Freeform 3">
            <a:extLst>
              <a:ext uri="{FF2B5EF4-FFF2-40B4-BE49-F238E27FC236}">
                <a16:creationId xmlns:a16="http://schemas.microsoft.com/office/drawing/2014/main" id="{BEFA13C1-E41E-3227-4696-85330CD67169}"/>
              </a:ext>
            </a:extLst>
          </p:cNvPr>
          <p:cNvSpPr/>
          <p:nvPr/>
        </p:nvSpPr>
        <p:spPr>
          <a:xfrm>
            <a:off x="279368" y="911603"/>
            <a:ext cx="10133623" cy="5699440"/>
          </a:xfrm>
          <a:custGeom>
            <a:avLst/>
            <a:gdLst>
              <a:gd name="connsiteX0" fmla="*/ 0 w 10692384"/>
              <a:gd name="connsiteY0" fmla="*/ 0 h 6013703"/>
              <a:gd name="connsiteX1" fmla="*/ 10692384 w 10692384"/>
              <a:gd name="connsiteY1" fmla="*/ 0 h 6013703"/>
              <a:gd name="connsiteX2" fmla="*/ 10692384 w 10692384"/>
              <a:gd name="connsiteY2" fmla="*/ 6013703 h 6013703"/>
              <a:gd name="connsiteX3" fmla="*/ 0 w 10692384"/>
              <a:gd name="connsiteY3" fmla="*/ 6013703 h 6013703"/>
              <a:gd name="connsiteX4" fmla="*/ 0 w 10692384"/>
              <a:gd name="connsiteY4" fmla="*/ 0 h 6013703"/>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92384" h="6013703">
                <a:moveTo>
                  <a:pt x="0" y="0"/>
                </a:moveTo>
                <a:lnTo>
                  <a:pt x="10692384" y="0"/>
                </a:lnTo>
                <a:lnTo>
                  <a:pt x="10692384" y="6013703"/>
                </a:lnTo>
                <a:lnTo>
                  <a:pt x="0" y="6013703"/>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7"/>
          </a:p>
        </p:txBody>
      </p:sp>
      <p:pic>
        <p:nvPicPr>
          <p:cNvPr id="1027" name="Picture 3">
            <a:extLst>
              <a:ext uri="{FF2B5EF4-FFF2-40B4-BE49-F238E27FC236}">
                <a16:creationId xmlns:a16="http://schemas.microsoft.com/office/drawing/2014/main" id="{714F3B45-67CF-0A94-E38D-E935E2FAF388}"/>
              </a:ext>
            </a:extLst>
          </p:cNvPr>
          <p:cNvPicPr>
            <a:picLocks noChangeAspect="1" noChangeArrowheads="1"/>
          </p:cNvPicPr>
          <p:nvPr/>
        </p:nvPicPr>
        <p:blipFill>
          <a:blip r:embed="rId2"/>
          <a:srcRect t="-9550" b="9550"/>
          <a:stretch>
            <a:fillRect/>
          </a:stretch>
        </p:blipFill>
        <p:spPr bwMode="auto">
          <a:xfrm>
            <a:off x="25815" y="163114"/>
            <a:ext cx="10640183" cy="5717255"/>
          </a:xfrm>
          <a:prstGeom prst="rect">
            <a:avLst/>
          </a:prstGeom>
          <a:noFill/>
        </p:spPr>
      </p:pic>
      <p:pic>
        <p:nvPicPr>
          <p:cNvPr id="3" name="Picture 2">
            <a:extLst>
              <a:ext uri="{FF2B5EF4-FFF2-40B4-BE49-F238E27FC236}">
                <a16:creationId xmlns:a16="http://schemas.microsoft.com/office/drawing/2014/main" id="{56EEF26B-1692-90DD-B4FB-4950358907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9392" y="1564181"/>
            <a:ext cx="8693028" cy="5795351"/>
          </a:xfrm>
          <a:prstGeom prst="rect">
            <a:avLst/>
          </a:prstGeom>
        </p:spPr>
      </p:pic>
    </p:spTree>
    <p:extLst>
      <p:ext uri="{BB962C8B-B14F-4D97-AF65-F5344CB8AC3E}">
        <p14:creationId xmlns:p14="http://schemas.microsoft.com/office/powerpoint/2010/main" val="13574124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0A0630-FDF4-BC24-E949-24C7DBB28A9F}"/>
            </a:ext>
          </a:extLst>
        </p:cNvPr>
        <p:cNvGrpSpPr/>
        <p:nvPr/>
      </p:nvGrpSpPr>
      <p:grpSpPr>
        <a:xfrm>
          <a:off x="0" y="0"/>
          <a:ext cx="0" cy="0"/>
          <a:chOff x="0" y="0"/>
          <a:chExt cx="0" cy="0"/>
        </a:xfrm>
      </p:grpSpPr>
      <p:sp>
        <p:nvSpPr>
          <p:cNvPr id="4" name="Freeform 3">
            <a:extLst>
              <a:ext uri="{FF2B5EF4-FFF2-40B4-BE49-F238E27FC236}">
                <a16:creationId xmlns:a16="http://schemas.microsoft.com/office/drawing/2014/main" id="{9457C68E-62DC-DCA6-7893-30FF5530850E}"/>
              </a:ext>
            </a:extLst>
          </p:cNvPr>
          <p:cNvSpPr/>
          <p:nvPr/>
        </p:nvSpPr>
        <p:spPr>
          <a:xfrm>
            <a:off x="429248" y="929418"/>
            <a:ext cx="10133623" cy="5699440"/>
          </a:xfrm>
          <a:custGeom>
            <a:avLst/>
            <a:gdLst>
              <a:gd name="connsiteX0" fmla="*/ 0 w 10692384"/>
              <a:gd name="connsiteY0" fmla="*/ 0 h 6013703"/>
              <a:gd name="connsiteX1" fmla="*/ 10692384 w 10692384"/>
              <a:gd name="connsiteY1" fmla="*/ 0 h 6013703"/>
              <a:gd name="connsiteX2" fmla="*/ 10692384 w 10692384"/>
              <a:gd name="connsiteY2" fmla="*/ 6013703 h 6013703"/>
              <a:gd name="connsiteX3" fmla="*/ 0 w 10692384"/>
              <a:gd name="connsiteY3" fmla="*/ 6013703 h 6013703"/>
              <a:gd name="connsiteX4" fmla="*/ 0 w 10692384"/>
              <a:gd name="connsiteY4" fmla="*/ 0 h 6013703"/>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92384" h="6013703">
                <a:moveTo>
                  <a:pt x="0" y="0"/>
                </a:moveTo>
                <a:lnTo>
                  <a:pt x="10692384" y="0"/>
                </a:lnTo>
                <a:lnTo>
                  <a:pt x="10692384" y="6013703"/>
                </a:lnTo>
                <a:lnTo>
                  <a:pt x="0" y="6013703"/>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92"/>
              <a:t>Project 1: Building and Operating a Mini Security Operations Center (SOC) </a:t>
            </a:r>
            <a:endParaRPr lang="zh-CN" altLang="en-US" sz="1707"/>
          </a:p>
        </p:txBody>
      </p:sp>
      <p:pic>
        <p:nvPicPr>
          <p:cNvPr id="1027" name="Picture 3">
            <a:extLst>
              <a:ext uri="{FF2B5EF4-FFF2-40B4-BE49-F238E27FC236}">
                <a16:creationId xmlns:a16="http://schemas.microsoft.com/office/drawing/2014/main" id="{9D0FEF9D-3E87-9B35-24E9-F773AFE51F67}"/>
              </a:ext>
            </a:extLst>
          </p:cNvPr>
          <p:cNvPicPr>
            <a:picLocks noChangeAspect="1" noChangeArrowheads="1"/>
          </p:cNvPicPr>
          <p:nvPr/>
        </p:nvPicPr>
        <p:blipFill>
          <a:blip r:embed="rId2"/>
          <a:srcRect t="-9550" b="9550"/>
          <a:stretch>
            <a:fillRect/>
          </a:stretch>
        </p:blipFill>
        <p:spPr bwMode="auto">
          <a:xfrm>
            <a:off x="25815" y="176472"/>
            <a:ext cx="10640183" cy="5717255"/>
          </a:xfrm>
          <a:prstGeom prst="rect">
            <a:avLst/>
          </a:prstGeom>
          <a:noFill/>
        </p:spPr>
      </p:pic>
      <p:sp>
        <p:nvSpPr>
          <p:cNvPr id="6" name="TextBox 5">
            <a:extLst>
              <a:ext uri="{FF2B5EF4-FFF2-40B4-BE49-F238E27FC236}">
                <a16:creationId xmlns:a16="http://schemas.microsoft.com/office/drawing/2014/main" id="{4C058EF4-DFCD-896B-B34C-799935FA9C06}"/>
              </a:ext>
            </a:extLst>
          </p:cNvPr>
          <p:cNvSpPr txBox="1"/>
          <p:nvPr/>
        </p:nvSpPr>
        <p:spPr>
          <a:xfrm>
            <a:off x="3638018" y="929418"/>
            <a:ext cx="3415777" cy="643210"/>
          </a:xfrm>
          <a:prstGeom prst="rect">
            <a:avLst/>
          </a:prstGeom>
          <a:noFill/>
        </p:spPr>
        <p:txBody>
          <a:bodyPr wrap="none" rtlCol="0">
            <a:spAutoFit/>
          </a:bodyPr>
          <a:lstStyle/>
          <a:p>
            <a:pPr algn="ctr"/>
            <a:r>
              <a:rPr lang="en-US" sz="3583" b="1" dirty="0"/>
              <a:t>LAB TOPOLOGY</a:t>
            </a:r>
          </a:p>
        </p:txBody>
      </p:sp>
      <p:pic>
        <p:nvPicPr>
          <p:cNvPr id="8" name="Picture 7">
            <a:extLst>
              <a:ext uri="{FF2B5EF4-FFF2-40B4-BE49-F238E27FC236}">
                <a16:creationId xmlns:a16="http://schemas.microsoft.com/office/drawing/2014/main" id="{C1C4E6A6-037A-1845-47A7-05BAE36FA9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24484" y="1572627"/>
            <a:ext cx="8543148" cy="5695432"/>
          </a:xfrm>
          <a:prstGeom prst="rect">
            <a:avLst/>
          </a:prstGeom>
        </p:spPr>
      </p:pic>
    </p:spTree>
    <p:extLst>
      <p:ext uri="{BB962C8B-B14F-4D97-AF65-F5344CB8AC3E}">
        <p14:creationId xmlns:p14="http://schemas.microsoft.com/office/powerpoint/2010/main" val="32503283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FC3D1-34F0-8490-E474-D29EA6CCFBAC}"/>
            </a:ext>
          </a:extLst>
        </p:cNvPr>
        <p:cNvGrpSpPr/>
        <p:nvPr/>
      </p:nvGrpSpPr>
      <p:grpSpPr>
        <a:xfrm>
          <a:off x="0" y="0"/>
          <a:ext cx="0" cy="0"/>
          <a:chOff x="0" y="0"/>
          <a:chExt cx="0" cy="0"/>
        </a:xfrm>
      </p:grpSpPr>
      <p:pic>
        <p:nvPicPr>
          <p:cNvPr id="1027" name="Picture 3">
            <a:extLst>
              <a:ext uri="{FF2B5EF4-FFF2-40B4-BE49-F238E27FC236}">
                <a16:creationId xmlns:a16="http://schemas.microsoft.com/office/drawing/2014/main" id="{643D5AD7-F3F3-F513-9D23-400A8B670188}"/>
              </a:ext>
            </a:extLst>
          </p:cNvPr>
          <p:cNvPicPr>
            <a:picLocks noChangeAspect="1" noChangeArrowheads="1"/>
          </p:cNvPicPr>
          <p:nvPr/>
        </p:nvPicPr>
        <p:blipFill>
          <a:blip r:embed="rId2"/>
          <a:srcRect t="-9550" b="9550"/>
          <a:stretch>
            <a:fillRect/>
          </a:stretch>
        </p:blipFill>
        <p:spPr bwMode="auto">
          <a:xfrm>
            <a:off x="0" y="0"/>
            <a:ext cx="10691814" cy="5932170"/>
          </a:xfrm>
          <a:prstGeom prst="rect">
            <a:avLst/>
          </a:prstGeom>
          <a:noFill/>
        </p:spPr>
      </p:pic>
      <p:sp>
        <p:nvSpPr>
          <p:cNvPr id="3" name="TextBox 2">
            <a:extLst>
              <a:ext uri="{FF2B5EF4-FFF2-40B4-BE49-F238E27FC236}">
                <a16:creationId xmlns:a16="http://schemas.microsoft.com/office/drawing/2014/main" id="{81A2F2DD-A6DC-0C72-4792-38910B38D475}"/>
              </a:ext>
            </a:extLst>
          </p:cNvPr>
          <p:cNvSpPr txBox="1"/>
          <p:nvPr/>
        </p:nvSpPr>
        <p:spPr>
          <a:xfrm>
            <a:off x="1936378" y="1821634"/>
            <a:ext cx="8390964" cy="707886"/>
          </a:xfrm>
          <a:prstGeom prst="rect">
            <a:avLst/>
          </a:prstGeom>
          <a:noFill/>
        </p:spPr>
        <p:txBody>
          <a:bodyPr wrap="square">
            <a:spAutoFit/>
          </a:bodyPr>
          <a:lstStyle/>
          <a:p>
            <a:r>
              <a:rPr lang="en-US" sz="4000" b="1" dirty="0"/>
              <a:t>SOC Setup &amp; Log Ingestion </a:t>
            </a:r>
          </a:p>
        </p:txBody>
      </p:sp>
      <p:sp>
        <p:nvSpPr>
          <p:cNvPr id="6" name="TextBox 5">
            <a:extLst>
              <a:ext uri="{FF2B5EF4-FFF2-40B4-BE49-F238E27FC236}">
                <a16:creationId xmlns:a16="http://schemas.microsoft.com/office/drawing/2014/main" id="{3CA9D6EA-B506-7DFE-7E40-6400A4C09450}"/>
              </a:ext>
            </a:extLst>
          </p:cNvPr>
          <p:cNvSpPr txBox="1"/>
          <p:nvPr/>
        </p:nvSpPr>
        <p:spPr>
          <a:xfrm>
            <a:off x="295834" y="2904419"/>
            <a:ext cx="5346550" cy="523220"/>
          </a:xfrm>
          <a:prstGeom prst="rect">
            <a:avLst/>
          </a:prstGeom>
          <a:noFill/>
        </p:spPr>
        <p:txBody>
          <a:bodyPr wrap="square">
            <a:spAutoFit/>
          </a:bodyPr>
          <a:lstStyle/>
          <a:p>
            <a:r>
              <a:rPr lang="en-US" sz="2800" b="1" dirty="0"/>
              <a:t>1-Technical Stack used </a:t>
            </a:r>
          </a:p>
        </p:txBody>
      </p:sp>
      <p:sp>
        <p:nvSpPr>
          <p:cNvPr id="8" name="TextBox 7">
            <a:extLst>
              <a:ext uri="{FF2B5EF4-FFF2-40B4-BE49-F238E27FC236}">
                <a16:creationId xmlns:a16="http://schemas.microsoft.com/office/drawing/2014/main" id="{B1E5A2F9-4DAB-10F5-1247-1950AA2CBDAB}"/>
              </a:ext>
            </a:extLst>
          </p:cNvPr>
          <p:cNvSpPr txBox="1"/>
          <p:nvPr/>
        </p:nvSpPr>
        <p:spPr>
          <a:xfrm>
            <a:off x="1145689" y="3802538"/>
            <a:ext cx="5346550" cy="369332"/>
          </a:xfrm>
          <a:prstGeom prst="rect">
            <a:avLst/>
          </a:prstGeom>
          <a:noFill/>
        </p:spPr>
        <p:txBody>
          <a:bodyPr wrap="square">
            <a:spAutoFit/>
          </a:bodyPr>
          <a:lstStyle/>
          <a:p>
            <a:pPr marL="285750" indent="-285750">
              <a:buFont typeface="Arial" panose="020B0604020202020204" pitchFamily="34" charset="0"/>
              <a:buChar char="•"/>
            </a:pPr>
            <a:r>
              <a:rPr lang="en-US" b="1" dirty="0"/>
              <a:t>Operating System:</a:t>
            </a:r>
            <a:r>
              <a:rPr lang="en-US" dirty="0"/>
              <a:t> Ubuntu 22.04 LTS</a:t>
            </a:r>
          </a:p>
        </p:txBody>
      </p:sp>
      <p:sp>
        <p:nvSpPr>
          <p:cNvPr id="10" name="TextBox 9">
            <a:extLst>
              <a:ext uri="{FF2B5EF4-FFF2-40B4-BE49-F238E27FC236}">
                <a16:creationId xmlns:a16="http://schemas.microsoft.com/office/drawing/2014/main" id="{8775413F-C46A-4D62-64DA-06EEF7E581E9}"/>
              </a:ext>
            </a:extLst>
          </p:cNvPr>
          <p:cNvSpPr txBox="1"/>
          <p:nvPr/>
        </p:nvSpPr>
        <p:spPr>
          <a:xfrm>
            <a:off x="1145689" y="4498522"/>
            <a:ext cx="5346550" cy="369332"/>
          </a:xfrm>
          <a:prstGeom prst="rect">
            <a:avLst/>
          </a:prstGeom>
          <a:noFill/>
        </p:spPr>
        <p:txBody>
          <a:bodyPr wrap="square">
            <a:spAutoFit/>
          </a:bodyPr>
          <a:lstStyle/>
          <a:p>
            <a:pPr marL="285750" indent="-285750">
              <a:buFont typeface="Arial" panose="020B0604020202020204" pitchFamily="34" charset="0"/>
              <a:buChar char="•"/>
            </a:pPr>
            <a:r>
              <a:rPr lang="en-US" b="1" dirty="0"/>
              <a:t>SIEM Engine:</a:t>
            </a:r>
            <a:r>
              <a:rPr lang="en-US" dirty="0"/>
              <a:t> Elasticsearch 8.x</a:t>
            </a:r>
          </a:p>
        </p:txBody>
      </p:sp>
      <p:sp>
        <p:nvSpPr>
          <p:cNvPr id="12" name="TextBox 11">
            <a:extLst>
              <a:ext uri="{FF2B5EF4-FFF2-40B4-BE49-F238E27FC236}">
                <a16:creationId xmlns:a16="http://schemas.microsoft.com/office/drawing/2014/main" id="{EB484E1D-2A30-FCA0-A7EC-2B4537A54337}"/>
              </a:ext>
            </a:extLst>
          </p:cNvPr>
          <p:cNvSpPr txBox="1"/>
          <p:nvPr/>
        </p:nvSpPr>
        <p:spPr>
          <a:xfrm>
            <a:off x="1145689" y="5185478"/>
            <a:ext cx="5346550" cy="369332"/>
          </a:xfrm>
          <a:prstGeom prst="rect">
            <a:avLst/>
          </a:prstGeom>
          <a:noFill/>
        </p:spPr>
        <p:txBody>
          <a:bodyPr wrap="square">
            <a:spAutoFit/>
          </a:bodyPr>
          <a:lstStyle/>
          <a:p>
            <a:pPr marL="285750" indent="-285750">
              <a:buFont typeface="Arial" panose="020B0604020202020204" pitchFamily="34" charset="0"/>
              <a:buChar char="•"/>
            </a:pPr>
            <a:r>
              <a:rPr lang="en-US" b="1" dirty="0"/>
              <a:t>Visualization:</a:t>
            </a:r>
            <a:r>
              <a:rPr lang="en-US" dirty="0"/>
              <a:t> Kibana</a:t>
            </a:r>
          </a:p>
        </p:txBody>
      </p:sp>
      <p:sp>
        <p:nvSpPr>
          <p:cNvPr id="14" name="TextBox 13">
            <a:extLst>
              <a:ext uri="{FF2B5EF4-FFF2-40B4-BE49-F238E27FC236}">
                <a16:creationId xmlns:a16="http://schemas.microsoft.com/office/drawing/2014/main" id="{E39C3C1F-DD87-1C61-B6AE-98AF66EE7E6E}"/>
              </a:ext>
            </a:extLst>
          </p:cNvPr>
          <p:cNvSpPr txBox="1"/>
          <p:nvPr/>
        </p:nvSpPr>
        <p:spPr>
          <a:xfrm>
            <a:off x="1145689" y="5906402"/>
            <a:ext cx="5346550" cy="369332"/>
          </a:xfrm>
          <a:prstGeom prst="rect">
            <a:avLst/>
          </a:prstGeom>
          <a:noFill/>
        </p:spPr>
        <p:txBody>
          <a:bodyPr wrap="square">
            <a:spAutoFit/>
          </a:bodyPr>
          <a:lstStyle/>
          <a:p>
            <a:pPr marL="285750" indent="-285750">
              <a:buFont typeface="Arial" panose="020B0604020202020204" pitchFamily="34" charset="0"/>
              <a:buChar char="•"/>
            </a:pPr>
            <a:r>
              <a:rPr lang="en-US" b="1" dirty="0"/>
              <a:t>Log Collector:</a:t>
            </a:r>
            <a:r>
              <a:rPr lang="en-US" dirty="0"/>
              <a:t> Elastic Agent</a:t>
            </a:r>
          </a:p>
        </p:txBody>
      </p:sp>
      <p:sp>
        <p:nvSpPr>
          <p:cNvPr id="2" name="TextBox 1">
            <a:extLst>
              <a:ext uri="{FF2B5EF4-FFF2-40B4-BE49-F238E27FC236}">
                <a16:creationId xmlns:a16="http://schemas.microsoft.com/office/drawing/2014/main" id="{54B0528C-5D4D-F7C5-BF75-3911D8D847FE}"/>
              </a:ext>
            </a:extLst>
          </p:cNvPr>
          <p:cNvSpPr txBox="1"/>
          <p:nvPr/>
        </p:nvSpPr>
        <p:spPr>
          <a:xfrm>
            <a:off x="4409656" y="950422"/>
            <a:ext cx="1872500" cy="707886"/>
          </a:xfrm>
          <a:prstGeom prst="rect">
            <a:avLst/>
          </a:prstGeom>
          <a:noFill/>
        </p:spPr>
        <p:txBody>
          <a:bodyPr wrap="none" rtlCol="0">
            <a:spAutoFit/>
          </a:bodyPr>
          <a:lstStyle/>
          <a:p>
            <a:r>
              <a:rPr lang="en-US" sz="4000" b="1" dirty="0"/>
              <a:t>Week 1</a:t>
            </a:r>
          </a:p>
        </p:txBody>
      </p:sp>
    </p:spTree>
    <p:extLst>
      <p:ext uri="{BB962C8B-B14F-4D97-AF65-F5344CB8AC3E}">
        <p14:creationId xmlns:p14="http://schemas.microsoft.com/office/powerpoint/2010/main" val="34585782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DE651E-727F-3EBE-ACA6-4FFA31520955}"/>
            </a:ext>
          </a:extLst>
        </p:cNvPr>
        <p:cNvGrpSpPr/>
        <p:nvPr/>
      </p:nvGrpSpPr>
      <p:grpSpPr>
        <a:xfrm>
          <a:off x="0" y="0"/>
          <a:ext cx="0" cy="0"/>
          <a:chOff x="0" y="0"/>
          <a:chExt cx="0" cy="0"/>
        </a:xfrm>
      </p:grpSpPr>
      <p:pic>
        <p:nvPicPr>
          <p:cNvPr id="1027" name="Picture 3">
            <a:extLst>
              <a:ext uri="{FF2B5EF4-FFF2-40B4-BE49-F238E27FC236}">
                <a16:creationId xmlns:a16="http://schemas.microsoft.com/office/drawing/2014/main" id="{DCF642F2-7582-61C8-8722-F63107C4CB36}"/>
              </a:ext>
            </a:extLst>
          </p:cNvPr>
          <p:cNvPicPr>
            <a:picLocks noChangeAspect="1" noChangeArrowheads="1"/>
          </p:cNvPicPr>
          <p:nvPr/>
        </p:nvPicPr>
        <p:blipFill>
          <a:blip r:embed="rId2"/>
          <a:srcRect t="-9550" b="9550"/>
          <a:stretch>
            <a:fillRect/>
          </a:stretch>
        </p:blipFill>
        <p:spPr bwMode="auto">
          <a:xfrm>
            <a:off x="-1" y="-101552"/>
            <a:ext cx="10691814" cy="5932170"/>
          </a:xfrm>
          <a:prstGeom prst="rect">
            <a:avLst/>
          </a:prstGeom>
          <a:noFill/>
        </p:spPr>
      </p:pic>
      <p:sp>
        <p:nvSpPr>
          <p:cNvPr id="4" name="TextBox 3">
            <a:extLst>
              <a:ext uri="{FF2B5EF4-FFF2-40B4-BE49-F238E27FC236}">
                <a16:creationId xmlns:a16="http://schemas.microsoft.com/office/drawing/2014/main" id="{5BAC3834-D37D-1C3C-DF79-0CD84E2CA9C4}"/>
              </a:ext>
            </a:extLst>
          </p:cNvPr>
          <p:cNvSpPr txBox="1"/>
          <p:nvPr/>
        </p:nvSpPr>
        <p:spPr>
          <a:xfrm>
            <a:off x="151417" y="1359263"/>
            <a:ext cx="5346550" cy="584775"/>
          </a:xfrm>
          <a:prstGeom prst="rect">
            <a:avLst/>
          </a:prstGeom>
          <a:noFill/>
        </p:spPr>
        <p:txBody>
          <a:bodyPr wrap="square">
            <a:spAutoFit/>
          </a:bodyPr>
          <a:lstStyle/>
          <a:p>
            <a:r>
              <a:rPr lang="en-US" sz="3200" b="1" dirty="0"/>
              <a:t>2-Implementation Phase</a:t>
            </a:r>
          </a:p>
        </p:txBody>
      </p:sp>
      <p:sp>
        <p:nvSpPr>
          <p:cNvPr id="7" name="TextBox 6">
            <a:extLst>
              <a:ext uri="{FF2B5EF4-FFF2-40B4-BE49-F238E27FC236}">
                <a16:creationId xmlns:a16="http://schemas.microsoft.com/office/drawing/2014/main" id="{848662D5-84B6-C988-6519-D9F9462A9B7B}"/>
              </a:ext>
            </a:extLst>
          </p:cNvPr>
          <p:cNvSpPr txBox="1"/>
          <p:nvPr/>
        </p:nvSpPr>
        <p:spPr>
          <a:xfrm>
            <a:off x="645780" y="1944038"/>
            <a:ext cx="5346550" cy="400110"/>
          </a:xfrm>
          <a:prstGeom prst="rect">
            <a:avLst/>
          </a:prstGeom>
          <a:noFill/>
        </p:spPr>
        <p:txBody>
          <a:bodyPr wrap="square">
            <a:spAutoFit/>
          </a:bodyPr>
          <a:lstStyle/>
          <a:p>
            <a:r>
              <a:rPr lang="en-US" sz="2000" b="1" dirty="0"/>
              <a:t>Step 1: Deploying the Elastic Stack</a:t>
            </a:r>
          </a:p>
        </p:txBody>
      </p:sp>
      <p:sp>
        <p:nvSpPr>
          <p:cNvPr id="11" name="TextBox 10">
            <a:extLst>
              <a:ext uri="{FF2B5EF4-FFF2-40B4-BE49-F238E27FC236}">
                <a16:creationId xmlns:a16="http://schemas.microsoft.com/office/drawing/2014/main" id="{E6420976-E1BE-693C-4D64-231882FC36B7}"/>
              </a:ext>
            </a:extLst>
          </p:cNvPr>
          <p:cNvSpPr txBox="1"/>
          <p:nvPr/>
        </p:nvSpPr>
        <p:spPr>
          <a:xfrm>
            <a:off x="645780" y="2344148"/>
            <a:ext cx="4022716" cy="923330"/>
          </a:xfrm>
          <a:prstGeom prst="rect">
            <a:avLst/>
          </a:prstGeom>
          <a:noFill/>
        </p:spPr>
        <p:txBody>
          <a:bodyPr wrap="square">
            <a:spAutoFit/>
          </a:bodyPr>
          <a:lstStyle/>
          <a:p>
            <a:pPr algn="ctr"/>
            <a:r>
              <a:rPr lang="en-US" dirty="0"/>
              <a:t>The ELK environment was set up and the security protocols (Role-based access control) were activated.</a:t>
            </a:r>
          </a:p>
        </p:txBody>
      </p:sp>
      <p:pic>
        <p:nvPicPr>
          <p:cNvPr id="16" name="Picture 15">
            <a:extLst>
              <a:ext uri="{FF2B5EF4-FFF2-40B4-BE49-F238E27FC236}">
                <a16:creationId xmlns:a16="http://schemas.microsoft.com/office/drawing/2014/main" id="{26D8FBA8-3D27-EA8F-E4FE-8A1C3E00AB4E}"/>
              </a:ext>
            </a:extLst>
          </p:cNvPr>
          <p:cNvPicPr>
            <a:picLocks noChangeAspect="1"/>
          </p:cNvPicPr>
          <p:nvPr/>
        </p:nvPicPr>
        <p:blipFill>
          <a:blip r:embed="rId3">
            <a:extLst>
              <a:ext uri="{28A0092B-C50C-407E-A947-70E740481C1C}">
                <a14:useLocalDpi xmlns:a14="http://schemas.microsoft.com/office/drawing/2010/main" val="0"/>
              </a:ext>
            </a:extLst>
          </a:blip>
          <a:srcRect l="4854" t="11142" r="1133" b="7046"/>
          <a:stretch>
            <a:fillRect/>
          </a:stretch>
        </p:blipFill>
        <p:spPr>
          <a:xfrm>
            <a:off x="5497967" y="1215367"/>
            <a:ext cx="4672060" cy="2695905"/>
          </a:xfrm>
          <a:prstGeom prst="rect">
            <a:avLst/>
          </a:prstGeom>
          <a:ln>
            <a:noFill/>
          </a:ln>
          <a:effectLst>
            <a:outerShdw blurRad="190500" algn="tl" rotWithShape="0">
              <a:srgbClr val="000000">
                <a:alpha val="70000"/>
              </a:srgbClr>
            </a:outerShdw>
          </a:effectLst>
        </p:spPr>
      </p:pic>
      <p:pic>
        <p:nvPicPr>
          <p:cNvPr id="20" name="Picture 19">
            <a:extLst>
              <a:ext uri="{FF2B5EF4-FFF2-40B4-BE49-F238E27FC236}">
                <a16:creationId xmlns:a16="http://schemas.microsoft.com/office/drawing/2014/main" id="{C52E50ED-F1AD-B42B-DEC0-903879716982}"/>
              </a:ext>
            </a:extLst>
          </p:cNvPr>
          <p:cNvPicPr>
            <a:picLocks noChangeAspect="1"/>
          </p:cNvPicPr>
          <p:nvPr/>
        </p:nvPicPr>
        <p:blipFill>
          <a:blip r:embed="rId4">
            <a:extLst>
              <a:ext uri="{28A0092B-C50C-407E-A947-70E740481C1C}">
                <a14:useLocalDpi xmlns:a14="http://schemas.microsoft.com/office/drawing/2010/main" val="0"/>
              </a:ext>
            </a:extLst>
          </a:blip>
          <a:srcRect l="13490" t="19038" r="8279" b="7007"/>
          <a:stretch>
            <a:fillRect/>
          </a:stretch>
        </p:blipFill>
        <p:spPr>
          <a:xfrm>
            <a:off x="645780" y="4238734"/>
            <a:ext cx="7758073" cy="3167679"/>
          </a:xfrm>
          <a:prstGeom prst="rect">
            <a:avLst/>
          </a:prstGeom>
          <a:ln>
            <a:noFill/>
          </a:ln>
          <a:effectLst>
            <a:outerShdw blurRad="190500" algn="tl" rotWithShape="0">
              <a:srgbClr val="000000">
                <a:alpha val="70000"/>
              </a:srgbClr>
            </a:outerShdw>
          </a:effectLst>
        </p:spPr>
      </p:pic>
      <p:sp>
        <p:nvSpPr>
          <p:cNvPr id="21" name="TextBox 20">
            <a:extLst>
              <a:ext uri="{FF2B5EF4-FFF2-40B4-BE49-F238E27FC236}">
                <a16:creationId xmlns:a16="http://schemas.microsoft.com/office/drawing/2014/main" id="{47C32B2C-3C86-3D7D-CA91-CBE56CB89531}"/>
              </a:ext>
            </a:extLst>
          </p:cNvPr>
          <p:cNvSpPr txBox="1"/>
          <p:nvPr/>
        </p:nvSpPr>
        <p:spPr>
          <a:xfrm>
            <a:off x="151417" y="3490228"/>
            <a:ext cx="3425810" cy="584775"/>
          </a:xfrm>
          <a:prstGeom prst="rect">
            <a:avLst/>
          </a:prstGeom>
          <a:noFill/>
        </p:spPr>
        <p:txBody>
          <a:bodyPr wrap="none" rtlCol="0">
            <a:spAutoFit/>
          </a:bodyPr>
          <a:lstStyle/>
          <a:p>
            <a:r>
              <a:rPr lang="en-US" sz="1600" dirty="0">
                <a:solidFill>
                  <a:srgbClr val="FF0000"/>
                </a:solidFill>
              </a:rPr>
              <a:t>Username</a:t>
            </a:r>
            <a:r>
              <a:rPr lang="en-US" sz="1600" dirty="0"/>
              <a:t> : elastic </a:t>
            </a:r>
          </a:p>
          <a:p>
            <a:r>
              <a:rPr lang="en-US" sz="1600" dirty="0">
                <a:solidFill>
                  <a:srgbClr val="FF0000"/>
                </a:solidFill>
              </a:rPr>
              <a:t>Password</a:t>
            </a:r>
            <a:r>
              <a:rPr lang="en-US" sz="1600" dirty="0"/>
              <a:t> : lEI2kcHY27G*wB9=mA1T</a:t>
            </a:r>
          </a:p>
        </p:txBody>
      </p:sp>
    </p:spTree>
    <p:extLst>
      <p:ext uri="{BB962C8B-B14F-4D97-AF65-F5344CB8AC3E}">
        <p14:creationId xmlns:p14="http://schemas.microsoft.com/office/powerpoint/2010/main" val="18523459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D58B18-9C6F-7F11-516F-F59E76A8327E}"/>
            </a:ext>
          </a:extLst>
        </p:cNvPr>
        <p:cNvGrpSpPr/>
        <p:nvPr/>
      </p:nvGrpSpPr>
      <p:grpSpPr>
        <a:xfrm>
          <a:off x="0" y="0"/>
          <a:ext cx="0" cy="0"/>
          <a:chOff x="0" y="0"/>
          <a:chExt cx="0" cy="0"/>
        </a:xfrm>
      </p:grpSpPr>
      <p:pic>
        <p:nvPicPr>
          <p:cNvPr id="1027" name="Picture 3">
            <a:extLst>
              <a:ext uri="{FF2B5EF4-FFF2-40B4-BE49-F238E27FC236}">
                <a16:creationId xmlns:a16="http://schemas.microsoft.com/office/drawing/2014/main" id="{B8160FB9-3DAF-E6B8-78DE-D4BDA6F9A9A0}"/>
              </a:ext>
            </a:extLst>
          </p:cNvPr>
          <p:cNvPicPr>
            <a:picLocks noChangeAspect="1" noChangeArrowheads="1"/>
          </p:cNvPicPr>
          <p:nvPr/>
        </p:nvPicPr>
        <p:blipFill>
          <a:blip r:embed="rId2"/>
          <a:srcRect t="-9550" b="9550"/>
          <a:stretch>
            <a:fillRect/>
          </a:stretch>
        </p:blipFill>
        <p:spPr bwMode="auto">
          <a:xfrm>
            <a:off x="0" y="263058"/>
            <a:ext cx="10691814" cy="5932170"/>
          </a:xfrm>
          <a:prstGeom prst="rect">
            <a:avLst/>
          </a:prstGeom>
          <a:noFill/>
        </p:spPr>
      </p:pic>
      <p:sp>
        <p:nvSpPr>
          <p:cNvPr id="4" name="TextBox 3">
            <a:extLst>
              <a:ext uri="{FF2B5EF4-FFF2-40B4-BE49-F238E27FC236}">
                <a16:creationId xmlns:a16="http://schemas.microsoft.com/office/drawing/2014/main" id="{B7E1316D-AC84-CDDF-1CDC-B0FB299FFD6A}"/>
              </a:ext>
            </a:extLst>
          </p:cNvPr>
          <p:cNvSpPr txBox="1"/>
          <p:nvPr/>
        </p:nvSpPr>
        <p:spPr>
          <a:xfrm>
            <a:off x="209774" y="1929211"/>
            <a:ext cx="6320118" cy="400110"/>
          </a:xfrm>
          <a:prstGeom prst="rect">
            <a:avLst/>
          </a:prstGeom>
          <a:noFill/>
        </p:spPr>
        <p:txBody>
          <a:bodyPr wrap="square">
            <a:spAutoFit/>
          </a:bodyPr>
          <a:lstStyle/>
          <a:p>
            <a:r>
              <a:rPr lang="en-US" sz="2000" b="1" dirty="0"/>
              <a:t>Step 2: Elastic Agent Configuration (The Challenge)</a:t>
            </a:r>
          </a:p>
        </p:txBody>
      </p:sp>
      <p:sp>
        <p:nvSpPr>
          <p:cNvPr id="7" name="TextBox 6">
            <a:extLst>
              <a:ext uri="{FF2B5EF4-FFF2-40B4-BE49-F238E27FC236}">
                <a16:creationId xmlns:a16="http://schemas.microsoft.com/office/drawing/2014/main" id="{9A449623-59A6-CD53-5947-2E8A9997C2DA}"/>
              </a:ext>
            </a:extLst>
          </p:cNvPr>
          <p:cNvSpPr txBox="1"/>
          <p:nvPr/>
        </p:nvSpPr>
        <p:spPr>
          <a:xfrm>
            <a:off x="828134" y="2518950"/>
            <a:ext cx="5432610" cy="369332"/>
          </a:xfrm>
          <a:prstGeom prst="rect">
            <a:avLst/>
          </a:prstGeom>
          <a:noFill/>
        </p:spPr>
        <p:txBody>
          <a:bodyPr wrap="square">
            <a:spAutoFit/>
          </a:bodyPr>
          <a:lstStyle/>
          <a:p>
            <a:pPr marL="285750" indent="-285750">
              <a:buFont typeface="Arial" panose="020B0604020202020204" pitchFamily="34" charset="0"/>
              <a:buChar char="•"/>
            </a:pPr>
            <a:r>
              <a:rPr lang="en-US" dirty="0"/>
              <a:t>The </a:t>
            </a:r>
            <a:r>
              <a:rPr lang="en-US" b="1" dirty="0"/>
              <a:t>Elastic Agent </a:t>
            </a:r>
            <a:r>
              <a:rPr lang="en-US" dirty="0"/>
              <a:t>has been installed.</a:t>
            </a:r>
          </a:p>
        </p:txBody>
      </p:sp>
      <p:sp>
        <p:nvSpPr>
          <p:cNvPr id="11" name="TextBox 10">
            <a:extLst>
              <a:ext uri="{FF2B5EF4-FFF2-40B4-BE49-F238E27FC236}">
                <a16:creationId xmlns:a16="http://schemas.microsoft.com/office/drawing/2014/main" id="{3FB8076D-FD9D-D55F-72C6-EF6EBEC1DFFE}"/>
              </a:ext>
            </a:extLst>
          </p:cNvPr>
          <p:cNvSpPr txBox="1"/>
          <p:nvPr/>
        </p:nvSpPr>
        <p:spPr>
          <a:xfrm>
            <a:off x="828134" y="4401052"/>
            <a:ext cx="5701758" cy="646331"/>
          </a:xfrm>
          <a:prstGeom prst="rect">
            <a:avLst/>
          </a:prstGeom>
          <a:noFill/>
        </p:spPr>
        <p:txBody>
          <a:bodyPr wrap="square">
            <a:spAutoFit/>
          </a:bodyPr>
          <a:lstStyle/>
          <a:p>
            <a:pPr marL="285750" indent="-285750">
              <a:buFont typeface="Arial" panose="020B0604020202020204" pitchFamily="34" charset="0"/>
              <a:buChar char="•"/>
            </a:pPr>
            <a:r>
              <a:rPr lang="en-US" dirty="0"/>
              <a:t>Modify the elastic-</a:t>
            </a:r>
            <a:r>
              <a:rPr lang="en-US" dirty="0" err="1"/>
              <a:t>agent.yml</a:t>
            </a:r>
            <a:r>
              <a:rPr lang="en-US" dirty="0"/>
              <a:t> settings file (configuration) to link it to Elasticsearch.</a:t>
            </a:r>
          </a:p>
        </p:txBody>
      </p:sp>
      <p:sp>
        <p:nvSpPr>
          <p:cNvPr id="15" name="TextBox 14">
            <a:extLst>
              <a:ext uri="{FF2B5EF4-FFF2-40B4-BE49-F238E27FC236}">
                <a16:creationId xmlns:a16="http://schemas.microsoft.com/office/drawing/2014/main" id="{3E569BE8-3D33-D9DF-5D10-00786A15383C}"/>
              </a:ext>
            </a:extLst>
          </p:cNvPr>
          <p:cNvSpPr txBox="1"/>
          <p:nvPr/>
        </p:nvSpPr>
        <p:spPr>
          <a:xfrm>
            <a:off x="1549570" y="3399927"/>
            <a:ext cx="6276413" cy="923330"/>
          </a:xfrm>
          <a:prstGeom prst="rect">
            <a:avLst/>
          </a:prstGeom>
          <a:noFill/>
        </p:spPr>
        <p:txBody>
          <a:bodyPr wrap="square">
            <a:spAutoFit/>
          </a:bodyPr>
          <a:lstStyle/>
          <a:p>
            <a:pPr algn="ctr"/>
            <a:r>
              <a:rPr lang="en-US" dirty="0"/>
              <a:t>SSL Handshake (Error x509)</a:t>
            </a:r>
          </a:p>
          <a:p>
            <a:pPr algn="ctr"/>
            <a:r>
              <a:rPr lang="en-US" dirty="0"/>
              <a:t>The problem was resolved by</a:t>
            </a:r>
            <a:r>
              <a:rPr lang="ar-EG" dirty="0"/>
              <a:t> </a:t>
            </a:r>
            <a:r>
              <a:rPr lang="en-US" dirty="0"/>
              <a:t>modifying the output configuration of the Elastic Agent </a:t>
            </a:r>
            <a:r>
              <a:rPr lang="ar-EG" dirty="0"/>
              <a:t> </a:t>
            </a:r>
            <a:r>
              <a:rPr lang="en-US" dirty="0"/>
              <a:t>.</a:t>
            </a:r>
          </a:p>
        </p:txBody>
      </p:sp>
      <p:pic>
        <p:nvPicPr>
          <p:cNvPr id="17" name="Picture 16">
            <a:extLst>
              <a:ext uri="{FF2B5EF4-FFF2-40B4-BE49-F238E27FC236}">
                <a16:creationId xmlns:a16="http://schemas.microsoft.com/office/drawing/2014/main" id="{8C44EF06-64D5-34CF-D639-E9E9064DA0B7}"/>
              </a:ext>
            </a:extLst>
          </p:cNvPr>
          <p:cNvPicPr>
            <a:picLocks noChangeAspect="1"/>
          </p:cNvPicPr>
          <p:nvPr/>
        </p:nvPicPr>
        <p:blipFill>
          <a:blip r:embed="rId3"/>
          <a:stretch>
            <a:fillRect/>
          </a:stretch>
        </p:blipFill>
        <p:spPr>
          <a:xfrm>
            <a:off x="6004607" y="4456157"/>
            <a:ext cx="4258269" cy="628854"/>
          </a:xfrm>
          <a:prstGeom prst="rect">
            <a:avLst/>
          </a:prstGeom>
        </p:spPr>
      </p:pic>
      <p:sp>
        <p:nvSpPr>
          <p:cNvPr id="20" name="TextBox 19">
            <a:extLst>
              <a:ext uri="{FF2B5EF4-FFF2-40B4-BE49-F238E27FC236}">
                <a16:creationId xmlns:a16="http://schemas.microsoft.com/office/drawing/2014/main" id="{5FE82557-8FA3-79EC-E548-5A4409137B61}"/>
              </a:ext>
            </a:extLst>
          </p:cNvPr>
          <p:cNvSpPr txBox="1"/>
          <p:nvPr/>
        </p:nvSpPr>
        <p:spPr>
          <a:xfrm>
            <a:off x="828134" y="3018748"/>
            <a:ext cx="6997849" cy="369332"/>
          </a:xfrm>
          <a:prstGeom prst="rect">
            <a:avLst/>
          </a:prstGeom>
          <a:noFill/>
        </p:spPr>
        <p:txBody>
          <a:bodyPr wrap="square">
            <a:spAutoFit/>
          </a:bodyPr>
          <a:lstStyle/>
          <a:p>
            <a:pPr marL="285750" indent="-285750">
              <a:buFont typeface="Arial" panose="020B0604020202020204" pitchFamily="34" charset="0"/>
              <a:buChar char="•"/>
            </a:pPr>
            <a:r>
              <a:rPr lang="en-US" dirty="0"/>
              <a:t>We found a problem</a:t>
            </a:r>
          </a:p>
        </p:txBody>
      </p:sp>
      <p:pic>
        <p:nvPicPr>
          <p:cNvPr id="22" name="Picture 21">
            <a:extLst>
              <a:ext uri="{FF2B5EF4-FFF2-40B4-BE49-F238E27FC236}">
                <a16:creationId xmlns:a16="http://schemas.microsoft.com/office/drawing/2014/main" id="{3C347EC6-5872-4B5C-17E2-9CFF2026C342}"/>
              </a:ext>
            </a:extLst>
          </p:cNvPr>
          <p:cNvPicPr>
            <a:picLocks noChangeAspect="1"/>
          </p:cNvPicPr>
          <p:nvPr/>
        </p:nvPicPr>
        <p:blipFill>
          <a:blip r:embed="rId4">
            <a:extLst>
              <a:ext uri="{28A0092B-C50C-407E-A947-70E740481C1C}">
                <a14:useLocalDpi xmlns:a14="http://schemas.microsoft.com/office/drawing/2010/main" val="0"/>
              </a:ext>
            </a:extLst>
          </a:blip>
          <a:srcRect l="1333" t="9220" b="43475"/>
          <a:stretch>
            <a:fillRect/>
          </a:stretch>
        </p:blipFill>
        <p:spPr>
          <a:xfrm>
            <a:off x="2001464" y="5084489"/>
            <a:ext cx="3355098" cy="2259106"/>
          </a:xfrm>
          <a:prstGeom prst="rect">
            <a:avLst/>
          </a:prstGeom>
        </p:spPr>
      </p:pic>
    </p:spTree>
    <p:extLst>
      <p:ext uri="{BB962C8B-B14F-4D97-AF65-F5344CB8AC3E}">
        <p14:creationId xmlns:p14="http://schemas.microsoft.com/office/powerpoint/2010/main" val="41513981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662C29-96DC-4BBB-DDDC-5014BD61530A}"/>
            </a:ext>
          </a:extLst>
        </p:cNvPr>
        <p:cNvGrpSpPr/>
        <p:nvPr/>
      </p:nvGrpSpPr>
      <p:grpSpPr>
        <a:xfrm>
          <a:off x="0" y="0"/>
          <a:ext cx="0" cy="0"/>
          <a:chOff x="0" y="0"/>
          <a:chExt cx="0" cy="0"/>
        </a:xfrm>
      </p:grpSpPr>
      <p:pic>
        <p:nvPicPr>
          <p:cNvPr id="1027" name="Picture 3">
            <a:extLst>
              <a:ext uri="{FF2B5EF4-FFF2-40B4-BE49-F238E27FC236}">
                <a16:creationId xmlns:a16="http://schemas.microsoft.com/office/drawing/2014/main" id="{1E017CCD-9787-CEF0-598B-2B15916D92C5}"/>
              </a:ext>
            </a:extLst>
          </p:cNvPr>
          <p:cNvPicPr>
            <a:picLocks noChangeAspect="1" noChangeArrowheads="1"/>
          </p:cNvPicPr>
          <p:nvPr/>
        </p:nvPicPr>
        <p:blipFill>
          <a:blip r:embed="rId2"/>
          <a:srcRect t="-9550" b="9550"/>
          <a:stretch>
            <a:fillRect/>
          </a:stretch>
        </p:blipFill>
        <p:spPr bwMode="auto">
          <a:xfrm>
            <a:off x="0" y="-184666"/>
            <a:ext cx="10691814" cy="5932170"/>
          </a:xfrm>
          <a:prstGeom prst="rect">
            <a:avLst/>
          </a:prstGeom>
          <a:noFill/>
        </p:spPr>
      </p:pic>
      <p:sp>
        <p:nvSpPr>
          <p:cNvPr id="5" name="TextBox 4">
            <a:extLst>
              <a:ext uri="{FF2B5EF4-FFF2-40B4-BE49-F238E27FC236}">
                <a16:creationId xmlns:a16="http://schemas.microsoft.com/office/drawing/2014/main" id="{424CF0F1-02C8-0089-F726-DC687EFD3A93}"/>
              </a:ext>
            </a:extLst>
          </p:cNvPr>
          <p:cNvSpPr txBox="1"/>
          <p:nvPr/>
        </p:nvSpPr>
        <p:spPr>
          <a:xfrm>
            <a:off x="903641" y="1260075"/>
            <a:ext cx="3223447" cy="369332"/>
          </a:xfrm>
          <a:prstGeom prst="rect">
            <a:avLst/>
          </a:prstGeom>
          <a:noFill/>
        </p:spPr>
        <p:txBody>
          <a:bodyPr wrap="none" rtlCol="0">
            <a:spAutoFit/>
          </a:bodyPr>
          <a:lstStyle/>
          <a:p>
            <a:pPr marL="285750" indent="-285750">
              <a:buFont typeface="Arial" panose="020B0604020202020204" pitchFamily="34" charset="0"/>
              <a:buChar char="•"/>
            </a:pPr>
            <a:r>
              <a:rPr lang="en-US" dirty="0"/>
              <a:t>Check that agent is running </a:t>
            </a:r>
          </a:p>
        </p:txBody>
      </p:sp>
      <p:pic>
        <p:nvPicPr>
          <p:cNvPr id="9" name="Picture 8">
            <a:extLst>
              <a:ext uri="{FF2B5EF4-FFF2-40B4-BE49-F238E27FC236}">
                <a16:creationId xmlns:a16="http://schemas.microsoft.com/office/drawing/2014/main" id="{9C793ECD-8183-C73C-A580-BCB54259FA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8784" y="1715380"/>
            <a:ext cx="8732941" cy="1137275"/>
          </a:xfrm>
          <a:prstGeom prst="rect">
            <a:avLst/>
          </a:prstGeom>
        </p:spPr>
      </p:pic>
      <p:pic>
        <p:nvPicPr>
          <p:cNvPr id="13" name="Picture 12">
            <a:extLst>
              <a:ext uri="{FF2B5EF4-FFF2-40B4-BE49-F238E27FC236}">
                <a16:creationId xmlns:a16="http://schemas.microsoft.com/office/drawing/2014/main" id="{6B0D60C6-66FF-7B30-373F-845BFCE610C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3492626"/>
            <a:ext cx="10691813" cy="4032124"/>
          </a:xfrm>
          <a:prstGeom prst="rect">
            <a:avLst/>
          </a:prstGeom>
        </p:spPr>
      </p:pic>
      <p:sp>
        <p:nvSpPr>
          <p:cNvPr id="15" name="TextBox 14">
            <a:extLst>
              <a:ext uri="{FF2B5EF4-FFF2-40B4-BE49-F238E27FC236}">
                <a16:creationId xmlns:a16="http://schemas.microsoft.com/office/drawing/2014/main" id="{16CD22A0-B06A-6B9D-5D79-22CC77A37B5C}"/>
              </a:ext>
            </a:extLst>
          </p:cNvPr>
          <p:cNvSpPr txBox="1"/>
          <p:nvPr/>
        </p:nvSpPr>
        <p:spPr>
          <a:xfrm>
            <a:off x="903641" y="2867082"/>
            <a:ext cx="5315751" cy="369332"/>
          </a:xfrm>
          <a:prstGeom prst="rect">
            <a:avLst/>
          </a:prstGeom>
          <a:noFill/>
        </p:spPr>
        <p:txBody>
          <a:bodyPr wrap="none" rtlCol="0">
            <a:spAutoFit/>
          </a:bodyPr>
          <a:lstStyle/>
          <a:p>
            <a:pPr marL="285750" indent="-285750">
              <a:buFont typeface="Arial" panose="020B0604020202020204" pitchFamily="34" charset="0"/>
              <a:buChar char="•"/>
            </a:pPr>
            <a:r>
              <a:rPr lang="en-US" dirty="0"/>
              <a:t>Check that Elastic Agent can read my system log </a:t>
            </a:r>
          </a:p>
        </p:txBody>
      </p:sp>
      <p:sp>
        <p:nvSpPr>
          <p:cNvPr id="16" name="TextBox 15">
            <a:extLst>
              <a:ext uri="{FF2B5EF4-FFF2-40B4-BE49-F238E27FC236}">
                <a16:creationId xmlns:a16="http://schemas.microsoft.com/office/drawing/2014/main" id="{523FF8B1-9046-F5FC-92E9-A68BE3F94500}"/>
              </a:ext>
            </a:extLst>
          </p:cNvPr>
          <p:cNvSpPr txBox="1"/>
          <p:nvPr/>
        </p:nvSpPr>
        <p:spPr>
          <a:xfrm>
            <a:off x="1093615" y="3123294"/>
            <a:ext cx="7303281" cy="307777"/>
          </a:xfrm>
          <a:prstGeom prst="rect">
            <a:avLst/>
          </a:prstGeom>
          <a:noFill/>
        </p:spPr>
        <p:txBody>
          <a:bodyPr wrap="none" rtlCol="0">
            <a:spAutoFit/>
          </a:bodyPr>
          <a:lstStyle/>
          <a:p>
            <a:r>
              <a:rPr lang="en-US" sz="1400" dirty="0"/>
              <a:t> &gt;&gt; curl -u elastic:lEI2kcHY27G*wB9=mA1T -k -X GET "https://localhost:9200/_cat/</a:t>
            </a:r>
            <a:r>
              <a:rPr lang="en-US" sz="1400" dirty="0" err="1"/>
              <a:t>indices?v</a:t>
            </a:r>
            <a:r>
              <a:rPr lang="en-US" sz="1400" dirty="0"/>
              <a:t>"</a:t>
            </a:r>
          </a:p>
        </p:txBody>
      </p:sp>
      <p:sp>
        <p:nvSpPr>
          <p:cNvPr id="18" name="TextBox 17">
            <a:extLst>
              <a:ext uri="{FF2B5EF4-FFF2-40B4-BE49-F238E27FC236}">
                <a16:creationId xmlns:a16="http://schemas.microsoft.com/office/drawing/2014/main" id="{46A0DC6D-63BF-4D84-F76C-88828856A98F}"/>
              </a:ext>
            </a:extLst>
          </p:cNvPr>
          <p:cNvSpPr txBox="1"/>
          <p:nvPr/>
        </p:nvSpPr>
        <p:spPr>
          <a:xfrm>
            <a:off x="1093615" y="804770"/>
            <a:ext cx="5432610" cy="369332"/>
          </a:xfrm>
          <a:prstGeom prst="rect">
            <a:avLst/>
          </a:prstGeom>
          <a:noFill/>
        </p:spPr>
        <p:txBody>
          <a:bodyPr wrap="square">
            <a:spAutoFit/>
          </a:bodyPr>
          <a:lstStyle/>
          <a:p>
            <a:r>
              <a:rPr lang="en-US" sz="1800" b="1" dirty="0"/>
              <a:t>Step 3:</a:t>
            </a:r>
            <a:r>
              <a:rPr lang="en-US" dirty="0"/>
              <a:t> Verification &amp; Testing</a:t>
            </a:r>
            <a:r>
              <a:rPr lang="en-US" sz="1800" b="1" dirty="0"/>
              <a:t> </a:t>
            </a:r>
            <a:endParaRPr lang="en-US" dirty="0"/>
          </a:p>
        </p:txBody>
      </p:sp>
    </p:spTree>
    <p:extLst>
      <p:ext uri="{BB962C8B-B14F-4D97-AF65-F5344CB8AC3E}">
        <p14:creationId xmlns:p14="http://schemas.microsoft.com/office/powerpoint/2010/main" val="11804332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B3E08-100D-1402-087E-44C009B1089F}"/>
            </a:ext>
          </a:extLst>
        </p:cNvPr>
        <p:cNvGrpSpPr/>
        <p:nvPr/>
      </p:nvGrpSpPr>
      <p:grpSpPr>
        <a:xfrm>
          <a:off x="0" y="0"/>
          <a:ext cx="0" cy="0"/>
          <a:chOff x="0" y="0"/>
          <a:chExt cx="0" cy="0"/>
        </a:xfrm>
      </p:grpSpPr>
      <p:pic>
        <p:nvPicPr>
          <p:cNvPr id="1027" name="Picture 3">
            <a:extLst>
              <a:ext uri="{FF2B5EF4-FFF2-40B4-BE49-F238E27FC236}">
                <a16:creationId xmlns:a16="http://schemas.microsoft.com/office/drawing/2014/main" id="{9E001A2C-3FEB-8FC1-D9CE-25826D87E412}"/>
              </a:ext>
            </a:extLst>
          </p:cNvPr>
          <p:cNvPicPr>
            <a:picLocks noChangeAspect="1" noChangeArrowheads="1"/>
          </p:cNvPicPr>
          <p:nvPr/>
        </p:nvPicPr>
        <p:blipFill>
          <a:blip r:embed="rId2"/>
          <a:srcRect t="-9550" b="9550"/>
          <a:stretch>
            <a:fillRect/>
          </a:stretch>
        </p:blipFill>
        <p:spPr bwMode="auto">
          <a:xfrm>
            <a:off x="-1" y="0"/>
            <a:ext cx="10691814" cy="5932170"/>
          </a:xfrm>
          <a:prstGeom prst="rect">
            <a:avLst/>
          </a:prstGeom>
          <a:noFill/>
        </p:spPr>
      </p:pic>
      <p:sp>
        <p:nvSpPr>
          <p:cNvPr id="4" name="TextBox 3">
            <a:extLst>
              <a:ext uri="{FF2B5EF4-FFF2-40B4-BE49-F238E27FC236}">
                <a16:creationId xmlns:a16="http://schemas.microsoft.com/office/drawing/2014/main" id="{926E0E3F-99B9-0D19-8F71-19FABD7A7503}"/>
              </a:ext>
            </a:extLst>
          </p:cNvPr>
          <p:cNvSpPr txBox="1"/>
          <p:nvPr/>
        </p:nvSpPr>
        <p:spPr>
          <a:xfrm>
            <a:off x="2511907" y="1007805"/>
            <a:ext cx="6083450" cy="584775"/>
          </a:xfrm>
          <a:prstGeom prst="rect">
            <a:avLst/>
          </a:prstGeom>
          <a:noFill/>
        </p:spPr>
        <p:txBody>
          <a:bodyPr wrap="square">
            <a:spAutoFit/>
          </a:bodyPr>
          <a:lstStyle/>
          <a:p>
            <a:r>
              <a:rPr lang="en-US" sz="3200" b="1" dirty="0"/>
              <a:t>3-Dashboards &amp; Visualization</a:t>
            </a:r>
          </a:p>
        </p:txBody>
      </p:sp>
      <p:pic>
        <p:nvPicPr>
          <p:cNvPr id="11" name="Picture 10">
            <a:extLst>
              <a:ext uri="{FF2B5EF4-FFF2-40B4-BE49-F238E27FC236}">
                <a16:creationId xmlns:a16="http://schemas.microsoft.com/office/drawing/2014/main" id="{594757AA-D3BC-081B-A999-F323E37A863A}"/>
              </a:ext>
            </a:extLst>
          </p:cNvPr>
          <p:cNvPicPr>
            <a:picLocks noChangeAspect="1"/>
          </p:cNvPicPr>
          <p:nvPr/>
        </p:nvPicPr>
        <p:blipFill>
          <a:blip r:embed="rId3"/>
          <a:stretch>
            <a:fillRect/>
          </a:stretch>
        </p:blipFill>
        <p:spPr>
          <a:xfrm>
            <a:off x="94179" y="2086982"/>
            <a:ext cx="1758851" cy="5150277"/>
          </a:xfrm>
          <a:prstGeom prst="rect">
            <a:avLst/>
          </a:prstGeom>
          <a:ln>
            <a:noFill/>
          </a:ln>
          <a:effectLst>
            <a:outerShdw blurRad="190500" algn="tl" rotWithShape="0">
              <a:srgbClr val="000000">
                <a:alpha val="70000"/>
              </a:srgbClr>
            </a:outerShdw>
          </a:effectLst>
        </p:spPr>
      </p:pic>
      <p:pic>
        <p:nvPicPr>
          <p:cNvPr id="15" name="Picture 14">
            <a:extLst>
              <a:ext uri="{FF2B5EF4-FFF2-40B4-BE49-F238E27FC236}">
                <a16:creationId xmlns:a16="http://schemas.microsoft.com/office/drawing/2014/main" id="{20E37E4C-5519-D28D-8C57-2372B43D9C2C}"/>
              </a:ext>
            </a:extLst>
          </p:cNvPr>
          <p:cNvPicPr>
            <a:picLocks noChangeAspect="1"/>
          </p:cNvPicPr>
          <p:nvPr/>
        </p:nvPicPr>
        <p:blipFill>
          <a:blip r:embed="rId4"/>
          <a:stretch>
            <a:fillRect/>
          </a:stretch>
        </p:blipFill>
        <p:spPr>
          <a:xfrm>
            <a:off x="1947210" y="2678318"/>
            <a:ext cx="8586218" cy="4638926"/>
          </a:xfrm>
          <a:prstGeom prst="rect">
            <a:avLst/>
          </a:prstGeom>
          <a:ln>
            <a:noFill/>
          </a:ln>
          <a:effectLst>
            <a:outerShdw blurRad="190500" algn="tl" rotWithShape="0">
              <a:srgbClr val="000000">
                <a:alpha val="70000"/>
              </a:srgbClr>
            </a:outerShdw>
          </a:effectLst>
        </p:spPr>
      </p:pic>
      <p:sp>
        <p:nvSpPr>
          <p:cNvPr id="16" name="TextBox 15">
            <a:extLst>
              <a:ext uri="{FF2B5EF4-FFF2-40B4-BE49-F238E27FC236}">
                <a16:creationId xmlns:a16="http://schemas.microsoft.com/office/drawing/2014/main" id="{A7086B0B-AC1F-4829-4034-EC1BF5F34965}"/>
              </a:ext>
            </a:extLst>
          </p:cNvPr>
          <p:cNvSpPr txBox="1"/>
          <p:nvPr/>
        </p:nvSpPr>
        <p:spPr>
          <a:xfrm>
            <a:off x="2936837" y="2253061"/>
            <a:ext cx="1273426" cy="369332"/>
          </a:xfrm>
          <a:prstGeom prst="rect">
            <a:avLst/>
          </a:prstGeom>
          <a:noFill/>
        </p:spPr>
        <p:txBody>
          <a:bodyPr wrap="none" rtlCol="0">
            <a:spAutoFit/>
          </a:bodyPr>
          <a:lstStyle/>
          <a:p>
            <a:r>
              <a:rPr lang="en-US" dirty="0"/>
              <a:t># </a:t>
            </a:r>
            <a:r>
              <a:rPr lang="en-US" dirty="0">
                <a:solidFill>
                  <a:srgbClr val="FF0000"/>
                </a:solidFill>
              </a:rPr>
              <a:t>Discover</a:t>
            </a:r>
            <a:r>
              <a:rPr lang="en-US" dirty="0"/>
              <a:t> </a:t>
            </a:r>
          </a:p>
        </p:txBody>
      </p:sp>
    </p:spTree>
    <p:extLst>
      <p:ext uri="{BB962C8B-B14F-4D97-AF65-F5344CB8AC3E}">
        <p14:creationId xmlns:p14="http://schemas.microsoft.com/office/powerpoint/2010/main" val="22132051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53ABC6-7A12-A8D3-8AC4-198A4E3C0B69}"/>
            </a:ext>
          </a:extLst>
        </p:cNvPr>
        <p:cNvGrpSpPr/>
        <p:nvPr/>
      </p:nvGrpSpPr>
      <p:grpSpPr>
        <a:xfrm>
          <a:off x="0" y="0"/>
          <a:ext cx="0" cy="0"/>
          <a:chOff x="0" y="0"/>
          <a:chExt cx="0" cy="0"/>
        </a:xfrm>
      </p:grpSpPr>
      <p:pic>
        <p:nvPicPr>
          <p:cNvPr id="1027" name="Picture 3">
            <a:extLst>
              <a:ext uri="{FF2B5EF4-FFF2-40B4-BE49-F238E27FC236}">
                <a16:creationId xmlns:a16="http://schemas.microsoft.com/office/drawing/2014/main" id="{24131AAD-7176-6699-48A4-394E08F705CF}"/>
              </a:ext>
            </a:extLst>
          </p:cNvPr>
          <p:cNvPicPr>
            <a:picLocks noChangeAspect="1" noChangeArrowheads="1"/>
          </p:cNvPicPr>
          <p:nvPr/>
        </p:nvPicPr>
        <p:blipFill>
          <a:blip r:embed="rId2"/>
          <a:srcRect t="-9550" b="9550"/>
          <a:stretch>
            <a:fillRect/>
          </a:stretch>
        </p:blipFill>
        <p:spPr bwMode="auto">
          <a:xfrm>
            <a:off x="-1" y="0"/>
            <a:ext cx="10691814" cy="5932170"/>
          </a:xfrm>
          <a:prstGeom prst="rect">
            <a:avLst/>
          </a:prstGeom>
          <a:noFill/>
        </p:spPr>
      </p:pic>
      <p:pic>
        <p:nvPicPr>
          <p:cNvPr id="10" name="Picture 9">
            <a:extLst>
              <a:ext uri="{FF2B5EF4-FFF2-40B4-BE49-F238E27FC236}">
                <a16:creationId xmlns:a16="http://schemas.microsoft.com/office/drawing/2014/main" id="{6F62E9AB-2276-2CFD-C928-BE6F1EC0497F}"/>
              </a:ext>
            </a:extLst>
          </p:cNvPr>
          <p:cNvPicPr>
            <a:picLocks noChangeAspect="1"/>
          </p:cNvPicPr>
          <p:nvPr/>
        </p:nvPicPr>
        <p:blipFill>
          <a:blip r:embed="rId3"/>
          <a:stretch>
            <a:fillRect/>
          </a:stretch>
        </p:blipFill>
        <p:spPr>
          <a:xfrm>
            <a:off x="0" y="2837796"/>
            <a:ext cx="5725324" cy="4686954"/>
          </a:xfrm>
          <a:prstGeom prst="rect">
            <a:avLst/>
          </a:prstGeom>
        </p:spPr>
      </p:pic>
      <p:pic>
        <p:nvPicPr>
          <p:cNvPr id="13" name="Picture 12">
            <a:extLst>
              <a:ext uri="{FF2B5EF4-FFF2-40B4-BE49-F238E27FC236}">
                <a16:creationId xmlns:a16="http://schemas.microsoft.com/office/drawing/2014/main" id="{89269497-430C-E46B-64ED-D15E9F0706EB}"/>
              </a:ext>
            </a:extLst>
          </p:cNvPr>
          <p:cNvPicPr>
            <a:picLocks noChangeAspect="1"/>
          </p:cNvPicPr>
          <p:nvPr/>
        </p:nvPicPr>
        <p:blipFill>
          <a:blip r:embed="rId4"/>
          <a:stretch>
            <a:fillRect/>
          </a:stretch>
        </p:blipFill>
        <p:spPr>
          <a:xfrm>
            <a:off x="0" y="1969849"/>
            <a:ext cx="10590541" cy="1019317"/>
          </a:xfrm>
          <a:prstGeom prst="rect">
            <a:avLst/>
          </a:prstGeom>
        </p:spPr>
      </p:pic>
      <p:sp>
        <p:nvSpPr>
          <p:cNvPr id="14" name="TextBox 13">
            <a:extLst>
              <a:ext uri="{FF2B5EF4-FFF2-40B4-BE49-F238E27FC236}">
                <a16:creationId xmlns:a16="http://schemas.microsoft.com/office/drawing/2014/main" id="{24851083-6E63-0530-ECB6-990014CF5A28}"/>
              </a:ext>
            </a:extLst>
          </p:cNvPr>
          <p:cNvSpPr txBox="1"/>
          <p:nvPr/>
        </p:nvSpPr>
        <p:spPr>
          <a:xfrm>
            <a:off x="1957892" y="1592580"/>
            <a:ext cx="3136115" cy="369332"/>
          </a:xfrm>
          <a:prstGeom prst="rect">
            <a:avLst/>
          </a:prstGeom>
          <a:noFill/>
        </p:spPr>
        <p:txBody>
          <a:bodyPr wrap="none" rtlCol="0">
            <a:spAutoFit/>
          </a:bodyPr>
          <a:lstStyle/>
          <a:p>
            <a:r>
              <a:rPr lang="en-US" dirty="0"/>
              <a:t># </a:t>
            </a:r>
            <a:r>
              <a:rPr lang="en-US" dirty="0">
                <a:solidFill>
                  <a:srgbClr val="FF0000"/>
                </a:solidFill>
              </a:rPr>
              <a:t>System overview dashboard</a:t>
            </a:r>
          </a:p>
        </p:txBody>
      </p:sp>
    </p:spTree>
    <p:extLst>
      <p:ext uri="{BB962C8B-B14F-4D97-AF65-F5344CB8AC3E}">
        <p14:creationId xmlns:p14="http://schemas.microsoft.com/office/powerpoint/2010/main" val="13105015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2BC039A-ED4C-B825-3369-167163494761}"/>
              </a:ext>
            </a:extLst>
          </p:cNvPr>
          <p:cNvPicPr>
            <a:picLocks noGrp="1" noRot="1" noChangeAspect="1" noMove="1" noResize="1" noEditPoints="1" noAdjustHandles="1" noChangeArrowheads="1" noChangeShapeType="1" noCrop="1"/>
          </p:cNvPicPr>
          <p:nvPr/>
        </p:nvPicPr>
        <p:blipFill>
          <a:blip r:embed="rId2"/>
          <a:srcRect t="-9550" b="9550"/>
          <a:stretch>
            <a:fillRect/>
          </a:stretch>
        </p:blipFill>
        <p:spPr bwMode="auto">
          <a:xfrm>
            <a:off x="0" y="-809624"/>
            <a:ext cx="10691814" cy="8334374"/>
          </a:xfrm>
          <a:prstGeom prst="rect">
            <a:avLst/>
          </a:prstGeom>
          <a:noFill/>
        </p:spPr>
      </p:pic>
      <p:sp>
        <p:nvSpPr>
          <p:cNvPr id="6" name="TextBox 5">
            <a:extLst>
              <a:ext uri="{FF2B5EF4-FFF2-40B4-BE49-F238E27FC236}">
                <a16:creationId xmlns:a16="http://schemas.microsoft.com/office/drawing/2014/main" id="{5C6CADC5-D2AE-413E-6213-D2D3F552B00C}"/>
              </a:ext>
            </a:extLst>
          </p:cNvPr>
          <p:cNvSpPr txBox="1"/>
          <p:nvPr/>
        </p:nvSpPr>
        <p:spPr>
          <a:xfrm>
            <a:off x="607218" y="2395324"/>
            <a:ext cx="9477375" cy="1754326"/>
          </a:xfrm>
          <a:prstGeom prst="rect">
            <a:avLst/>
          </a:prstGeom>
          <a:noFill/>
        </p:spPr>
        <p:txBody>
          <a:bodyPr wrap="square">
            <a:spAutoFit/>
          </a:bodyPr>
          <a:lstStyle/>
          <a:p>
            <a:pPr algn="ctr"/>
            <a:r>
              <a:rPr lang="ar-EG" sz="5400" b="1" dirty="0">
                <a:cs typeface="+mj-cs"/>
              </a:rPr>
              <a:t>SIEM Deployment and</a:t>
            </a:r>
            <a:r>
              <a:rPr lang="en-US" sz="5400" b="1" dirty="0">
                <a:cs typeface="+mj-cs"/>
              </a:rPr>
              <a:t> </a:t>
            </a:r>
          </a:p>
          <a:p>
            <a:pPr algn="ctr"/>
            <a:r>
              <a:rPr lang="en-US" sz="5400" b="1" dirty="0">
                <a:cs typeface="+mj-cs"/>
              </a:rPr>
              <a:t>logs check reachability</a:t>
            </a:r>
            <a:endParaRPr lang="ar-EG" sz="5400" b="1" dirty="0">
              <a:cs typeface="+mj-cs"/>
            </a:endParaRPr>
          </a:p>
        </p:txBody>
      </p:sp>
      <p:sp>
        <p:nvSpPr>
          <p:cNvPr id="3" name="TextBox 2">
            <a:extLst>
              <a:ext uri="{FF2B5EF4-FFF2-40B4-BE49-F238E27FC236}">
                <a16:creationId xmlns:a16="http://schemas.microsoft.com/office/drawing/2014/main" id="{6776892E-AA59-F9CF-63D5-F9817AB0EA1E}"/>
              </a:ext>
            </a:extLst>
          </p:cNvPr>
          <p:cNvSpPr txBox="1"/>
          <p:nvPr/>
        </p:nvSpPr>
        <p:spPr>
          <a:xfrm>
            <a:off x="4372284" y="1127766"/>
            <a:ext cx="5389580" cy="707886"/>
          </a:xfrm>
          <a:prstGeom prst="rect">
            <a:avLst/>
          </a:prstGeom>
          <a:noFill/>
        </p:spPr>
        <p:txBody>
          <a:bodyPr wrap="square">
            <a:spAutoFit/>
          </a:bodyPr>
          <a:lstStyle/>
          <a:p>
            <a:r>
              <a:rPr lang="en-US" sz="4000" b="1" dirty="0"/>
              <a:t>Week 2</a:t>
            </a:r>
          </a:p>
        </p:txBody>
      </p:sp>
    </p:spTree>
    <p:extLst>
      <p:ext uri="{BB962C8B-B14F-4D97-AF65-F5344CB8AC3E}">
        <p14:creationId xmlns:p14="http://schemas.microsoft.com/office/powerpoint/2010/main" val="34314606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0C0577-3EB0-3EFF-546C-2A3D1B66BF97}"/>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ECA97FDC-A5B7-BD1D-DE6E-ED0510BA3EAF}"/>
              </a:ext>
            </a:extLst>
          </p:cNvPr>
          <p:cNvPicPr>
            <a:picLocks noGrp="1" noRot="1" noChangeAspect="1" noMove="1" noResize="1" noEditPoints="1" noAdjustHandles="1" noChangeArrowheads="1" noChangeShapeType="1" noCrop="1"/>
          </p:cNvPicPr>
          <p:nvPr/>
        </p:nvPicPr>
        <p:blipFill>
          <a:blip r:embed="rId2"/>
          <a:srcRect t="-9550" b="9550"/>
          <a:stretch>
            <a:fillRect/>
          </a:stretch>
        </p:blipFill>
        <p:spPr bwMode="auto">
          <a:xfrm>
            <a:off x="0" y="-809624"/>
            <a:ext cx="10691814" cy="8334374"/>
          </a:xfrm>
          <a:prstGeom prst="rect">
            <a:avLst/>
          </a:prstGeom>
          <a:noFill/>
        </p:spPr>
      </p:pic>
      <p:sp>
        <p:nvSpPr>
          <p:cNvPr id="3" name="TextBox 2">
            <a:extLst>
              <a:ext uri="{FF2B5EF4-FFF2-40B4-BE49-F238E27FC236}">
                <a16:creationId xmlns:a16="http://schemas.microsoft.com/office/drawing/2014/main" id="{5B04C9FA-4259-62FC-004E-A182D6E7F56E}"/>
              </a:ext>
            </a:extLst>
          </p:cNvPr>
          <p:cNvSpPr txBox="1"/>
          <p:nvPr/>
        </p:nvSpPr>
        <p:spPr>
          <a:xfrm>
            <a:off x="883444" y="746079"/>
            <a:ext cx="7174706" cy="464294"/>
          </a:xfrm>
          <a:prstGeom prst="rect">
            <a:avLst/>
          </a:prstGeom>
          <a:noFill/>
        </p:spPr>
        <p:txBody>
          <a:bodyPr wrap="square">
            <a:spAutoFit/>
          </a:bodyPr>
          <a:lstStyle/>
          <a:p>
            <a:pPr algn="l">
              <a:lnSpc>
                <a:spcPts val="2550"/>
              </a:lnSpc>
              <a:spcBef>
                <a:spcPts val="2400"/>
              </a:spcBef>
              <a:spcAft>
                <a:spcPts val="1200"/>
              </a:spcAft>
              <a:buNone/>
            </a:pPr>
            <a:r>
              <a:rPr lang="en-US" sz="3600" b="1" dirty="0">
                <a:effectLst/>
                <a:latin typeface="quote-cjk-patch"/>
              </a:rPr>
              <a:t>Project Overview &amp; Objectives</a:t>
            </a:r>
          </a:p>
        </p:txBody>
      </p:sp>
      <p:sp>
        <p:nvSpPr>
          <p:cNvPr id="6" name="TextBox 5">
            <a:extLst>
              <a:ext uri="{FF2B5EF4-FFF2-40B4-BE49-F238E27FC236}">
                <a16:creationId xmlns:a16="http://schemas.microsoft.com/office/drawing/2014/main" id="{7091B94B-2755-8EBE-6437-22AADC55CCDE}"/>
              </a:ext>
            </a:extLst>
          </p:cNvPr>
          <p:cNvSpPr txBox="1"/>
          <p:nvPr/>
        </p:nvSpPr>
        <p:spPr>
          <a:xfrm>
            <a:off x="1045368" y="1210373"/>
            <a:ext cx="7174705" cy="5391219"/>
          </a:xfrm>
          <a:prstGeom prst="rect">
            <a:avLst/>
          </a:prstGeom>
          <a:noFill/>
        </p:spPr>
        <p:txBody>
          <a:bodyPr wrap="square">
            <a:spAutoFit/>
          </a:bodyPr>
          <a:lstStyle/>
          <a:p>
            <a:pPr marL="285750" indent="-285750" algn="l">
              <a:spcBef>
                <a:spcPts val="1200"/>
              </a:spcBef>
              <a:spcAft>
                <a:spcPts val="1200"/>
              </a:spcAft>
              <a:buFont typeface="Wingdings" panose="05000000000000000000" pitchFamily="2" charset="2"/>
              <a:buChar char="Ø"/>
            </a:pPr>
            <a:r>
              <a:rPr lang="en-US" b="1" i="0" dirty="0">
                <a:effectLst/>
                <a:latin typeface="quote-cjk-patch"/>
              </a:rPr>
              <a:t>Goal</a:t>
            </a:r>
            <a:r>
              <a:rPr lang="en-US" b="0" i="0" dirty="0">
                <a:effectLst/>
                <a:latin typeface="quote-cjk-patch"/>
              </a:rPr>
              <a:t>: Build a complete SIEM environment using open-source Elastic Stack to collect, analyze, and monitor security logs.</a:t>
            </a:r>
          </a:p>
          <a:p>
            <a:pPr marL="285750" indent="-285750" algn="l">
              <a:spcBef>
                <a:spcPts val="450"/>
              </a:spcBef>
              <a:spcAft>
                <a:spcPts val="600"/>
              </a:spcAft>
              <a:buFont typeface="Wingdings" panose="05000000000000000000" pitchFamily="2" charset="2"/>
              <a:buChar char="Ø"/>
            </a:pPr>
            <a:r>
              <a:rPr lang="en-US" b="1" i="0" dirty="0">
                <a:effectLst/>
                <a:latin typeface="quote-cjk-patch"/>
              </a:rPr>
              <a:t>Scope</a:t>
            </a:r>
            <a:r>
              <a:rPr lang="en-US" b="0" i="0" dirty="0">
                <a:effectLst/>
                <a:latin typeface="quote-cjk-patch"/>
              </a:rPr>
              <a:t>:</a:t>
            </a:r>
          </a:p>
          <a:p>
            <a:pPr marL="742950" lvl="1" indent="-285750" algn="l">
              <a:spcBef>
                <a:spcPts val="300"/>
              </a:spcBef>
              <a:spcAft>
                <a:spcPts val="1200"/>
              </a:spcAft>
              <a:buFont typeface="Wingdings" panose="05000000000000000000" pitchFamily="2" charset="2"/>
              <a:buChar char="Ø"/>
            </a:pPr>
            <a:r>
              <a:rPr lang="en-US" b="0" i="0" dirty="0">
                <a:effectLst/>
                <a:latin typeface="quote-cjk-patch"/>
              </a:rPr>
              <a:t>Central Elasticsearch + Kibana</a:t>
            </a:r>
          </a:p>
          <a:p>
            <a:pPr marL="742950" lvl="1" indent="-285750" algn="l">
              <a:spcBef>
                <a:spcPts val="450"/>
              </a:spcBef>
              <a:spcAft>
                <a:spcPts val="1200"/>
              </a:spcAft>
              <a:buFont typeface="Wingdings" panose="05000000000000000000" pitchFamily="2" charset="2"/>
              <a:buChar char="Ø"/>
            </a:pPr>
            <a:r>
              <a:rPr lang="en-US" b="0" i="0" dirty="0">
                <a:effectLst/>
                <a:latin typeface="quote-cjk-patch"/>
              </a:rPr>
              <a:t>Fleet Server to manage agents (Ubuntu server)</a:t>
            </a:r>
          </a:p>
          <a:p>
            <a:pPr marL="742950" lvl="1" indent="-285750" algn="l">
              <a:spcBef>
                <a:spcPts val="450"/>
              </a:spcBef>
              <a:spcAft>
                <a:spcPts val="1200"/>
              </a:spcAft>
              <a:buFont typeface="Wingdings" panose="05000000000000000000" pitchFamily="2" charset="2"/>
              <a:buChar char="Ø"/>
            </a:pPr>
            <a:r>
              <a:rPr lang="en-US" b="0" i="0" dirty="0">
                <a:effectLst/>
                <a:latin typeface="quote-cjk-patch"/>
              </a:rPr>
              <a:t>Windows VM (</a:t>
            </a:r>
            <a:r>
              <a:rPr lang="en-US" dirty="0">
                <a:latin typeface="quote-cjk-patch"/>
              </a:rPr>
              <a:t>A</a:t>
            </a:r>
            <a:r>
              <a:rPr lang="en-US" b="0" i="0" dirty="0">
                <a:effectLst/>
                <a:latin typeface="quote-cjk-patch"/>
              </a:rPr>
              <a:t>sus)</a:t>
            </a:r>
          </a:p>
          <a:p>
            <a:pPr marL="742950" lvl="1" indent="-285750" algn="l">
              <a:spcBef>
                <a:spcPts val="450"/>
              </a:spcBef>
              <a:spcAft>
                <a:spcPts val="1200"/>
              </a:spcAft>
              <a:buFont typeface="Wingdings" panose="05000000000000000000" pitchFamily="2" charset="2"/>
              <a:buChar char="Ø"/>
            </a:pPr>
            <a:r>
              <a:rPr lang="en-US" b="0" i="0" dirty="0">
                <a:effectLst/>
                <a:latin typeface="quote-cjk-patch"/>
              </a:rPr>
              <a:t>Linux VM (kali)</a:t>
            </a:r>
          </a:p>
          <a:p>
            <a:pPr marL="742950" lvl="1" indent="-285750" algn="l">
              <a:spcBef>
                <a:spcPts val="450"/>
              </a:spcBef>
              <a:spcAft>
                <a:spcPts val="1200"/>
              </a:spcAft>
              <a:buFont typeface="Wingdings" panose="05000000000000000000" pitchFamily="2" charset="2"/>
              <a:buChar char="Ø"/>
            </a:pPr>
            <a:r>
              <a:rPr lang="en-US" b="0" i="0" dirty="0">
                <a:effectLst/>
                <a:latin typeface="quote-cjk-patch"/>
              </a:rPr>
              <a:t>Fleet Server VM (mohamed-el7oot)</a:t>
            </a:r>
          </a:p>
          <a:p>
            <a:pPr marL="285750" indent="-285750" algn="l">
              <a:spcBef>
                <a:spcPts val="450"/>
              </a:spcBef>
              <a:spcAft>
                <a:spcPts val="600"/>
              </a:spcAft>
              <a:buFont typeface="Wingdings" panose="05000000000000000000" pitchFamily="2" charset="2"/>
              <a:buChar char="Ø"/>
            </a:pPr>
            <a:r>
              <a:rPr lang="en-US" b="1" i="0" dirty="0">
                <a:effectLst/>
                <a:latin typeface="quote-cjk-patch"/>
              </a:rPr>
              <a:t>KPIs</a:t>
            </a:r>
            <a:r>
              <a:rPr lang="en-US" b="0" i="0" dirty="0">
                <a:effectLst/>
                <a:latin typeface="quote-cjk-patch"/>
              </a:rPr>
              <a:t>:</a:t>
            </a:r>
          </a:p>
          <a:p>
            <a:pPr marL="742950" lvl="1" indent="-285750" algn="l">
              <a:spcBef>
                <a:spcPts val="300"/>
              </a:spcBef>
              <a:spcAft>
                <a:spcPts val="1200"/>
              </a:spcAft>
              <a:buFont typeface="Wingdings" panose="05000000000000000000" pitchFamily="2" charset="2"/>
              <a:buChar char="Ø"/>
            </a:pPr>
            <a:r>
              <a:rPr lang="en-US" b="0" i="0" dirty="0">
                <a:effectLst/>
                <a:latin typeface="quote-cjk-patch"/>
              </a:rPr>
              <a:t>Collect logs from all endpoints</a:t>
            </a:r>
          </a:p>
          <a:p>
            <a:pPr marL="742950" lvl="1" indent="-285750" algn="l">
              <a:spcBef>
                <a:spcPts val="450"/>
              </a:spcBef>
              <a:spcAft>
                <a:spcPts val="1200"/>
              </a:spcAft>
              <a:buFont typeface="Wingdings" panose="05000000000000000000" pitchFamily="2" charset="2"/>
              <a:buChar char="Ø"/>
            </a:pPr>
            <a:r>
              <a:rPr lang="en-US" b="0" i="0" dirty="0">
                <a:effectLst/>
                <a:latin typeface="quote-cjk-patch"/>
              </a:rPr>
              <a:t>Detect security events (e.g., process creation)</a:t>
            </a:r>
          </a:p>
          <a:p>
            <a:pPr marL="742950" lvl="1" indent="-285750" algn="l">
              <a:spcBef>
                <a:spcPts val="450"/>
              </a:spcBef>
              <a:spcAft>
                <a:spcPts val="1200"/>
              </a:spcAft>
              <a:buFont typeface="Wingdings" panose="05000000000000000000" pitchFamily="2" charset="2"/>
              <a:buChar char="Ø"/>
            </a:pPr>
            <a:r>
              <a:rPr lang="en-US" b="0" i="0" dirty="0">
                <a:effectLst/>
                <a:latin typeface="quote-cjk-patch"/>
              </a:rPr>
              <a:t>Centralized visibility in Kibana</a:t>
            </a:r>
          </a:p>
        </p:txBody>
      </p:sp>
    </p:spTree>
    <p:extLst>
      <p:ext uri="{BB962C8B-B14F-4D97-AF65-F5344CB8AC3E}">
        <p14:creationId xmlns:p14="http://schemas.microsoft.com/office/powerpoint/2010/main" val="19706174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1C92E7-2F42-1A11-08D7-DAB4793986C6}"/>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B0F5F80C-A4BD-4D42-867E-D0720DAE56E5}"/>
              </a:ext>
            </a:extLst>
          </p:cNvPr>
          <p:cNvPicPr>
            <a:picLocks noGrp="1" noRot="1" noChangeAspect="1" noMove="1" noResize="1" noEditPoints="1" noAdjustHandles="1" noChangeArrowheads="1" noChangeShapeType="1" noCrop="1"/>
          </p:cNvPicPr>
          <p:nvPr/>
        </p:nvPicPr>
        <p:blipFill>
          <a:blip r:embed="rId2"/>
          <a:srcRect t="-9550" b="9550"/>
          <a:stretch>
            <a:fillRect/>
          </a:stretch>
        </p:blipFill>
        <p:spPr bwMode="auto">
          <a:xfrm>
            <a:off x="0" y="-809624"/>
            <a:ext cx="10691814" cy="8334374"/>
          </a:xfrm>
          <a:prstGeom prst="rect">
            <a:avLst/>
          </a:prstGeom>
          <a:noFill/>
        </p:spPr>
      </p:pic>
      <p:sp>
        <p:nvSpPr>
          <p:cNvPr id="3" name="TextBox 2">
            <a:extLst>
              <a:ext uri="{FF2B5EF4-FFF2-40B4-BE49-F238E27FC236}">
                <a16:creationId xmlns:a16="http://schemas.microsoft.com/office/drawing/2014/main" id="{F0E8DD14-4766-8653-FCCE-D3B08AD57213}"/>
              </a:ext>
            </a:extLst>
          </p:cNvPr>
          <p:cNvSpPr txBox="1"/>
          <p:nvPr/>
        </p:nvSpPr>
        <p:spPr>
          <a:xfrm>
            <a:off x="1276546" y="975688"/>
            <a:ext cx="5348286" cy="464294"/>
          </a:xfrm>
          <a:prstGeom prst="rect">
            <a:avLst/>
          </a:prstGeom>
          <a:noFill/>
        </p:spPr>
        <p:txBody>
          <a:bodyPr wrap="square">
            <a:spAutoFit/>
          </a:bodyPr>
          <a:lstStyle/>
          <a:p>
            <a:pPr algn="l">
              <a:lnSpc>
                <a:spcPts val="2550"/>
              </a:lnSpc>
              <a:spcBef>
                <a:spcPts val="2400"/>
              </a:spcBef>
              <a:spcAft>
                <a:spcPts val="1200"/>
              </a:spcAft>
              <a:buNone/>
            </a:pPr>
            <a:r>
              <a:rPr lang="en-US" sz="3600" b="1" dirty="0">
                <a:effectLst/>
                <a:latin typeface="quote-cjk-patch"/>
                <a:cs typeface="+mj-cs"/>
              </a:rPr>
              <a:t>Architecture Overview</a:t>
            </a:r>
          </a:p>
        </p:txBody>
      </p:sp>
      <p:sp>
        <p:nvSpPr>
          <p:cNvPr id="12" name="TextBox 11">
            <a:extLst>
              <a:ext uri="{FF2B5EF4-FFF2-40B4-BE49-F238E27FC236}">
                <a16:creationId xmlns:a16="http://schemas.microsoft.com/office/drawing/2014/main" id="{C82DE1A0-7287-2C11-2578-D49F19F099A9}"/>
              </a:ext>
            </a:extLst>
          </p:cNvPr>
          <p:cNvSpPr txBox="1"/>
          <p:nvPr/>
        </p:nvSpPr>
        <p:spPr>
          <a:xfrm>
            <a:off x="555812" y="2104239"/>
            <a:ext cx="8610600" cy="4401205"/>
          </a:xfrm>
          <a:prstGeom prst="rect">
            <a:avLst/>
          </a:prstGeom>
          <a:noFill/>
        </p:spPr>
        <p:txBody>
          <a:bodyPr wrap="square">
            <a:spAutoFit/>
          </a:bodyPr>
          <a:lstStyle/>
          <a:p>
            <a:r>
              <a:rPr lang="en-US" sz="2000" dirty="0"/>
              <a:t>1- Elastic Stack Server         </a:t>
            </a:r>
            <a:r>
              <a:rPr lang="en-US" sz="2000" dirty="0">
                <a:solidFill>
                  <a:srgbClr val="FF0000"/>
                </a:solidFill>
              </a:rPr>
              <a:t>192.168.190.131</a:t>
            </a:r>
            <a:endParaRPr lang="en-US" sz="2000" dirty="0"/>
          </a:p>
          <a:p>
            <a:r>
              <a:rPr lang="en-US" sz="2000" dirty="0"/>
              <a:t>		• Elasticsearch (port 9200)</a:t>
            </a:r>
          </a:p>
          <a:p>
            <a:r>
              <a:rPr lang="en-US" sz="2000" dirty="0"/>
              <a:t>    		• Kibana (port 5601)</a:t>
            </a:r>
          </a:p>
          <a:p>
            <a:r>
              <a:rPr lang="en-US" sz="2000" dirty="0"/>
              <a:t>                 •Fleet Server </a:t>
            </a:r>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r>
              <a:rPr lang="en-US" sz="2000" dirty="0"/>
              <a:t>		</a:t>
            </a:r>
          </a:p>
          <a:p>
            <a:endParaRPr lang="en-US" sz="2000" dirty="0"/>
          </a:p>
          <a:p>
            <a:endParaRPr lang="en-US" sz="2000" dirty="0"/>
          </a:p>
        </p:txBody>
      </p:sp>
      <p:sp>
        <p:nvSpPr>
          <p:cNvPr id="2" name="TextBox 1">
            <a:extLst>
              <a:ext uri="{FF2B5EF4-FFF2-40B4-BE49-F238E27FC236}">
                <a16:creationId xmlns:a16="http://schemas.microsoft.com/office/drawing/2014/main" id="{0BB5A892-8E1E-FD5A-3443-F5892ED7A3A5}"/>
              </a:ext>
            </a:extLst>
          </p:cNvPr>
          <p:cNvSpPr txBox="1"/>
          <p:nvPr/>
        </p:nvSpPr>
        <p:spPr>
          <a:xfrm>
            <a:off x="230645" y="1505710"/>
            <a:ext cx="4054764" cy="461665"/>
          </a:xfrm>
          <a:prstGeom prst="rect">
            <a:avLst/>
          </a:prstGeom>
          <a:noFill/>
        </p:spPr>
        <p:txBody>
          <a:bodyPr wrap="none" rtlCol="0">
            <a:spAutoFit/>
          </a:bodyPr>
          <a:lstStyle/>
          <a:p>
            <a:r>
              <a:rPr lang="en-US" sz="2400" dirty="0"/>
              <a:t>&gt;&gt; Devices used and their IPs</a:t>
            </a:r>
          </a:p>
        </p:txBody>
      </p:sp>
      <p:pic>
        <p:nvPicPr>
          <p:cNvPr id="8" name="Picture 7">
            <a:extLst>
              <a:ext uri="{FF2B5EF4-FFF2-40B4-BE49-F238E27FC236}">
                <a16:creationId xmlns:a16="http://schemas.microsoft.com/office/drawing/2014/main" id="{3AF411EE-17FE-D145-2DA9-AD661E2077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0645" y="3527282"/>
            <a:ext cx="10230521" cy="2710600"/>
          </a:xfrm>
          <a:prstGeom prst="rect">
            <a:avLst/>
          </a:prstGeom>
        </p:spPr>
      </p:pic>
    </p:spTree>
    <p:extLst>
      <p:ext uri="{BB962C8B-B14F-4D97-AF65-F5344CB8AC3E}">
        <p14:creationId xmlns:p14="http://schemas.microsoft.com/office/powerpoint/2010/main" val="31689022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DAD00-3B06-1A2B-AC29-C5342162E6FD}"/>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0498D166-F563-7283-9F2D-877FF9EFB3FC}"/>
              </a:ext>
            </a:extLst>
          </p:cNvPr>
          <p:cNvPicPr>
            <a:picLocks noGrp="1" noRot="1" noChangeAspect="1" noMove="1" noResize="1" noEditPoints="1" noAdjustHandles="1" noChangeArrowheads="1" noChangeShapeType="1" noCrop="1"/>
          </p:cNvPicPr>
          <p:nvPr/>
        </p:nvPicPr>
        <p:blipFill>
          <a:blip r:embed="rId2"/>
          <a:srcRect t="-9550" b="9550"/>
          <a:stretch>
            <a:fillRect/>
          </a:stretch>
        </p:blipFill>
        <p:spPr bwMode="auto">
          <a:xfrm>
            <a:off x="0" y="-809624"/>
            <a:ext cx="10691814" cy="8334374"/>
          </a:xfrm>
          <a:prstGeom prst="rect">
            <a:avLst/>
          </a:prstGeom>
          <a:noFill/>
        </p:spPr>
      </p:pic>
      <p:sp>
        <p:nvSpPr>
          <p:cNvPr id="3" name="TextBox 2">
            <a:extLst>
              <a:ext uri="{FF2B5EF4-FFF2-40B4-BE49-F238E27FC236}">
                <a16:creationId xmlns:a16="http://schemas.microsoft.com/office/drawing/2014/main" id="{BFA0D656-6FF6-EE3D-0A62-3764E763E9C5}"/>
              </a:ext>
            </a:extLst>
          </p:cNvPr>
          <p:cNvSpPr txBox="1"/>
          <p:nvPr/>
        </p:nvSpPr>
        <p:spPr>
          <a:xfrm>
            <a:off x="1364873" y="645660"/>
            <a:ext cx="5348286" cy="464294"/>
          </a:xfrm>
          <a:prstGeom prst="rect">
            <a:avLst/>
          </a:prstGeom>
          <a:noFill/>
        </p:spPr>
        <p:txBody>
          <a:bodyPr wrap="square">
            <a:spAutoFit/>
          </a:bodyPr>
          <a:lstStyle/>
          <a:p>
            <a:pPr algn="l">
              <a:lnSpc>
                <a:spcPts val="2550"/>
              </a:lnSpc>
              <a:spcBef>
                <a:spcPts val="2400"/>
              </a:spcBef>
              <a:spcAft>
                <a:spcPts val="1200"/>
              </a:spcAft>
              <a:buNone/>
            </a:pPr>
            <a:r>
              <a:rPr lang="en-US" sz="3600" b="1" dirty="0">
                <a:effectLst/>
                <a:latin typeface="quote-cjk-patch"/>
                <a:cs typeface="+mj-cs"/>
              </a:rPr>
              <a:t>Architecture Overview</a:t>
            </a:r>
          </a:p>
        </p:txBody>
      </p:sp>
      <p:sp>
        <p:nvSpPr>
          <p:cNvPr id="5" name="TextBox 4">
            <a:extLst>
              <a:ext uri="{FF2B5EF4-FFF2-40B4-BE49-F238E27FC236}">
                <a16:creationId xmlns:a16="http://schemas.microsoft.com/office/drawing/2014/main" id="{2629181D-332C-FA73-0881-77DE86C62F8F}"/>
              </a:ext>
            </a:extLst>
          </p:cNvPr>
          <p:cNvSpPr txBox="1"/>
          <p:nvPr/>
        </p:nvSpPr>
        <p:spPr>
          <a:xfrm>
            <a:off x="823873" y="1547558"/>
            <a:ext cx="6430286" cy="1323439"/>
          </a:xfrm>
          <a:prstGeom prst="rect">
            <a:avLst/>
          </a:prstGeom>
          <a:noFill/>
        </p:spPr>
        <p:txBody>
          <a:bodyPr wrap="none" rtlCol="0">
            <a:spAutoFit/>
          </a:bodyPr>
          <a:lstStyle/>
          <a:p>
            <a:r>
              <a:rPr lang="en-US" sz="2000" dirty="0"/>
              <a:t>2- Linux </a:t>
            </a:r>
            <a:r>
              <a:rPr lang="en-US" sz="2000" dirty="0">
                <a:solidFill>
                  <a:srgbClr val="FF0000"/>
                </a:solidFill>
              </a:rPr>
              <a:t>         192.168.190.128  </a:t>
            </a:r>
          </a:p>
          <a:p>
            <a:endParaRPr lang="en-US" sz="2000" dirty="0">
              <a:solidFill>
                <a:srgbClr val="FF0000"/>
              </a:solidFill>
            </a:endParaRPr>
          </a:p>
          <a:p>
            <a:r>
              <a:rPr lang="en-US" sz="2000" dirty="0">
                <a:solidFill>
                  <a:srgbClr val="FF0000"/>
                </a:solidFill>
              </a:rPr>
              <a:t> </a:t>
            </a:r>
            <a:r>
              <a:rPr lang="en-US" sz="2000" dirty="0"/>
              <a:t>attacker device used to deploy some attacks on devices </a:t>
            </a:r>
          </a:p>
          <a:p>
            <a:r>
              <a:rPr lang="en-US" sz="2000" dirty="0"/>
              <a:t>by beast using of  vulnerabilities </a:t>
            </a:r>
          </a:p>
        </p:txBody>
      </p:sp>
      <p:sp>
        <p:nvSpPr>
          <p:cNvPr id="6" name="TextBox 5">
            <a:extLst>
              <a:ext uri="{FF2B5EF4-FFF2-40B4-BE49-F238E27FC236}">
                <a16:creationId xmlns:a16="http://schemas.microsoft.com/office/drawing/2014/main" id="{30AFC363-3295-21CF-C6E4-E65768FB1A92}"/>
              </a:ext>
            </a:extLst>
          </p:cNvPr>
          <p:cNvSpPr txBox="1"/>
          <p:nvPr/>
        </p:nvSpPr>
        <p:spPr>
          <a:xfrm>
            <a:off x="823873" y="3646841"/>
            <a:ext cx="6520696" cy="1261884"/>
          </a:xfrm>
          <a:prstGeom prst="rect">
            <a:avLst/>
          </a:prstGeom>
          <a:noFill/>
        </p:spPr>
        <p:txBody>
          <a:bodyPr wrap="none" rtlCol="0">
            <a:spAutoFit/>
          </a:bodyPr>
          <a:lstStyle/>
          <a:p>
            <a:r>
              <a:rPr lang="en-US" sz="2000" dirty="0"/>
              <a:t>3- Windows    </a:t>
            </a:r>
            <a:r>
              <a:rPr lang="en-US" sz="2000" dirty="0">
                <a:solidFill>
                  <a:srgbClr val="FF0000"/>
                </a:solidFill>
              </a:rPr>
              <a:t>192.168.190.1</a:t>
            </a:r>
          </a:p>
          <a:p>
            <a:endParaRPr lang="en-US" sz="2000" dirty="0">
              <a:solidFill>
                <a:srgbClr val="FF0000"/>
              </a:solidFill>
            </a:endParaRPr>
          </a:p>
          <a:p>
            <a:r>
              <a:rPr lang="en-US" dirty="0"/>
              <a:t>Employee devices are vulnerable to attacks and need protection </a:t>
            </a:r>
          </a:p>
          <a:p>
            <a:endParaRPr lang="en-US" dirty="0"/>
          </a:p>
        </p:txBody>
      </p:sp>
      <p:sp>
        <p:nvSpPr>
          <p:cNvPr id="7" name="TextBox 6">
            <a:extLst>
              <a:ext uri="{FF2B5EF4-FFF2-40B4-BE49-F238E27FC236}">
                <a16:creationId xmlns:a16="http://schemas.microsoft.com/office/drawing/2014/main" id="{B20D906A-F887-D958-6DCD-BB0753F90FA0}"/>
              </a:ext>
            </a:extLst>
          </p:cNvPr>
          <p:cNvSpPr txBox="1"/>
          <p:nvPr/>
        </p:nvSpPr>
        <p:spPr>
          <a:xfrm>
            <a:off x="823873" y="5472093"/>
            <a:ext cx="3617722" cy="1200329"/>
          </a:xfrm>
          <a:prstGeom prst="rect">
            <a:avLst/>
          </a:prstGeom>
          <a:noFill/>
        </p:spPr>
        <p:txBody>
          <a:bodyPr wrap="none" rtlCol="0">
            <a:spAutoFit/>
          </a:bodyPr>
          <a:lstStyle/>
          <a:p>
            <a:r>
              <a:rPr lang="en-US" dirty="0">
                <a:solidFill>
                  <a:schemeClr val="accent6"/>
                </a:solidFill>
              </a:rPr>
              <a:t>NOTE : </a:t>
            </a:r>
          </a:p>
          <a:p>
            <a:r>
              <a:rPr lang="en-US" dirty="0"/>
              <a:t> I got IPs</a:t>
            </a:r>
          </a:p>
          <a:p>
            <a:r>
              <a:rPr lang="en-US" dirty="0"/>
              <a:t>      • using </a:t>
            </a:r>
            <a:r>
              <a:rPr lang="en-US" dirty="0">
                <a:solidFill>
                  <a:srgbClr val="FF0000"/>
                </a:solidFill>
              </a:rPr>
              <a:t>(</a:t>
            </a:r>
            <a:r>
              <a:rPr lang="en-US" dirty="0" err="1">
                <a:solidFill>
                  <a:srgbClr val="FF0000"/>
                </a:solidFill>
              </a:rPr>
              <a:t>ip</a:t>
            </a:r>
            <a:r>
              <a:rPr lang="en-US" dirty="0">
                <a:solidFill>
                  <a:srgbClr val="FF0000"/>
                </a:solidFill>
              </a:rPr>
              <a:t> a </a:t>
            </a:r>
            <a:r>
              <a:rPr lang="en-US" dirty="0"/>
              <a:t>) on command line, </a:t>
            </a:r>
          </a:p>
          <a:p>
            <a:r>
              <a:rPr lang="en-US" dirty="0"/>
              <a:t>      • using (</a:t>
            </a:r>
            <a:r>
              <a:rPr lang="en-US" dirty="0">
                <a:solidFill>
                  <a:srgbClr val="FF0000"/>
                </a:solidFill>
              </a:rPr>
              <a:t>ipconfig</a:t>
            </a:r>
            <a:r>
              <a:rPr lang="en-US" dirty="0"/>
              <a:t>) on CMD </a:t>
            </a:r>
          </a:p>
        </p:txBody>
      </p:sp>
    </p:spTree>
    <p:extLst>
      <p:ext uri="{BB962C8B-B14F-4D97-AF65-F5344CB8AC3E}">
        <p14:creationId xmlns:p14="http://schemas.microsoft.com/office/powerpoint/2010/main" val="42038593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1D86EC-7365-896E-6417-FEC34235D861}"/>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14A59196-7228-A070-0E66-5ED3686E1492}"/>
              </a:ext>
            </a:extLst>
          </p:cNvPr>
          <p:cNvPicPr>
            <a:picLocks noGrp="1" noRot="1" noChangeAspect="1" noMove="1" noResize="1" noEditPoints="1" noAdjustHandles="1" noChangeArrowheads="1" noChangeShapeType="1" noCrop="1"/>
          </p:cNvPicPr>
          <p:nvPr/>
        </p:nvPicPr>
        <p:blipFill>
          <a:blip r:embed="rId2"/>
          <a:srcRect t="-9550" b="9550"/>
          <a:stretch>
            <a:fillRect/>
          </a:stretch>
        </p:blipFill>
        <p:spPr bwMode="auto">
          <a:xfrm>
            <a:off x="0" y="-809624"/>
            <a:ext cx="10691814" cy="8334374"/>
          </a:xfrm>
          <a:prstGeom prst="rect">
            <a:avLst/>
          </a:prstGeom>
          <a:noFill/>
        </p:spPr>
      </p:pic>
      <p:sp>
        <p:nvSpPr>
          <p:cNvPr id="3" name="TextBox 2">
            <a:extLst>
              <a:ext uri="{FF2B5EF4-FFF2-40B4-BE49-F238E27FC236}">
                <a16:creationId xmlns:a16="http://schemas.microsoft.com/office/drawing/2014/main" id="{D165AD73-E3BC-80A5-A616-F9BDCCED1D86}"/>
              </a:ext>
            </a:extLst>
          </p:cNvPr>
          <p:cNvSpPr txBox="1"/>
          <p:nvPr/>
        </p:nvSpPr>
        <p:spPr>
          <a:xfrm>
            <a:off x="1173900" y="1111477"/>
            <a:ext cx="5367336" cy="464294"/>
          </a:xfrm>
          <a:prstGeom prst="rect">
            <a:avLst/>
          </a:prstGeom>
          <a:noFill/>
        </p:spPr>
        <p:txBody>
          <a:bodyPr wrap="square">
            <a:spAutoFit/>
          </a:bodyPr>
          <a:lstStyle/>
          <a:p>
            <a:pPr algn="l">
              <a:lnSpc>
                <a:spcPts val="2550"/>
              </a:lnSpc>
              <a:spcBef>
                <a:spcPts val="2400"/>
              </a:spcBef>
              <a:spcAft>
                <a:spcPts val="1200"/>
              </a:spcAft>
              <a:buNone/>
            </a:pPr>
            <a:r>
              <a:rPr lang="en-US" sz="3600" b="1" dirty="0">
                <a:effectLst/>
                <a:latin typeface="quote-cjk-patch"/>
                <a:cs typeface="+mj-cs"/>
              </a:rPr>
              <a:t>Fleet Server</a:t>
            </a:r>
          </a:p>
        </p:txBody>
      </p:sp>
      <p:pic>
        <p:nvPicPr>
          <p:cNvPr id="5" name="Picture 4">
            <a:extLst>
              <a:ext uri="{FF2B5EF4-FFF2-40B4-BE49-F238E27FC236}">
                <a16:creationId xmlns:a16="http://schemas.microsoft.com/office/drawing/2014/main" id="{5503B974-1E51-13DD-31E7-3E249D86D9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836756"/>
            <a:ext cx="10691813" cy="3851238"/>
          </a:xfrm>
          <a:prstGeom prst="rect">
            <a:avLst/>
          </a:prstGeom>
        </p:spPr>
      </p:pic>
    </p:spTree>
    <p:extLst>
      <p:ext uri="{BB962C8B-B14F-4D97-AF65-F5344CB8AC3E}">
        <p14:creationId xmlns:p14="http://schemas.microsoft.com/office/powerpoint/2010/main" val="10242412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6F5DE2-7FC5-2949-510F-80B93E906823}"/>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89200FF2-5EB1-6209-C293-FAC91F4DE729}"/>
              </a:ext>
            </a:extLst>
          </p:cNvPr>
          <p:cNvPicPr>
            <a:picLocks noGrp="1" noRot="1" noChangeAspect="1" noMove="1" noResize="1" noEditPoints="1" noAdjustHandles="1" noChangeArrowheads="1" noChangeShapeType="1" noCrop="1"/>
          </p:cNvPicPr>
          <p:nvPr/>
        </p:nvPicPr>
        <p:blipFill>
          <a:blip r:embed="rId2"/>
          <a:srcRect t="-9550" b="9550"/>
          <a:stretch>
            <a:fillRect/>
          </a:stretch>
        </p:blipFill>
        <p:spPr bwMode="auto">
          <a:xfrm>
            <a:off x="0" y="-809624"/>
            <a:ext cx="10691814" cy="8334374"/>
          </a:xfrm>
          <a:prstGeom prst="rect">
            <a:avLst/>
          </a:prstGeom>
          <a:noFill/>
        </p:spPr>
      </p:pic>
      <p:sp>
        <p:nvSpPr>
          <p:cNvPr id="3" name="TextBox 2">
            <a:extLst>
              <a:ext uri="{FF2B5EF4-FFF2-40B4-BE49-F238E27FC236}">
                <a16:creationId xmlns:a16="http://schemas.microsoft.com/office/drawing/2014/main" id="{6D7E487B-D51A-B53A-2262-278EF13DE77E}"/>
              </a:ext>
            </a:extLst>
          </p:cNvPr>
          <p:cNvSpPr txBox="1"/>
          <p:nvPr/>
        </p:nvSpPr>
        <p:spPr>
          <a:xfrm>
            <a:off x="900925" y="566561"/>
            <a:ext cx="6866096" cy="464294"/>
          </a:xfrm>
          <a:prstGeom prst="rect">
            <a:avLst/>
          </a:prstGeom>
          <a:noFill/>
        </p:spPr>
        <p:txBody>
          <a:bodyPr wrap="square">
            <a:spAutoFit/>
          </a:bodyPr>
          <a:lstStyle/>
          <a:p>
            <a:pPr algn="l">
              <a:lnSpc>
                <a:spcPts val="2550"/>
              </a:lnSpc>
              <a:spcBef>
                <a:spcPts val="2400"/>
              </a:spcBef>
              <a:spcAft>
                <a:spcPts val="1200"/>
              </a:spcAft>
              <a:buNone/>
            </a:pPr>
            <a:r>
              <a:rPr lang="en-US" sz="3600" b="1" dirty="0">
                <a:effectLst/>
                <a:latin typeface="quote-cjk-patch"/>
              </a:rPr>
              <a:t> installation of Elastic Agents </a:t>
            </a:r>
          </a:p>
        </p:txBody>
      </p:sp>
      <p:pic>
        <p:nvPicPr>
          <p:cNvPr id="7" name="Picture 6">
            <a:extLst>
              <a:ext uri="{FF2B5EF4-FFF2-40B4-BE49-F238E27FC236}">
                <a16:creationId xmlns:a16="http://schemas.microsoft.com/office/drawing/2014/main" id="{6C45C669-49D3-5CA6-3797-E3DF55D170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05043" y="1531224"/>
            <a:ext cx="7607858" cy="3041751"/>
          </a:xfrm>
          <a:prstGeom prst="rect">
            <a:avLst/>
          </a:prstGeom>
        </p:spPr>
      </p:pic>
      <p:pic>
        <p:nvPicPr>
          <p:cNvPr id="9" name="Picture 8">
            <a:extLst>
              <a:ext uri="{FF2B5EF4-FFF2-40B4-BE49-F238E27FC236}">
                <a16:creationId xmlns:a16="http://schemas.microsoft.com/office/drawing/2014/main" id="{E7D3C929-C2D5-783A-86FB-ACCF5223682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05043" y="4993102"/>
            <a:ext cx="7688085" cy="2111520"/>
          </a:xfrm>
          <a:prstGeom prst="rect">
            <a:avLst/>
          </a:prstGeom>
        </p:spPr>
      </p:pic>
      <p:sp>
        <p:nvSpPr>
          <p:cNvPr id="11" name="TextBox 10">
            <a:extLst>
              <a:ext uri="{FF2B5EF4-FFF2-40B4-BE49-F238E27FC236}">
                <a16:creationId xmlns:a16="http://schemas.microsoft.com/office/drawing/2014/main" id="{A3BA8DE1-9A80-06CA-AE4A-718DF870F3AF}"/>
              </a:ext>
            </a:extLst>
          </p:cNvPr>
          <p:cNvSpPr txBox="1"/>
          <p:nvPr/>
        </p:nvSpPr>
        <p:spPr>
          <a:xfrm>
            <a:off x="900925" y="1111096"/>
            <a:ext cx="5389580" cy="369332"/>
          </a:xfrm>
          <a:prstGeom prst="rect">
            <a:avLst/>
          </a:prstGeom>
          <a:noFill/>
        </p:spPr>
        <p:txBody>
          <a:bodyPr wrap="square">
            <a:spAutoFit/>
          </a:bodyPr>
          <a:lstStyle/>
          <a:p>
            <a:r>
              <a:rPr lang="en-US" dirty="0"/>
              <a:t>&gt;</a:t>
            </a:r>
            <a:r>
              <a:rPr lang="en-US" dirty="0">
                <a:solidFill>
                  <a:srgbClr val="FF0000"/>
                </a:solidFill>
              </a:rPr>
              <a:t> </a:t>
            </a:r>
            <a:r>
              <a:rPr lang="en-US" b="1" dirty="0">
                <a:solidFill>
                  <a:srgbClr val="FF0000"/>
                </a:solidFill>
              </a:rPr>
              <a:t>successfully installed at windows</a:t>
            </a:r>
          </a:p>
        </p:txBody>
      </p:sp>
      <p:sp>
        <p:nvSpPr>
          <p:cNvPr id="13" name="TextBox 12">
            <a:extLst>
              <a:ext uri="{FF2B5EF4-FFF2-40B4-BE49-F238E27FC236}">
                <a16:creationId xmlns:a16="http://schemas.microsoft.com/office/drawing/2014/main" id="{7F9B64F0-6767-920D-8E83-4B5D41E61ADE}"/>
              </a:ext>
            </a:extLst>
          </p:cNvPr>
          <p:cNvSpPr txBox="1"/>
          <p:nvPr/>
        </p:nvSpPr>
        <p:spPr>
          <a:xfrm>
            <a:off x="900925" y="4598372"/>
            <a:ext cx="5505197" cy="369332"/>
          </a:xfrm>
          <a:prstGeom prst="rect">
            <a:avLst/>
          </a:prstGeom>
          <a:noFill/>
        </p:spPr>
        <p:txBody>
          <a:bodyPr wrap="square">
            <a:spAutoFit/>
          </a:bodyPr>
          <a:lstStyle/>
          <a:p>
            <a:r>
              <a:rPr lang="en-US" dirty="0"/>
              <a:t>&gt; </a:t>
            </a:r>
            <a:r>
              <a:rPr lang="en-US" b="1" dirty="0">
                <a:solidFill>
                  <a:srgbClr val="FF0000"/>
                </a:solidFill>
              </a:rPr>
              <a:t>successfully installed at Linux</a:t>
            </a:r>
          </a:p>
        </p:txBody>
      </p:sp>
    </p:spTree>
    <p:extLst>
      <p:ext uri="{BB962C8B-B14F-4D97-AF65-F5344CB8AC3E}">
        <p14:creationId xmlns:p14="http://schemas.microsoft.com/office/powerpoint/2010/main" val="26055693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8B7E70-549E-33DC-E098-231436BB4527}"/>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1EF731E2-74B9-B8A2-F09B-3CA65AB22FBF}"/>
              </a:ext>
            </a:extLst>
          </p:cNvPr>
          <p:cNvPicPr>
            <a:picLocks noGrp="1" noRot="1" noChangeAspect="1" noMove="1" noResize="1" noEditPoints="1" noAdjustHandles="1" noChangeArrowheads="1" noChangeShapeType="1" noCrop="1"/>
          </p:cNvPicPr>
          <p:nvPr/>
        </p:nvPicPr>
        <p:blipFill>
          <a:blip r:embed="rId2"/>
          <a:srcRect t="-9550" b="9550"/>
          <a:stretch>
            <a:fillRect/>
          </a:stretch>
        </p:blipFill>
        <p:spPr bwMode="auto">
          <a:xfrm>
            <a:off x="0" y="-809624"/>
            <a:ext cx="10691814" cy="8334374"/>
          </a:xfrm>
          <a:prstGeom prst="rect">
            <a:avLst/>
          </a:prstGeom>
          <a:noFill/>
        </p:spPr>
      </p:pic>
      <p:pic>
        <p:nvPicPr>
          <p:cNvPr id="3" name="Picture 2">
            <a:extLst>
              <a:ext uri="{FF2B5EF4-FFF2-40B4-BE49-F238E27FC236}">
                <a16:creationId xmlns:a16="http://schemas.microsoft.com/office/drawing/2014/main" id="{7F7EB2D6-9EE9-DABF-AE5E-4139CA8980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5277" y="2047239"/>
            <a:ext cx="10041257" cy="4807252"/>
          </a:xfrm>
          <a:prstGeom prst="rect">
            <a:avLst/>
          </a:prstGeom>
        </p:spPr>
      </p:pic>
      <p:sp>
        <p:nvSpPr>
          <p:cNvPr id="6" name="TextBox 5">
            <a:extLst>
              <a:ext uri="{FF2B5EF4-FFF2-40B4-BE49-F238E27FC236}">
                <a16:creationId xmlns:a16="http://schemas.microsoft.com/office/drawing/2014/main" id="{D912BE75-4071-E62D-B100-D99B041C1674}"/>
              </a:ext>
            </a:extLst>
          </p:cNvPr>
          <p:cNvSpPr txBox="1"/>
          <p:nvPr/>
        </p:nvSpPr>
        <p:spPr>
          <a:xfrm>
            <a:off x="1034052" y="556691"/>
            <a:ext cx="5367336" cy="646331"/>
          </a:xfrm>
          <a:prstGeom prst="rect">
            <a:avLst/>
          </a:prstGeom>
          <a:noFill/>
        </p:spPr>
        <p:txBody>
          <a:bodyPr wrap="square">
            <a:spAutoFit/>
          </a:bodyPr>
          <a:lstStyle/>
          <a:p>
            <a:r>
              <a:rPr lang="en-US" sz="3600" b="1" dirty="0">
                <a:latin typeface="quote-cjk-patch"/>
              </a:rPr>
              <a:t>Windows</a:t>
            </a:r>
            <a:r>
              <a:rPr lang="en-US" sz="3600" b="1" dirty="0">
                <a:effectLst/>
                <a:latin typeface="quote-cjk-patch"/>
              </a:rPr>
              <a:t> Logs Analysis </a:t>
            </a:r>
            <a:endParaRPr lang="ar-EG" sz="3600" dirty="0"/>
          </a:p>
        </p:txBody>
      </p:sp>
      <p:sp>
        <p:nvSpPr>
          <p:cNvPr id="5" name="TextBox 4">
            <a:extLst>
              <a:ext uri="{FF2B5EF4-FFF2-40B4-BE49-F238E27FC236}">
                <a16:creationId xmlns:a16="http://schemas.microsoft.com/office/drawing/2014/main" id="{343F870F-A973-E7BC-F1F4-28B110BAFB57}"/>
              </a:ext>
            </a:extLst>
          </p:cNvPr>
          <p:cNvSpPr txBox="1"/>
          <p:nvPr/>
        </p:nvSpPr>
        <p:spPr>
          <a:xfrm>
            <a:off x="1011808" y="1440464"/>
            <a:ext cx="5389580" cy="369332"/>
          </a:xfrm>
          <a:prstGeom prst="rect">
            <a:avLst/>
          </a:prstGeom>
          <a:noFill/>
        </p:spPr>
        <p:txBody>
          <a:bodyPr wrap="square">
            <a:spAutoFit/>
          </a:bodyPr>
          <a:lstStyle/>
          <a:p>
            <a:r>
              <a:rPr lang="en-US" sz="1800" dirty="0"/>
              <a:t>All logs indexed under "logs-*" data view</a:t>
            </a:r>
            <a:endParaRPr lang="ar-EG" sz="1800" dirty="0"/>
          </a:p>
        </p:txBody>
      </p:sp>
    </p:spTree>
    <p:extLst>
      <p:ext uri="{BB962C8B-B14F-4D97-AF65-F5344CB8AC3E}">
        <p14:creationId xmlns:p14="http://schemas.microsoft.com/office/powerpoint/2010/main" val="18279255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D4DECC-021B-7403-5B79-4D246E61A24D}"/>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5B5D2F47-44C3-8914-0A5A-53D1BE3A3612}"/>
              </a:ext>
            </a:extLst>
          </p:cNvPr>
          <p:cNvPicPr>
            <a:picLocks noGrp="1" noRot="1" noChangeAspect="1" noMove="1" noResize="1" noEditPoints="1" noAdjustHandles="1" noChangeArrowheads="1" noChangeShapeType="1" noCrop="1"/>
          </p:cNvPicPr>
          <p:nvPr/>
        </p:nvPicPr>
        <p:blipFill>
          <a:blip r:embed="rId2"/>
          <a:srcRect t="-9550" b="9550"/>
          <a:stretch>
            <a:fillRect/>
          </a:stretch>
        </p:blipFill>
        <p:spPr bwMode="auto">
          <a:xfrm>
            <a:off x="0" y="-809624"/>
            <a:ext cx="10691814" cy="8334374"/>
          </a:xfrm>
          <a:prstGeom prst="rect">
            <a:avLst/>
          </a:prstGeom>
          <a:noFill/>
        </p:spPr>
      </p:pic>
      <p:sp>
        <p:nvSpPr>
          <p:cNvPr id="3" name="TextBox 2">
            <a:extLst>
              <a:ext uri="{FF2B5EF4-FFF2-40B4-BE49-F238E27FC236}">
                <a16:creationId xmlns:a16="http://schemas.microsoft.com/office/drawing/2014/main" id="{3CC28A36-12DB-20A1-CE7C-BE9DFFB8F2A8}"/>
              </a:ext>
            </a:extLst>
          </p:cNvPr>
          <p:cNvSpPr txBox="1"/>
          <p:nvPr/>
        </p:nvSpPr>
        <p:spPr>
          <a:xfrm>
            <a:off x="931069" y="755604"/>
            <a:ext cx="5367336" cy="464294"/>
          </a:xfrm>
          <a:prstGeom prst="rect">
            <a:avLst/>
          </a:prstGeom>
          <a:noFill/>
        </p:spPr>
        <p:txBody>
          <a:bodyPr wrap="square">
            <a:spAutoFit/>
          </a:bodyPr>
          <a:lstStyle/>
          <a:p>
            <a:pPr algn="l">
              <a:lnSpc>
                <a:spcPts val="2550"/>
              </a:lnSpc>
              <a:spcBef>
                <a:spcPts val="2400"/>
              </a:spcBef>
              <a:spcAft>
                <a:spcPts val="1200"/>
              </a:spcAft>
              <a:buNone/>
            </a:pPr>
            <a:r>
              <a:rPr lang="en-US" sz="3600" b="1" dirty="0">
                <a:effectLst/>
                <a:latin typeface="quote-cjk-patch"/>
              </a:rPr>
              <a:t>Linux Logs Analysis (kali)</a:t>
            </a:r>
          </a:p>
        </p:txBody>
      </p:sp>
      <p:pic>
        <p:nvPicPr>
          <p:cNvPr id="8" name="Picture 7">
            <a:extLst>
              <a:ext uri="{FF2B5EF4-FFF2-40B4-BE49-F238E27FC236}">
                <a16:creationId xmlns:a16="http://schemas.microsoft.com/office/drawing/2014/main" id="{67F6BB20-38CD-8587-3CDF-67E5AF28ADBF}"/>
              </a:ext>
            </a:extLst>
          </p:cNvPr>
          <p:cNvPicPr>
            <a:picLocks noChangeAspect="1"/>
          </p:cNvPicPr>
          <p:nvPr/>
        </p:nvPicPr>
        <p:blipFill>
          <a:blip r:embed="rId3"/>
          <a:stretch>
            <a:fillRect/>
          </a:stretch>
        </p:blipFill>
        <p:spPr>
          <a:xfrm>
            <a:off x="335027" y="1468307"/>
            <a:ext cx="10258425" cy="4930456"/>
          </a:xfrm>
          <a:prstGeom prst="rect">
            <a:avLst/>
          </a:prstGeom>
        </p:spPr>
      </p:pic>
    </p:spTree>
    <p:extLst>
      <p:ext uri="{BB962C8B-B14F-4D97-AF65-F5344CB8AC3E}">
        <p14:creationId xmlns:p14="http://schemas.microsoft.com/office/powerpoint/2010/main" val="38597498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FDB78-D6B3-1362-0608-E64597506C7C}"/>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8E9B597C-AEEA-9832-D24F-957EC12812DF}"/>
              </a:ext>
            </a:extLst>
          </p:cNvPr>
          <p:cNvPicPr>
            <a:picLocks noGrp="1" noRot="1" noChangeAspect="1" noMove="1" noResize="1" noEditPoints="1" noAdjustHandles="1" noChangeArrowheads="1" noChangeShapeType="1" noCrop="1"/>
          </p:cNvPicPr>
          <p:nvPr/>
        </p:nvPicPr>
        <p:blipFill>
          <a:blip r:embed="rId3"/>
          <a:srcRect t="-9550" b="9550"/>
          <a:stretch>
            <a:fillRect/>
          </a:stretch>
        </p:blipFill>
        <p:spPr bwMode="auto">
          <a:xfrm>
            <a:off x="0" y="-809624"/>
            <a:ext cx="10691814" cy="8334374"/>
          </a:xfrm>
          <a:prstGeom prst="rect">
            <a:avLst/>
          </a:prstGeom>
          <a:noFill/>
        </p:spPr>
      </p:pic>
      <p:sp>
        <p:nvSpPr>
          <p:cNvPr id="3" name="TextBox 2">
            <a:extLst>
              <a:ext uri="{FF2B5EF4-FFF2-40B4-BE49-F238E27FC236}">
                <a16:creationId xmlns:a16="http://schemas.microsoft.com/office/drawing/2014/main" id="{0C180158-CB28-9251-0370-5F6380BD3D8B}"/>
              </a:ext>
            </a:extLst>
          </p:cNvPr>
          <p:cNvSpPr txBox="1"/>
          <p:nvPr/>
        </p:nvSpPr>
        <p:spPr>
          <a:xfrm>
            <a:off x="933535" y="843234"/>
            <a:ext cx="5348286" cy="464294"/>
          </a:xfrm>
          <a:prstGeom prst="rect">
            <a:avLst/>
          </a:prstGeom>
          <a:noFill/>
        </p:spPr>
        <p:txBody>
          <a:bodyPr wrap="square">
            <a:spAutoFit/>
          </a:bodyPr>
          <a:lstStyle/>
          <a:p>
            <a:pPr algn="l">
              <a:lnSpc>
                <a:spcPts val="2550"/>
              </a:lnSpc>
              <a:spcBef>
                <a:spcPts val="2400"/>
              </a:spcBef>
              <a:spcAft>
                <a:spcPts val="1200"/>
              </a:spcAft>
              <a:buNone/>
            </a:pPr>
            <a:r>
              <a:rPr lang="en-US" sz="3600" b="1" dirty="0">
                <a:effectLst/>
                <a:latin typeface="quote-cjk-patch"/>
              </a:rPr>
              <a:t>Fleet Server Internal Logs</a:t>
            </a:r>
          </a:p>
        </p:txBody>
      </p:sp>
      <p:pic>
        <p:nvPicPr>
          <p:cNvPr id="8" name="Picture 7">
            <a:extLst>
              <a:ext uri="{FF2B5EF4-FFF2-40B4-BE49-F238E27FC236}">
                <a16:creationId xmlns:a16="http://schemas.microsoft.com/office/drawing/2014/main" id="{613DBB75-D914-F21A-B5D5-77FD48ABFAF2}"/>
              </a:ext>
            </a:extLst>
          </p:cNvPr>
          <p:cNvPicPr>
            <a:picLocks noChangeAspect="1"/>
          </p:cNvPicPr>
          <p:nvPr/>
        </p:nvPicPr>
        <p:blipFill>
          <a:blip r:embed="rId4"/>
          <a:stretch>
            <a:fillRect/>
          </a:stretch>
        </p:blipFill>
        <p:spPr>
          <a:xfrm>
            <a:off x="359568" y="1548068"/>
            <a:ext cx="9972675" cy="4799350"/>
          </a:xfrm>
          <a:prstGeom prst="rect">
            <a:avLst/>
          </a:prstGeom>
        </p:spPr>
      </p:pic>
    </p:spTree>
    <p:extLst>
      <p:ext uri="{BB962C8B-B14F-4D97-AF65-F5344CB8AC3E}">
        <p14:creationId xmlns:p14="http://schemas.microsoft.com/office/powerpoint/2010/main" val="14725390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D94057-2FFC-AB9C-1835-AF206B647283}"/>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0E8FD97B-75FF-ED41-3EFA-27598D432121}"/>
              </a:ext>
            </a:extLst>
          </p:cNvPr>
          <p:cNvPicPr>
            <a:picLocks noGrp="1" noRot="1" noChangeAspect="1" noMove="1" noResize="1" noEditPoints="1" noAdjustHandles="1" noChangeArrowheads="1" noChangeShapeType="1" noCrop="1"/>
          </p:cNvPicPr>
          <p:nvPr/>
        </p:nvPicPr>
        <p:blipFill>
          <a:blip r:embed="rId3"/>
          <a:srcRect t="-9550" b="9550"/>
          <a:stretch>
            <a:fillRect/>
          </a:stretch>
        </p:blipFill>
        <p:spPr bwMode="auto">
          <a:xfrm>
            <a:off x="0" y="-809624"/>
            <a:ext cx="10691814" cy="8334374"/>
          </a:xfrm>
          <a:prstGeom prst="rect">
            <a:avLst/>
          </a:prstGeom>
          <a:noFill/>
        </p:spPr>
      </p:pic>
      <p:pic>
        <p:nvPicPr>
          <p:cNvPr id="5" name="Picture 4">
            <a:extLst>
              <a:ext uri="{FF2B5EF4-FFF2-40B4-BE49-F238E27FC236}">
                <a16:creationId xmlns:a16="http://schemas.microsoft.com/office/drawing/2014/main" id="{F21C2A87-6410-AD81-5A77-D3D1ADAC3AA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3404896"/>
            <a:ext cx="10691813" cy="3365813"/>
          </a:xfrm>
          <a:prstGeom prst="rect">
            <a:avLst/>
          </a:prstGeom>
        </p:spPr>
      </p:pic>
      <p:sp>
        <p:nvSpPr>
          <p:cNvPr id="7" name="TextBox 6">
            <a:extLst>
              <a:ext uri="{FF2B5EF4-FFF2-40B4-BE49-F238E27FC236}">
                <a16:creationId xmlns:a16="http://schemas.microsoft.com/office/drawing/2014/main" id="{916C8AAC-38C4-0DA9-4399-B6D6E0FBBF47}"/>
              </a:ext>
            </a:extLst>
          </p:cNvPr>
          <p:cNvSpPr txBox="1"/>
          <p:nvPr/>
        </p:nvSpPr>
        <p:spPr>
          <a:xfrm>
            <a:off x="715383" y="1495953"/>
            <a:ext cx="8116645" cy="1477328"/>
          </a:xfrm>
          <a:prstGeom prst="rect">
            <a:avLst/>
          </a:prstGeom>
          <a:noFill/>
        </p:spPr>
        <p:txBody>
          <a:bodyPr wrap="square">
            <a:spAutoFit/>
          </a:bodyPr>
          <a:lstStyle/>
          <a:p>
            <a:r>
              <a:rPr lang="en-US" b="1" dirty="0"/>
              <a:t>1- Event ID 4624 (Successful Logon)</a:t>
            </a:r>
          </a:p>
          <a:p>
            <a:r>
              <a:rPr lang="en-US" dirty="0"/>
              <a:t>, which is crucial for tracking the attacker's lateral movement or successful access. Additionally, </a:t>
            </a:r>
          </a:p>
          <a:p>
            <a:r>
              <a:rPr lang="en-US" b="1" dirty="0"/>
              <a:t>2-Event ID 4625 (Failed Logon)</a:t>
            </a:r>
            <a:r>
              <a:rPr lang="en-US" dirty="0"/>
              <a:t> will help us detect and analyze the Brute Force attack attempts.</a:t>
            </a:r>
          </a:p>
        </p:txBody>
      </p:sp>
      <p:sp>
        <p:nvSpPr>
          <p:cNvPr id="11" name="TextBox 10">
            <a:extLst>
              <a:ext uri="{FF2B5EF4-FFF2-40B4-BE49-F238E27FC236}">
                <a16:creationId xmlns:a16="http://schemas.microsoft.com/office/drawing/2014/main" id="{FFA43041-AE42-4DE5-B287-6C89C9A4C3E0}"/>
              </a:ext>
            </a:extLst>
          </p:cNvPr>
          <p:cNvSpPr txBox="1"/>
          <p:nvPr/>
        </p:nvSpPr>
        <p:spPr>
          <a:xfrm>
            <a:off x="1166672" y="600044"/>
            <a:ext cx="5414962" cy="464294"/>
          </a:xfrm>
          <a:prstGeom prst="rect">
            <a:avLst/>
          </a:prstGeom>
          <a:noFill/>
        </p:spPr>
        <p:txBody>
          <a:bodyPr wrap="square">
            <a:spAutoFit/>
          </a:bodyPr>
          <a:lstStyle/>
          <a:p>
            <a:pPr algn="l">
              <a:lnSpc>
                <a:spcPts val="2550"/>
              </a:lnSpc>
              <a:spcBef>
                <a:spcPts val="2400"/>
              </a:spcBef>
              <a:spcAft>
                <a:spcPts val="1200"/>
              </a:spcAft>
              <a:buNone/>
            </a:pPr>
            <a:r>
              <a:rPr lang="en-US" sz="3600" b="1" dirty="0">
                <a:effectLst/>
                <a:latin typeface="quote-cjk-patch"/>
              </a:rPr>
              <a:t>Security Event Examples</a:t>
            </a:r>
          </a:p>
        </p:txBody>
      </p:sp>
    </p:spTree>
    <p:extLst>
      <p:ext uri="{BB962C8B-B14F-4D97-AF65-F5344CB8AC3E}">
        <p14:creationId xmlns:p14="http://schemas.microsoft.com/office/powerpoint/2010/main" val="7907665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6B40D6-76AD-5EC5-F18C-D4901A30E43A}"/>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869A1684-EE7E-673D-885C-6FA3931BE599}"/>
              </a:ext>
            </a:extLst>
          </p:cNvPr>
          <p:cNvPicPr>
            <a:picLocks noGrp="1" noRot="1" noChangeAspect="1" noMove="1" noResize="1" noEditPoints="1" noAdjustHandles="1" noChangeArrowheads="1" noChangeShapeType="1" noCrop="1"/>
          </p:cNvPicPr>
          <p:nvPr/>
        </p:nvPicPr>
        <p:blipFill>
          <a:blip r:embed="rId2"/>
          <a:srcRect t="-9550" b="9550"/>
          <a:stretch>
            <a:fillRect/>
          </a:stretch>
        </p:blipFill>
        <p:spPr bwMode="auto">
          <a:xfrm>
            <a:off x="0" y="-809624"/>
            <a:ext cx="10691814" cy="8334374"/>
          </a:xfrm>
          <a:prstGeom prst="rect">
            <a:avLst/>
          </a:prstGeom>
          <a:noFill/>
        </p:spPr>
      </p:pic>
      <p:pic>
        <p:nvPicPr>
          <p:cNvPr id="5" name="Picture 4">
            <a:extLst>
              <a:ext uri="{FF2B5EF4-FFF2-40B4-BE49-F238E27FC236}">
                <a16:creationId xmlns:a16="http://schemas.microsoft.com/office/drawing/2014/main" id="{B4E78087-DE66-ECC6-11A8-F950B2F83B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762375"/>
            <a:ext cx="10691813" cy="3439131"/>
          </a:xfrm>
          <a:prstGeom prst="rect">
            <a:avLst/>
          </a:prstGeom>
        </p:spPr>
      </p:pic>
      <p:sp>
        <p:nvSpPr>
          <p:cNvPr id="8" name="TextBox 7">
            <a:extLst>
              <a:ext uri="{FF2B5EF4-FFF2-40B4-BE49-F238E27FC236}">
                <a16:creationId xmlns:a16="http://schemas.microsoft.com/office/drawing/2014/main" id="{FD0A02D0-99AE-01A0-722A-8ED4459B7B1B}"/>
              </a:ext>
            </a:extLst>
          </p:cNvPr>
          <p:cNvSpPr txBox="1"/>
          <p:nvPr/>
        </p:nvSpPr>
        <p:spPr>
          <a:xfrm>
            <a:off x="909020" y="1345960"/>
            <a:ext cx="8428616" cy="2308324"/>
          </a:xfrm>
          <a:prstGeom prst="rect">
            <a:avLst/>
          </a:prstGeom>
          <a:noFill/>
        </p:spPr>
        <p:txBody>
          <a:bodyPr wrap="square">
            <a:spAutoFit/>
          </a:bodyPr>
          <a:lstStyle/>
          <a:p>
            <a:r>
              <a:rPr lang="en-US" b="1" dirty="0"/>
              <a:t>3- Event ID 4688 (Process Creation) </a:t>
            </a:r>
            <a:r>
              <a:rPr lang="en-US" dirty="0"/>
              <a:t>This allows us to monitor any application launch or any command executed via </a:t>
            </a:r>
            <a:r>
              <a:rPr lang="en-US" b="1" dirty="0"/>
              <a:t>CMD</a:t>
            </a:r>
            <a:r>
              <a:rPr lang="en-US" dirty="0"/>
              <a:t> or </a:t>
            </a:r>
            <a:r>
              <a:rPr lang="en-US" b="1" dirty="0"/>
              <a:t>PowerShell</a:t>
            </a:r>
          </a:p>
          <a:p>
            <a:endParaRPr lang="en-US" b="1" dirty="0"/>
          </a:p>
          <a:p>
            <a:r>
              <a:rPr lang="en-US" b="1" dirty="0">
                <a:solidFill>
                  <a:srgbClr val="FF0000"/>
                </a:solidFill>
              </a:rPr>
              <a:t>This event ID is not enough if attacker uses </a:t>
            </a:r>
            <a:r>
              <a:rPr lang="en-US" dirty="0">
                <a:solidFill>
                  <a:srgbClr val="FF0000"/>
                </a:solidFill>
              </a:rPr>
              <a:t>Obfuscation</a:t>
            </a:r>
            <a:r>
              <a:rPr lang="en-US" b="1" dirty="0">
                <a:solidFill>
                  <a:srgbClr val="FF0000"/>
                </a:solidFill>
              </a:rPr>
              <a:t>  </a:t>
            </a:r>
            <a:r>
              <a:rPr lang="en-US" dirty="0">
                <a:solidFill>
                  <a:srgbClr val="FF0000"/>
                </a:solidFill>
              </a:rPr>
              <a:t>(</a:t>
            </a:r>
            <a:r>
              <a:rPr lang="en-US" dirty="0" err="1">
                <a:solidFill>
                  <a:srgbClr val="FF0000"/>
                </a:solidFill>
              </a:rPr>
              <a:t>تشفير</a:t>
            </a:r>
            <a:r>
              <a:rPr lang="en-US" dirty="0">
                <a:solidFill>
                  <a:srgbClr val="FF0000"/>
                </a:solidFill>
              </a:rPr>
              <a:t> </a:t>
            </a:r>
            <a:r>
              <a:rPr lang="en-US" dirty="0" err="1">
                <a:solidFill>
                  <a:srgbClr val="FF0000"/>
                </a:solidFill>
              </a:rPr>
              <a:t>أو</a:t>
            </a:r>
            <a:r>
              <a:rPr lang="en-US" dirty="0">
                <a:solidFill>
                  <a:srgbClr val="FF0000"/>
                </a:solidFill>
              </a:rPr>
              <a:t> </a:t>
            </a:r>
            <a:r>
              <a:rPr lang="en-US" dirty="0" err="1">
                <a:solidFill>
                  <a:srgbClr val="FF0000"/>
                </a:solidFill>
              </a:rPr>
              <a:t>تمويه</a:t>
            </a:r>
            <a:r>
              <a:rPr lang="en-US" dirty="0">
                <a:solidFill>
                  <a:srgbClr val="FF0000"/>
                </a:solidFill>
              </a:rPr>
              <a:t> </a:t>
            </a:r>
            <a:r>
              <a:rPr lang="en-US" dirty="0" err="1">
                <a:solidFill>
                  <a:srgbClr val="FF0000"/>
                </a:solidFill>
              </a:rPr>
              <a:t>للأكواد</a:t>
            </a:r>
            <a:r>
              <a:rPr lang="en-US" dirty="0">
                <a:solidFill>
                  <a:srgbClr val="FF0000"/>
                </a:solidFill>
              </a:rPr>
              <a:t>)</a:t>
            </a:r>
            <a:endParaRPr lang="en-US" b="1" dirty="0">
              <a:solidFill>
                <a:srgbClr val="FF0000"/>
              </a:solidFill>
            </a:endParaRPr>
          </a:p>
          <a:p>
            <a:r>
              <a:rPr lang="en-US" dirty="0"/>
              <a:t> so  we use :</a:t>
            </a:r>
          </a:p>
          <a:p>
            <a:r>
              <a:rPr lang="en-US" b="1" dirty="0"/>
              <a:t>4- Event ID 4104 (Script Block Logging)</a:t>
            </a:r>
          </a:p>
          <a:p>
            <a:r>
              <a:rPr lang="en-US" dirty="0"/>
              <a:t>To get full visibility into </a:t>
            </a:r>
            <a:r>
              <a:rPr lang="en-US" b="1" dirty="0"/>
              <a:t>PowerShell</a:t>
            </a:r>
            <a:r>
              <a:rPr lang="en-US" dirty="0"/>
              <a:t> executions, which logs the actual content of the scripts and commands being executed, defeating most obfuscation techniques</a:t>
            </a:r>
          </a:p>
        </p:txBody>
      </p:sp>
    </p:spTree>
    <p:extLst>
      <p:ext uri="{BB962C8B-B14F-4D97-AF65-F5344CB8AC3E}">
        <p14:creationId xmlns:p14="http://schemas.microsoft.com/office/powerpoint/2010/main" val="8100365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E8E6B9-166D-2F61-CD02-745857FB7E74}"/>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E05709C-A590-159F-36AD-F4BEB651E9B2}"/>
              </a:ext>
            </a:extLst>
          </p:cNvPr>
          <p:cNvPicPr>
            <a:picLocks noGrp="1" noRot="1" noChangeAspect="1" noMove="1" noResize="1" noEditPoints="1" noAdjustHandles="1" noChangeArrowheads="1" noChangeShapeType="1" noCrop="1"/>
          </p:cNvPicPr>
          <p:nvPr/>
        </p:nvPicPr>
        <p:blipFill>
          <a:blip r:embed="rId2"/>
          <a:srcRect t="-9550" b="9550"/>
          <a:stretch>
            <a:fillRect/>
          </a:stretch>
        </p:blipFill>
        <p:spPr bwMode="auto">
          <a:xfrm>
            <a:off x="0" y="-809624"/>
            <a:ext cx="10691814" cy="8334374"/>
          </a:xfrm>
          <a:prstGeom prst="rect">
            <a:avLst/>
          </a:prstGeom>
          <a:noFill/>
        </p:spPr>
      </p:pic>
      <p:sp>
        <p:nvSpPr>
          <p:cNvPr id="3" name="TextBox 2">
            <a:extLst>
              <a:ext uri="{FF2B5EF4-FFF2-40B4-BE49-F238E27FC236}">
                <a16:creationId xmlns:a16="http://schemas.microsoft.com/office/drawing/2014/main" id="{F3A55EB5-9622-6D64-6377-F6C474A5BFC8}"/>
              </a:ext>
            </a:extLst>
          </p:cNvPr>
          <p:cNvSpPr txBox="1"/>
          <p:nvPr/>
        </p:nvSpPr>
        <p:spPr>
          <a:xfrm>
            <a:off x="1081143" y="1622619"/>
            <a:ext cx="5389580" cy="369332"/>
          </a:xfrm>
          <a:prstGeom prst="rect">
            <a:avLst/>
          </a:prstGeom>
          <a:noFill/>
        </p:spPr>
        <p:txBody>
          <a:bodyPr wrap="square">
            <a:spAutoFit/>
          </a:bodyPr>
          <a:lstStyle/>
          <a:p>
            <a:r>
              <a:rPr lang="en-US" b="1" dirty="0"/>
              <a:t>5-Event ID 4720:</a:t>
            </a:r>
            <a:r>
              <a:rPr lang="en-US" dirty="0"/>
              <a:t> A user account was created</a:t>
            </a:r>
          </a:p>
        </p:txBody>
      </p:sp>
      <p:sp>
        <p:nvSpPr>
          <p:cNvPr id="7" name="TextBox 6">
            <a:extLst>
              <a:ext uri="{FF2B5EF4-FFF2-40B4-BE49-F238E27FC236}">
                <a16:creationId xmlns:a16="http://schemas.microsoft.com/office/drawing/2014/main" id="{7B693CD2-3F9E-0F2C-BD26-38C87F22E726}"/>
              </a:ext>
            </a:extLst>
          </p:cNvPr>
          <p:cNvSpPr txBox="1"/>
          <p:nvPr/>
        </p:nvSpPr>
        <p:spPr>
          <a:xfrm>
            <a:off x="1081143" y="2463066"/>
            <a:ext cx="5389580" cy="646331"/>
          </a:xfrm>
          <a:prstGeom prst="rect">
            <a:avLst/>
          </a:prstGeom>
          <a:noFill/>
        </p:spPr>
        <p:txBody>
          <a:bodyPr wrap="square">
            <a:spAutoFit/>
          </a:bodyPr>
          <a:lstStyle/>
          <a:p>
            <a:r>
              <a:rPr lang="en-US" b="1" dirty="0"/>
              <a:t>6-Event ID 4732:</a:t>
            </a:r>
            <a:r>
              <a:rPr lang="en-US" dirty="0"/>
              <a:t> A member was added to a security-enabled local group (e.g., Administrators)</a:t>
            </a:r>
          </a:p>
        </p:txBody>
      </p:sp>
      <p:pic>
        <p:nvPicPr>
          <p:cNvPr id="9" name="Picture 8">
            <a:extLst>
              <a:ext uri="{FF2B5EF4-FFF2-40B4-BE49-F238E27FC236}">
                <a16:creationId xmlns:a16="http://schemas.microsoft.com/office/drawing/2014/main" id="{8A982019-3CAB-12FB-873C-7E9D9926CA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3762375"/>
            <a:ext cx="10691813" cy="3408883"/>
          </a:xfrm>
          <a:prstGeom prst="rect">
            <a:avLst/>
          </a:prstGeom>
        </p:spPr>
      </p:pic>
    </p:spTree>
    <p:extLst>
      <p:ext uri="{BB962C8B-B14F-4D97-AF65-F5344CB8AC3E}">
        <p14:creationId xmlns:p14="http://schemas.microsoft.com/office/powerpoint/2010/main" val="13055193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2EF94-D069-C398-AAE7-AF00365F84AD}"/>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65DC53D1-871B-6A98-0FA6-7B28ED07B69F}"/>
              </a:ext>
            </a:extLst>
          </p:cNvPr>
          <p:cNvPicPr>
            <a:picLocks noGrp="1" noRot="1" noChangeAspect="1" noMove="1" noResize="1" noEditPoints="1" noAdjustHandles="1" noChangeArrowheads="1" noChangeShapeType="1" noCrop="1"/>
          </p:cNvPicPr>
          <p:nvPr/>
        </p:nvPicPr>
        <p:blipFill>
          <a:blip r:embed="rId2"/>
          <a:srcRect t="-9550" b="9550"/>
          <a:stretch>
            <a:fillRect/>
          </a:stretch>
        </p:blipFill>
        <p:spPr bwMode="auto">
          <a:xfrm>
            <a:off x="0" y="-809624"/>
            <a:ext cx="10691814" cy="8334374"/>
          </a:xfrm>
          <a:prstGeom prst="rect">
            <a:avLst/>
          </a:prstGeom>
          <a:noFill/>
        </p:spPr>
      </p:pic>
      <p:sp>
        <p:nvSpPr>
          <p:cNvPr id="5" name="TextBox 4">
            <a:extLst>
              <a:ext uri="{FF2B5EF4-FFF2-40B4-BE49-F238E27FC236}">
                <a16:creationId xmlns:a16="http://schemas.microsoft.com/office/drawing/2014/main" id="{A17E032A-48DE-D78A-838F-C49BFBC38FAF}"/>
              </a:ext>
            </a:extLst>
          </p:cNvPr>
          <p:cNvSpPr txBox="1"/>
          <p:nvPr/>
        </p:nvSpPr>
        <p:spPr>
          <a:xfrm>
            <a:off x="1129932" y="3002559"/>
            <a:ext cx="7745128" cy="954107"/>
          </a:xfrm>
          <a:prstGeom prst="rect">
            <a:avLst/>
          </a:prstGeom>
          <a:noFill/>
        </p:spPr>
        <p:txBody>
          <a:bodyPr wrap="square">
            <a:spAutoFit/>
          </a:bodyPr>
          <a:lstStyle/>
          <a:p>
            <a:r>
              <a:rPr lang="en-US" sz="2800" dirty="0"/>
              <a:t> Log filtering allows you to isolate </a:t>
            </a:r>
            <a:r>
              <a:rPr lang="en-US" sz="2800" b="1" dirty="0"/>
              <a:t>specific events</a:t>
            </a:r>
            <a:r>
              <a:rPr lang="en-US" sz="2800" dirty="0"/>
              <a:t> or  analyze data within </a:t>
            </a:r>
            <a:r>
              <a:rPr lang="en-US" sz="2800" b="1" dirty="0"/>
              <a:t>defined time periods</a:t>
            </a:r>
            <a:endParaRPr lang="en-US" sz="2800" dirty="0"/>
          </a:p>
        </p:txBody>
      </p:sp>
      <p:sp>
        <p:nvSpPr>
          <p:cNvPr id="2" name="TextBox 1">
            <a:extLst>
              <a:ext uri="{FF2B5EF4-FFF2-40B4-BE49-F238E27FC236}">
                <a16:creationId xmlns:a16="http://schemas.microsoft.com/office/drawing/2014/main" id="{47570350-1136-503E-A701-2F4E8AA8B632}"/>
              </a:ext>
            </a:extLst>
          </p:cNvPr>
          <p:cNvSpPr txBox="1"/>
          <p:nvPr/>
        </p:nvSpPr>
        <p:spPr>
          <a:xfrm>
            <a:off x="701108" y="3017948"/>
            <a:ext cx="514885" cy="461665"/>
          </a:xfrm>
          <a:prstGeom prst="rect">
            <a:avLst/>
          </a:prstGeom>
          <a:noFill/>
        </p:spPr>
        <p:txBody>
          <a:bodyPr wrap="none" rtlCol="0">
            <a:spAutoFit/>
          </a:bodyPr>
          <a:lstStyle/>
          <a:p>
            <a:r>
              <a:rPr lang="en-US" sz="2400" dirty="0"/>
              <a:t>&gt;&gt;</a:t>
            </a:r>
          </a:p>
        </p:txBody>
      </p:sp>
    </p:spTree>
    <p:extLst>
      <p:ext uri="{BB962C8B-B14F-4D97-AF65-F5344CB8AC3E}">
        <p14:creationId xmlns:p14="http://schemas.microsoft.com/office/powerpoint/2010/main" val="10492371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D9AE67-74FF-24F1-B15A-2E2166E67E8E}"/>
            </a:ext>
          </a:extLst>
        </p:cNvPr>
        <p:cNvGrpSpPr/>
        <p:nvPr/>
      </p:nvGrpSpPr>
      <p:grpSpPr>
        <a:xfrm>
          <a:off x="0" y="0"/>
          <a:ext cx="0" cy="0"/>
          <a:chOff x="0" y="0"/>
          <a:chExt cx="0" cy="0"/>
        </a:xfrm>
      </p:grpSpPr>
      <p:pic>
        <p:nvPicPr>
          <p:cNvPr id="1027" name="Picture 3">
            <a:extLst>
              <a:ext uri="{FF2B5EF4-FFF2-40B4-BE49-F238E27FC236}">
                <a16:creationId xmlns:a16="http://schemas.microsoft.com/office/drawing/2014/main" id="{33D22DFA-962D-C0B3-3FF8-484B47DB4D6D}"/>
              </a:ext>
            </a:extLst>
          </p:cNvPr>
          <p:cNvPicPr>
            <a:picLocks noChangeAspect="1" noChangeArrowheads="1"/>
          </p:cNvPicPr>
          <p:nvPr/>
        </p:nvPicPr>
        <p:blipFill>
          <a:blip r:embed="rId2"/>
          <a:srcRect t="-9550" b="9550"/>
          <a:stretch>
            <a:fillRect/>
          </a:stretch>
        </p:blipFill>
        <p:spPr bwMode="auto">
          <a:xfrm>
            <a:off x="-1" y="0"/>
            <a:ext cx="10691814" cy="5932170"/>
          </a:xfrm>
          <a:prstGeom prst="rect">
            <a:avLst/>
          </a:prstGeom>
          <a:noFill/>
        </p:spPr>
      </p:pic>
      <p:sp>
        <p:nvSpPr>
          <p:cNvPr id="6" name="TextBox 5">
            <a:extLst>
              <a:ext uri="{FF2B5EF4-FFF2-40B4-BE49-F238E27FC236}">
                <a16:creationId xmlns:a16="http://schemas.microsoft.com/office/drawing/2014/main" id="{B8BF5300-7A20-FC25-E466-05228B918E3F}"/>
              </a:ext>
            </a:extLst>
          </p:cNvPr>
          <p:cNvSpPr txBox="1"/>
          <p:nvPr/>
        </p:nvSpPr>
        <p:spPr>
          <a:xfrm>
            <a:off x="1798321" y="2634734"/>
            <a:ext cx="7518399" cy="1938992"/>
          </a:xfrm>
          <a:prstGeom prst="rect">
            <a:avLst/>
          </a:prstGeom>
          <a:noFill/>
        </p:spPr>
        <p:txBody>
          <a:bodyPr wrap="square">
            <a:spAutoFit/>
          </a:bodyPr>
          <a:lstStyle/>
          <a:p>
            <a:r>
              <a:rPr lang="en-US" sz="6000" b="1" dirty="0"/>
              <a:t>Attack &amp; Detection </a:t>
            </a:r>
          </a:p>
          <a:p>
            <a:r>
              <a:rPr lang="en-US" sz="6000" b="1" dirty="0"/>
              <a:t>     Documentation</a:t>
            </a:r>
          </a:p>
        </p:txBody>
      </p:sp>
      <p:sp>
        <p:nvSpPr>
          <p:cNvPr id="3" name="TextBox 2">
            <a:extLst>
              <a:ext uri="{FF2B5EF4-FFF2-40B4-BE49-F238E27FC236}">
                <a16:creationId xmlns:a16="http://schemas.microsoft.com/office/drawing/2014/main" id="{734EEBC6-8788-BB42-B25C-23C0497883E9}"/>
              </a:ext>
            </a:extLst>
          </p:cNvPr>
          <p:cNvSpPr txBox="1"/>
          <p:nvPr/>
        </p:nvSpPr>
        <p:spPr>
          <a:xfrm>
            <a:off x="4277359" y="1238637"/>
            <a:ext cx="2560321" cy="707886"/>
          </a:xfrm>
          <a:prstGeom prst="rect">
            <a:avLst/>
          </a:prstGeom>
          <a:noFill/>
        </p:spPr>
        <p:txBody>
          <a:bodyPr wrap="square">
            <a:spAutoFit/>
          </a:bodyPr>
          <a:lstStyle/>
          <a:p>
            <a:r>
              <a:rPr lang="en-US" sz="4000" b="1" dirty="0"/>
              <a:t>Week 3</a:t>
            </a:r>
          </a:p>
        </p:txBody>
      </p:sp>
    </p:spTree>
    <p:extLst>
      <p:ext uri="{BB962C8B-B14F-4D97-AF65-F5344CB8AC3E}">
        <p14:creationId xmlns:p14="http://schemas.microsoft.com/office/powerpoint/2010/main" val="17720421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1B774-260A-4679-7787-481505301FCB}"/>
            </a:ext>
          </a:extLst>
        </p:cNvPr>
        <p:cNvGrpSpPr/>
        <p:nvPr/>
      </p:nvGrpSpPr>
      <p:grpSpPr>
        <a:xfrm>
          <a:off x="0" y="0"/>
          <a:ext cx="0" cy="0"/>
          <a:chOff x="0" y="0"/>
          <a:chExt cx="0" cy="0"/>
        </a:xfrm>
      </p:grpSpPr>
      <p:pic>
        <p:nvPicPr>
          <p:cNvPr id="1027" name="Picture 3">
            <a:extLst>
              <a:ext uri="{FF2B5EF4-FFF2-40B4-BE49-F238E27FC236}">
                <a16:creationId xmlns:a16="http://schemas.microsoft.com/office/drawing/2014/main" id="{2A835A53-7FCE-3AFE-8851-C995DE3D5BF4}"/>
              </a:ext>
            </a:extLst>
          </p:cNvPr>
          <p:cNvPicPr>
            <a:picLocks noChangeAspect="1" noChangeArrowheads="1"/>
          </p:cNvPicPr>
          <p:nvPr/>
        </p:nvPicPr>
        <p:blipFill>
          <a:blip r:embed="rId2"/>
          <a:srcRect t="-9550" b="9550"/>
          <a:stretch>
            <a:fillRect/>
          </a:stretch>
        </p:blipFill>
        <p:spPr bwMode="auto">
          <a:xfrm>
            <a:off x="0" y="-225088"/>
            <a:ext cx="10691814" cy="5932170"/>
          </a:xfrm>
          <a:prstGeom prst="rect">
            <a:avLst/>
          </a:prstGeom>
          <a:noFill/>
        </p:spPr>
      </p:pic>
      <p:sp>
        <p:nvSpPr>
          <p:cNvPr id="9" name="TextBox 8">
            <a:extLst>
              <a:ext uri="{FF2B5EF4-FFF2-40B4-BE49-F238E27FC236}">
                <a16:creationId xmlns:a16="http://schemas.microsoft.com/office/drawing/2014/main" id="{DF885D34-62B5-2DD9-3363-C5D917BF0205}"/>
              </a:ext>
            </a:extLst>
          </p:cNvPr>
          <p:cNvSpPr txBox="1"/>
          <p:nvPr/>
        </p:nvSpPr>
        <p:spPr>
          <a:xfrm>
            <a:off x="2540000" y="699185"/>
            <a:ext cx="6309360" cy="523220"/>
          </a:xfrm>
          <a:prstGeom prst="rect">
            <a:avLst/>
          </a:prstGeom>
          <a:noFill/>
        </p:spPr>
        <p:txBody>
          <a:bodyPr wrap="square">
            <a:spAutoFit/>
          </a:bodyPr>
          <a:lstStyle/>
          <a:p>
            <a:r>
              <a:rPr lang="en-US" sz="2800" dirty="0"/>
              <a:t>Attack &amp; Detection Documentation</a:t>
            </a:r>
          </a:p>
        </p:txBody>
      </p:sp>
      <p:sp>
        <p:nvSpPr>
          <p:cNvPr id="11" name="TextBox 10">
            <a:extLst>
              <a:ext uri="{FF2B5EF4-FFF2-40B4-BE49-F238E27FC236}">
                <a16:creationId xmlns:a16="http://schemas.microsoft.com/office/drawing/2014/main" id="{7C1553FE-2C25-C330-E598-AA5BC3A7EAA2}"/>
              </a:ext>
            </a:extLst>
          </p:cNvPr>
          <p:cNvSpPr txBox="1"/>
          <p:nvPr/>
        </p:nvSpPr>
        <p:spPr>
          <a:xfrm>
            <a:off x="751840" y="1983742"/>
            <a:ext cx="8097520" cy="369332"/>
          </a:xfrm>
          <a:prstGeom prst="rect">
            <a:avLst/>
          </a:prstGeom>
          <a:noFill/>
        </p:spPr>
        <p:txBody>
          <a:bodyPr wrap="square">
            <a:spAutoFit/>
          </a:bodyPr>
          <a:lstStyle/>
          <a:p>
            <a:r>
              <a:rPr lang="en-US" dirty="0"/>
              <a:t>• </a:t>
            </a:r>
            <a:r>
              <a:rPr lang="en-US" b="1" dirty="0"/>
              <a:t>Target Machine (Victim):</a:t>
            </a:r>
            <a:r>
              <a:rPr lang="en-US" dirty="0"/>
              <a:t> Windows 11 VM (Host Name: </a:t>
            </a:r>
            <a:r>
              <a:rPr lang="en-US" dirty="0" err="1">
                <a:latin typeface="Courier New" panose="02070309020205020404" pitchFamily="49" charset="0"/>
              </a:rPr>
              <a:t>asus</a:t>
            </a:r>
            <a:r>
              <a:rPr lang="en-US" dirty="0"/>
              <a:t>)</a:t>
            </a:r>
          </a:p>
        </p:txBody>
      </p:sp>
      <p:sp>
        <p:nvSpPr>
          <p:cNvPr id="13" name="TextBox 12">
            <a:extLst>
              <a:ext uri="{FF2B5EF4-FFF2-40B4-BE49-F238E27FC236}">
                <a16:creationId xmlns:a16="http://schemas.microsoft.com/office/drawing/2014/main" id="{510DAFA9-70EA-F945-09DB-FB0594A18484}"/>
              </a:ext>
            </a:extLst>
          </p:cNvPr>
          <p:cNvSpPr txBox="1"/>
          <p:nvPr/>
        </p:nvSpPr>
        <p:spPr>
          <a:xfrm>
            <a:off x="751840" y="1669624"/>
            <a:ext cx="8900160" cy="369332"/>
          </a:xfrm>
          <a:prstGeom prst="rect">
            <a:avLst/>
          </a:prstGeom>
          <a:noFill/>
        </p:spPr>
        <p:txBody>
          <a:bodyPr wrap="square">
            <a:spAutoFit/>
          </a:bodyPr>
          <a:lstStyle/>
          <a:p>
            <a:r>
              <a:rPr lang="en-US" dirty="0"/>
              <a:t>• </a:t>
            </a:r>
            <a:r>
              <a:rPr lang="en-US" b="1" dirty="0"/>
              <a:t>Tool Used:</a:t>
            </a:r>
            <a:r>
              <a:rPr lang="en-US" dirty="0"/>
              <a:t> Atomic Red Team (ART)/ Command Prompt (Manual Execution)</a:t>
            </a:r>
          </a:p>
        </p:txBody>
      </p:sp>
      <p:sp>
        <p:nvSpPr>
          <p:cNvPr id="15" name="TextBox 14">
            <a:extLst>
              <a:ext uri="{FF2B5EF4-FFF2-40B4-BE49-F238E27FC236}">
                <a16:creationId xmlns:a16="http://schemas.microsoft.com/office/drawing/2014/main" id="{14E2A5FC-6FA1-6949-AF5C-F7E005B46AE2}"/>
              </a:ext>
            </a:extLst>
          </p:cNvPr>
          <p:cNvSpPr txBox="1"/>
          <p:nvPr/>
        </p:nvSpPr>
        <p:spPr>
          <a:xfrm>
            <a:off x="751840" y="2364569"/>
            <a:ext cx="5425440" cy="369332"/>
          </a:xfrm>
          <a:prstGeom prst="rect">
            <a:avLst/>
          </a:prstGeom>
          <a:noFill/>
        </p:spPr>
        <p:txBody>
          <a:bodyPr wrap="square">
            <a:spAutoFit/>
          </a:bodyPr>
          <a:lstStyle/>
          <a:p>
            <a:r>
              <a:rPr lang="en-US" dirty="0"/>
              <a:t>• </a:t>
            </a:r>
            <a:r>
              <a:rPr lang="en-US" b="1" dirty="0"/>
              <a:t>MITRE ATT&amp;CK Tactic:</a:t>
            </a:r>
            <a:r>
              <a:rPr lang="en-US" dirty="0"/>
              <a:t> </a:t>
            </a:r>
            <a:r>
              <a:rPr lang="en-US" b="1" dirty="0"/>
              <a:t>Persistence</a:t>
            </a:r>
            <a:endParaRPr lang="en-US" dirty="0"/>
          </a:p>
        </p:txBody>
      </p:sp>
      <p:sp>
        <p:nvSpPr>
          <p:cNvPr id="17" name="TextBox 16">
            <a:extLst>
              <a:ext uri="{FF2B5EF4-FFF2-40B4-BE49-F238E27FC236}">
                <a16:creationId xmlns:a16="http://schemas.microsoft.com/office/drawing/2014/main" id="{54674873-0D4A-0ED7-DE5E-CC1AC9DF842E}"/>
              </a:ext>
            </a:extLst>
          </p:cNvPr>
          <p:cNvSpPr txBox="1"/>
          <p:nvPr/>
        </p:nvSpPr>
        <p:spPr>
          <a:xfrm>
            <a:off x="751840" y="2690181"/>
            <a:ext cx="9296400" cy="369332"/>
          </a:xfrm>
          <a:prstGeom prst="rect">
            <a:avLst/>
          </a:prstGeom>
          <a:noFill/>
        </p:spPr>
        <p:txBody>
          <a:bodyPr wrap="square">
            <a:spAutoFit/>
          </a:bodyPr>
          <a:lstStyle/>
          <a:p>
            <a:r>
              <a:rPr lang="en-US" dirty="0"/>
              <a:t>• </a:t>
            </a:r>
            <a:r>
              <a:rPr lang="en-US" b="1" dirty="0"/>
              <a:t>MITRE ATT&amp;CK Technique:</a:t>
            </a:r>
            <a:r>
              <a:rPr lang="en-US" dirty="0"/>
              <a:t> </a:t>
            </a:r>
            <a:r>
              <a:rPr lang="en-US" b="1" dirty="0"/>
              <a:t>Create Account: Local Account (T1136.001)</a:t>
            </a:r>
            <a:endParaRPr lang="en-US" dirty="0"/>
          </a:p>
        </p:txBody>
      </p:sp>
      <p:sp>
        <p:nvSpPr>
          <p:cNvPr id="19" name="TextBox 18">
            <a:extLst>
              <a:ext uri="{FF2B5EF4-FFF2-40B4-BE49-F238E27FC236}">
                <a16:creationId xmlns:a16="http://schemas.microsoft.com/office/drawing/2014/main" id="{1D5FBC4D-A952-CF61-4CFE-123D3C57A344}"/>
              </a:ext>
            </a:extLst>
          </p:cNvPr>
          <p:cNvSpPr txBox="1"/>
          <p:nvPr/>
        </p:nvSpPr>
        <p:spPr>
          <a:xfrm>
            <a:off x="751840" y="3059513"/>
            <a:ext cx="8554720" cy="646331"/>
          </a:xfrm>
          <a:prstGeom prst="rect">
            <a:avLst/>
          </a:prstGeom>
          <a:noFill/>
        </p:spPr>
        <p:txBody>
          <a:bodyPr wrap="square">
            <a:spAutoFit/>
          </a:bodyPr>
          <a:lstStyle/>
          <a:p>
            <a:r>
              <a:rPr lang="en-US" dirty="0"/>
              <a:t>• </a:t>
            </a:r>
            <a:r>
              <a:rPr lang="en-US" b="1" dirty="0"/>
              <a:t>Simulation Mechanism:</a:t>
            </a:r>
            <a:r>
              <a:rPr lang="en-US" dirty="0"/>
              <a:t> Self-Simulation (The host executes the technique locally to simulate a compromised scenario).</a:t>
            </a:r>
          </a:p>
        </p:txBody>
      </p:sp>
      <p:sp>
        <p:nvSpPr>
          <p:cNvPr id="21" name="TextBox 20">
            <a:extLst>
              <a:ext uri="{FF2B5EF4-FFF2-40B4-BE49-F238E27FC236}">
                <a16:creationId xmlns:a16="http://schemas.microsoft.com/office/drawing/2014/main" id="{BB1F6BAC-D03C-C8CE-E721-5B576D65D0F2}"/>
              </a:ext>
            </a:extLst>
          </p:cNvPr>
          <p:cNvSpPr txBox="1"/>
          <p:nvPr/>
        </p:nvSpPr>
        <p:spPr>
          <a:xfrm>
            <a:off x="518160" y="3882405"/>
            <a:ext cx="9946640" cy="1477328"/>
          </a:xfrm>
          <a:prstGeom prst="rect">
            <a:avLst/>
          </a:prstGeom>
          <a:noFill/>
        </p:spPr>
        <p:txBody>
          <a:bodyPr wrap="square">
            <a:spAutoFit/>
          </a:bodyPr>
          <a:lstStyle/>
          <a:p>
            <a:pPr>
              <a:buNone/>
            </a:pPr>
            <a:r>
              <a:rPr lang="en-US" b="1" dirty="0"/>
              <a:t>Attack Scenario Description</a:t>
            </a:r>
          </a:p>
          <a:p>
            <a:pPr>
              <a:buNone/>
            </a:pPr>
            <a:r>
              <a:rPr lang="en-US" dirty="0"/>
              <a:t>This test simulates a post-compromise activity where an attacker creates a new local user account on the system. This ensures the attacker maintains a "backdoor" for persistent access to the victim's environment, allowing them to log back in even if the primary vulnerability or access vector is patched.</a:t>
            </a:r>
          </a:p>
        </p:txBody>
      </p:sp>
      <p:sp>
        <p:nvSpPr>
          <p:cNvPr id="23" name="TextBox 22">
            <a:extLst>
              <a:ext uri="{FF2B5EF4-FFF2-40B4-BE49-F238E27FC236}">
                <a16:creationId xmlns:a16="http://schemas.microsoft.com/office/drawing/2014/main" id="{23182CDF-8255-A0D0-0B2C-EC41DF411A3F}"/>
              </a:ext>
            </a:extLst>
          </p:cNvPr>
          <p:cNvSpPr txBox="1"/>
          <p:nvPr/>
        </p:nvSpPr>
        <p:spPr>
          <a:xfrm>
            <a:off x="518160" y="5707082"/>
            <a:ext cx="9682480" cy="1508105"/>
          </a:xfrm>
          <a:prstGeom prst="rect">
            <a:avLst/>
          </a:prstGeom>
          <a:noFill/>
        </p:spPr>
        <p:txBody>
          <a:bodyPr wrap="square">
            <a:spAutoFit/>
          </a:bodyPr>
          <a:lstStyle/>
          <a:p>
            <a:r>
              <a:rPr lang="en-US" sz="2000" b="1" dirty="0"/>
              <a:t>SIEM Rule Deployment</a:t>
            </a:r>
            <a:endParaRPr lang="ar-EG" sz="2000" b="1" dirty="0"/>
          </a:p>
          <a:p>
            <a:endParaRPr lang="ar-EG" dirty="0"/>
          </a:p>
          <a:p>
            <a:r>
              <a:rPr lang="en-US" dirty="0"/>
              <a:t>• </a:t>
            </a:r>
            <a:r>
              <a:rPr lang="en-US" b="1" dirty="0"/>
              <a:t>Rule Name:</a:t>
            </a:r>
            <a:r>
              <a:rPr lang="en-US" dirty="0"/>
              <a:t> Persistence - Unauthorized Local Admin Account Created</a:t>
            </a:r>
            <a:endParaRPr lang="ar-EG" dirty="0"/>
          </a:p>
          <a:p>
            <a:r>
              <a:rPr lang="en-US" dirty="0"/>
              <a:t>• </a:t>
            </a:r>
            <a:r>
              <a:rPr lang="en-US" b="1" dirty="0"/>
              <a:t>Severity:</a:t>
            </a:r>
            <a:r>
              <a:rPr lang="en-US" dirty="0"/>
              <a:t> Medium </a:t>
            </a:r>
          </a:p>
          <a:p>
            <a:r>
              <a:rPr lang="en-US" dirty="0"/>
              <a:t>•</a:t>
            </a:r>
            <a:r>
              <a:rPr lang="en-US" b="1" dirty="0"/>
              <a:t> Detection Logic (Event ID):</a:t>
            </a:r>
            <a:r>
              <a:rPr lang="en-US" dirty="0"/>
              <a:t> 4720</a:t>
            </a:r>
          </a:p>
        </p:txBody>
      </p:sp>
      <p:sp>
        <p:nvSpPr>
          <p:cNvPr id="24" name="TextBox 23">
            <a:extLst>
              <a:ext uri="{FF2B5EF4-FFF2-40B4-BE49-F238E27FC236}">
                <a16:creationId xmlns:a16="http://schemas.microsoft.com/office/drawing/2014/main" id="{DCE3A588-5DC1-F7AF-F778-ECC46C2C3A00}"/>
              </a:ext>
            </a:extLst>
          </p:cNvPr>
          <p:cNvSpPr txBox="1"/>
          <p:nvPr/>
        </p:nvSpPr>
        <p:spPr>
          <a:xfrm>
            <a:off x="518160" y="1306763"/>
            <a:ext cx="4254050" cy="400110"/>
          </a:xfrm>
          <a:prstGeom prst="rect">
            <a:avLst/>
          </a:prstGeom>
          <a:noFill/>
        </p:spPr>
        <p:txBody>
          <a:bodyPr wrap="none" rtlCol="0">
            <a:spAutoFit/>
          </a:bodyPr>
          <a:lstStyle/>
          <a:p>
            <a:r>
              <a:rPr lang="en-US" sz="2000" b="1" dirty="0">
                <a:solidFill>
                  <a:srgbClr val="FF0000"/>
                </a:solidFill>
              </a:rPr>
              <a:t>Use Case 1: </a:t>
            </a:r>
            <a:r>
              <a:rPr lang="en-US" sz="2000" b="1" dirty="0"/>
              <a:t>Create account attack </a:t>
            </a:r>
          </a:p>
        </p:txBody>
      </p:sp>
    </p:spTree>
    <p:extLst>
      <p:ext uri="{BB962C8B-B14F-4D97-AF65-F5344CB8AC3E}">
        <p14:creationId xmlns:p14="http://schemas.microsoft.com/office/powerpoint/2010/main" val="25536432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7E01A0-835C-76D4-DC35-86E24FF9C844}"/>
            </a:ext>
          </a:extLst>
        </p:cNvPr>
        <p:cNvGrpSpPr/>
        <p:nvPr/>
      </p:nvGrpSpPr>
      <p:grpSpPr>
        <a:xfrm>
          <a:off x="0" y="0"/>
          <a:ext cx="0" cy="0"/>
          <a:chOff x="0" y="0"/>
          <a:chExt cx="0" cy="0"/>
        </a:xfrm>
      </p:grpSpPr>
      <p:pic>
        <p:nvPicPr>
          <p:cNvPr id="1027" name="Picture 3">
            <a:extLst>
              <a:ext uri="{FF2B5EF4-FFF2-40B4-BE49-F238E27FC236}">
                <a16:creationId xmlns:a16="http://schemas.microsoft.com/office/drawing/2014/main" id="{BD5F158B-3027-2879-47EA-B1FF62D7BE4C}"/>
              </a:ext>
            </a:extLst>
          </p:cNvPr>
          <p:cNvPicPr>
            <a:picLocks noChangeAspect="1" noChangeArrowheads="1"/>
          </p:cNvPicPr>
          <p:nvPr/>
        </p:nvPicPr>
        <p:blipFill>
          <a:blip r:embed="rId2"/>
          <a:srcRect t="-9550" b="9550"/>
          <a:stretch>
            <a:fillRect/>
          </a:stretch>
        </p:blipFill>
        <p:spPr bwMode="auto">
          <a:xfrm>
            <a:off x="0" y="-348836"/>
            <a:ext cx="10691814" cy="5932170"/>
          </a:xfrm>
          <a:prstGeom prst="rect">
            <a:avLst/>
          </a:prstGeom>
          <a:noFill/>
        </p:spPr>
      </p:pic>
      <p:pic>
        <p:nvPicPr>
          <p:cNvPr id="7" name="Picture 6">
            <a:extLst>
              <a:ext uri="{FF2B5EF4-FFF2-40B4-BE49-F238E27FC236}">
                <a16:creationId xmlns:a16="http://schemas.microsoft.com/office/drawing/2014/main" id="{09CE795B-A771-3A5C-64CA-51957037C6CB}"/>
              </a:ext>
            </a:extLst>
          </p:cNvPr>
          <p:cNvPicPr>
            <a:picLocks noChangeAspect="1"/>
          </p:cNvPicPr>
          <p:nvPr/>
        </p:nvPicPr>
        <p:blipFill>
          <a:blip r:embed="rId3"/>
          <a:stretch>
            <a:fillRect/>
          </a:stretch>
        </p:blipFill>
        <p:spPr>
          <a:xfrm>
            <a:off x="-1" y="2879795"/>
            <a:ext cx="10691813" cy="4411541"/>
          </a:xfrm>
          <a:prstGeom prst="rect">
            <a:avLst/>
          </a:prstGeom>
        </p:spPr>
      </p:pic>
      <p:pic>
        <p:nvPicPr>
          <p:cNvPr id="9" name="Picture 8">
            <a:extLst>
              <a:ext uri="{FF2B5EF4-FFF2-40B4-BE49-F238E27FC236}">
                <a16:creationId xmlns:a16="http://schemas.microsoft.com/office/drawing/2014/main" id="{35C18B70-47F0-F7C3-11CE-7E1A43BFC82E}"/>
              </a:ext>
            </a:extLst>
          </p:cNvPr>
          <p:cNvPicPr>
            <a:picLocks noChangeAspect="1"/>
          </p:cNvPicPr>
          <p:nvPr/>
        </p:nvPicPr>
        <p:blipFill>
          <a:blip r:embed="rId4"/>
          <a:stretch>
            <a:fillRect/>
          </a:stretch>
        </p:blipFill>
        <p:spPr>
          <a:xfrm>
            <a:off x="0" y="1805129"/>
            <a:ext cx="10691813" cy="571904"/>
          </a:xfrm>
          <a:prstGeom prst="rect">
            <a:avLst/>
          </a:prstGeom>
        </p:spPr>
      </p:pic>
      <p:sp>
        <p:nvSpPr>
          <p:cNvPr id="11" name="TextBox 10">
            <a:extLst>
              <a:ext uri="{FF2B5EF4-FFF2-40B4-BE49-F238E27FC236}">
                <a16:creationId xmlns:a16="http://schemas.microsoft.com/office/drawing/2014/main" id="{1AB7A8FF-2CF2-0A5D-1F2C-626AAC66F71E}"/>
              </a:ext>
            </a:extLst>
          </p:cNvPr>
          <p:cNvSpPr txBox="1"/>
          <p:nvPr/>
        </p:nvSpPr>
        <p:spPr>
          <a:xfrm>
            <a:off x="3426861" y="1184416"/>
            <a:ext cx="5344160" cy="369332"/>
          </a:xfrm>
          <a:prstGeom prst="rect">
            <a:avLst/>
          </a:prstGeom>
          <a:noFill/>
        </p:spPr>
        <p:txBody>
          <a:bodyPr wrap="square">
            <a:spAutoFit/>
          </a:bodyPr>
          <a:lstStyle/>
          <a:p>
            <a:r>
              <a:rPr lang="en-US" dirty="0" err="1">
                <a:latin typeface="Courier New" panose="02070309020205020404" pitchFamily="49" charset="0"/>
              </a:rPr>
              <a:t>event_id</a:t>
            </a:r>
            <a:r>
              <a:rPr lang="en-US" dirty="0">
                <a:latin typeface="Courier New" panose="02070309020205020404" pitchFamily="49" charset="0"/>
              </a:rPr>
              <a:t>: 4720</a:t>
            </a:r>
            <a:r>
              <a:rPr lang="en-US" dirty="0"/>
              <a:t> (</a:t>
            </a:r>
            <a:r>
              <a:rPr lang="en-US" dirty="0" err="1"/>
              <a:t>إنشاء</a:t>
            </a:r>
            <a:r>
              <a:rPr lang="en-US" dirty="0"/>
              <a:t> </a:t>
            </a:r>
            <a:r>
              <a:rPr lang="en-US" dirty="0" err="1"/>
              <a:t>الحساب</a:t>
            </a:r>
            <a:r>
              <a:rPr lang="en-US" dirty="0"/>
              <a:t>).</a:t>
            </a:r>
          </a:p>
        </p:txBody>
      </p:sp>
      <p:sp>
        <p:nvSpPr>
          <p:cNvPr id="13" name="TextBox 12">
            <a:extLst>
              <a:ext uri="{FF2B5EF4-FFF2-40B4-BE49-F238E27FC236}">
                <a16:creationId xmlns:a16="http://schemas.microsoft.com/office/drawing/2014/main" id="{6D8E204D-F5D0-6D87-3871-C4433CC3F2F5}"/>
              </a:ext>
            </a:extLst>
          </p:cNvPr>
          <p:cNvSpPr txBox="1"/>
          <p:nvPr/>
        </p:nvSpPr>
        <p:spPr>
          <a:xfrm>
            <a:off x="1625533" y="563703"/>
            <a:ext cx="5432610" cy="400110"/>
          </a:xfrm>
          <a:prstGeom prst="rect">
            <a:avLst/>
          </a:prstGeom>
          <a:noFill/>
        </p:spPr>
        <p:txBody>
          <a:bodyPr wrap="square">
            <a:spAutoFit/>
          </a:bodyPr>
          <a:lstStyle/>
          <a:p>
            <a:r>
              <a:rPr lang="en-US" sz="2000" b="1" dirty="0"/>
              <a:t>&gt;&gt; Create  unknown user account </a:t>
            </a:r>
          </a:p>
        </p:txBody>
      </p:sp>
    </p:spTree>
    <p:extLst>
      <p:ext uri="{BB962C8B-B14F-4D97-AF65-F5344CB8AC3E}">
        <p14:creationId xmlns:p14="http://schemas.microsoft.com/office/powerpoint/2010/main" val="19196420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08B712-CA4C-72E0-0F2A-DE4B6B0453E8}"/>
            </a:ext>
          </a:extLst>
        </p:cNvPr>
        <p:cNvGrpSpPr/>
        <p:nvPr/>
      </p:nvGrpSpPr>
      <p:grpSpPr>
        <a:xfrm>
          <a:off x="0" y="0"/>
          <a:ext cx="0" cy="0"/>
          <a:chOff x="0" y="0"/>
          <a:chExt cx="0" cy="0"/>
        </a:xfrm>
      </p:grpSpPr>
      <p:pic>
        <p:nvPicPr>
          <p:cNvPr id="1027" name="Picture 3">
            <a:extLst>
              <a:ext uri="{FF2B5EF4-FFF2-40B4-BE49-F238E27FC236}">
                <a16:creationId xmlns:a16="http://schemas.microsoft.com/office/drawing/2014/main" id="{CD30CEC7-CAB9-2A27-FE8B-4139D1F50611}"/>
              </a:ext>
            </a:extLst>
          </p:cNvPr>
          <p:cNvPicPr>
            <a:picLocks noChangeAspect="1" noChangeArrowheads="1"/>
          </p:cNvPicPr>
          <p:nvPr/>
        </p:nvPicPr>
        <p:blipFill>
          <a:blip r:embed="rId2"/>
          <a:srcRect t="-9550" b="9550"/>
          <a:stretch>
            <a:fillRect/>
          </a:stretch>
        </p:blipFill>
        <p:spPr bwMode="auto">
          <a:xfrm>
            <a:off x="-1" y="0"/>
            <a:ext cx="10691814" cy="5932170"/>
          </a:xfrm>
          <a:prstGeom prst="rect">
            <a:avLst/>
          </a:prstGeom>
          <a:noFill/>
        </p:spPr>
      </p:pic>
      <p:sp>
        <p:nvSpPr>
          <p:cNvPr id="10" name="TextBox 9">
            <a:extLst>
              <a:ext uri="{FF2B5EF4-FFF2-40B4-BE49-F238E27FC236}">
                <a16:creationId xmlns:a16="http://schemas.microsoft.com/office/drawing/2014/main" id="{3F10562D-47B9-E442-8937-AE90E1B167EF}"/>
              </a:ext>
            </a:extLst>
          </p:cNvPr>
          <p:cNvSpPr txBox="1"/>
          <p:nvPr/>
        </p:nvSpPr>
        <p:spPr>
          <a:xfrm>
            <a:off x="624840" y="2934135"/>
            <a:ext cx="1841017" cy="369332"/>
          </a:xfrm>
          <a:prstGeom prst="rect">
            <a:avLst/>
          </a:prstGeom>
          <a:noFill/>
        </p:spPr>
        <p:txBody>
          <a:bodyPr wrap="none" rtlCol="0">
            <a:spAutoFit/>
          </a:bodyPr>
          <a:lstStyle/>
          <a:p>
            <a:r>
              <a:rPr lang="en-US" dirty="0"/>
              <a:t>1- @ CMD write :</a:t>
            </a:r>
          </a:p>
        </p:txBody>
      </p:sp>
      <p:sp>
        <p:nvSpPr>
          <p:cNvPr id="12" name="TextBox 11">
            <a:extLst>
              <a:ext uri="{FF2B5EF4-FFF2-40B4-BE49-F238E27FC236}">
                <a16:creationId xmlns:a16="http://schemas.microsoft.com/office/drawing/2014/main" id="{626EA340-6CD1-7C9E-AB61-56D08779788E}"/>
              </a:ext>
            </a:extLst>
          </p:cNvPr>
          <p:cNvSpPr txBox="1"/>
          <p:nvPr/>
        </p:nvSpPr>
        <p:spPr>
          <a:xfrm>
            <a:off x="624840" y="3577709"/>
            <a:ext cx="2055819" cy="369332"/>
          </a:xfrm>
          <a:prstGeom prst="rect">
            <a:avLst/>
          </a:prstGeom>
          <a:noFill/>
        </p:spPr>
        <p:txBody>
          <a:bodyPr wrap="none" rtlCol="0">
            <a:spAutoFit/>
          </a:bodyPr>
          <a:lstStyle/>
          <a:p>
            <a:r>
              <a:rPr lang="en-US" dirty="0"/>
              <a:t>2- Then click Enter </a:t>
            </a:r>
          </a:p>
        </p:txBody>
      </p:sp>
      <p:sp>
        <p:nvSpPr>
          <p:cNvPr id="16" name="TextBox 15">
            <a:extLst>
              <a:ext uri="{FF2B5EF4-FFF2-40B4-BE49-F238E27FC236}">
                <a16:creationId xmlns:a16="http://schemas.microsoft.com/office/drawing/2014/main" id="{8522A958-AC03-0E89-2859-FA7020466FF9}"/>
              </a:ext>
            </a:extLst>
          </p:cNvPr>
          <p:cNvSpPr txBox="1"/>
          <p:nvPr/>
        </p:nvSpPr>
        <p:spPr>
          <a:xfrm>
            <a:off x="1877849" y="1592580"/>
            <a:ext cx="7455439" cy="461665"/>
          </a:xfrm>
          <a:prstGeom prst="rect">
            <a:avLst/>
          </a:prstGeom>
          <a:noFill/>
        </p:spPr>
        <p:txBody>
          <a:bodyPr wrap="none" rtlCol="0">
            <a:spAutoFit/>
          </a:bodyPr>
          <a:lstStyle/>
          <a:p>
            <a:r>
              <a:rPr lang="en-US" sz="2400" b="1" dirty="0"/>
              <a:t>Simulate Create  unknown user account  using CMD </a:t>
            </a:r>
          </a:p>
        </p:txBody>
      </p:sp>
      <p:pic>
        <p:nvPicPr>
          <p:cNvPr id="3" name="Picture 2">
            <a:extLst>
              <a:ext uri="{FF2B5EF4-FFF2-40B4-BE49-F238E27FC236}">
                <a16:creationId xmlns:a16="http://schemas.microsoft.com/office/drawing/2014/main" id="{BD8B0C8D-A530-8AB4-9ADB-B1AF7E628F65}"/>
              </a:ext>
            </a:extLst>
          </p:cNvPr>
          <p:cNvPicPr>
            <a:picLocks noChangeAspect="1"/>
          </p:cNvPicPr>
          <p:nvPr/>
        </p:nvPicPr>
        <p:blipFill>
          <a:blip r:embed="rId3"/>
          <a:stretch>
            <a:fillRect/>
          </a:stretch>
        </p:blipFill>
        <p:spPr>
          <a:xfrm>
            <a:off x="2465857" y="2876710"/>
            <a:ext cx="3139712" cy="426757"/>
          </a:xfrm>
          <a:prstGeom prst="rect">
            <a:avLst/>
          </a:prstGeom>
        </p:spPr>
      </p:pic>
    </p:spTree>
    <p:extLst>
      <p:ext uri="{BB962C8B-B14F-4D97-AF65-F5344CB8AC3E}">
        <p14:creationId xmlns:p14="http://schemas.microsoft.com/office/powerpoint/2010/main" val="35768579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065EF4-8564-529E-2A5C-D6AFF79D2F99}"/>
            </a:ext>
          </a:extLst>
        </p:cNvPr>
        <p:cNvGrpSpPr/>
        <p:nvPr/>
      </p:nvGrpSpPr>
      <p:grpSpPr>
        <a:xfrm>
          <a:off x="0" y="0"/>
          <a:ext cx="0" cy="0"/>
          <a:chOff x="0" y="0"/>
          <a:chExt cx="0" cy="0"/>
        </a:xfrm>
      </p:grpSpPr>
      <p:pic>
        <p:nvPicPr>
          <p:cNvPr id="1027" name="Picture 3">
            <a:extLst>
              <a:ext uri="{FF2B5EF4-FFF2-40B4-BE49-F238E27FC236}">
                <a16:creationId xmlns:a16="http://schemas.microsoft.com/office/drawing/2014/main" id="{62860587-99D4-4488-3123-0D6D0C7B3124}"/>
              </a:ext>
            </a:extLst>
          </p:cNvPr>
          <p:cNvPicPr>
            <a:picLocks noChangeAspect="1" noChangeArrowheads="1"/>
          </p:cNvPicPr>
          <p:nvPr/>
        </p:nvPicPr>
        <p:blipFill>
          <a:blip r:embed="rId2"/>
          <a:srcRect t="-9550" b="9550"/>
          <a:stretch>
            <a:fillRect/>
          </a:stretch>
        </p:blipFill>
        <p:spPr bwMode="auto">
          <a:xfrm>
            <a:off x="-1" y="0"/>
            <a:ext cx="10691814" cy="5932170"/>
          </a:xfrm>
          <a:prstGeom prst="rect">
            <a:avLst/>
          </a:prstGeom>
          <a:noFill/>
        </p:spPr>
      </p:pic>
      <p:sp>
        <p:nvSpPr>
          <p:cNvPr id="3" name="TextBox 2">
            <a:extLst>
              <a:ext uri="{FF2B5EF4-FFF2-40B4-BE49-F238E27FC236}">
                <a16:creationId xmlns:a16="http://schemas.microsoft.com/office/drawing/2014/main" id="{2CC2BCAB-FC32-6C6B-7831-3F278780F42D}"/>
              </a:ext>
            </a:extLst>
          </p:cNvPr>
          <p:cNvSpPr txBox="1"/>
          <p:nvPr/>
        </p:nvSpPr>
        <p:spPr>
          <a:xfrm>
            <a:off x="877729" y="1744980"/>
            <a:ext cx="5344160" cy="461665"/>
          </a:xfrm>
          <a:prstGeom prst="rect">
            <a:avLst/>
          </a:prstGeom>
          <a:noFill/>
        </p:spPr>
        <p:txBody>
          <a:bodyPr wrap="square">
            <a:spAutoFit/>
          </a:bodyPr>
          <a:lstStyle/>
          <a:p>
            <a:r>
              <a:rPr lang="en-US" sz="2400" dirty="0"/>
              <a:t>Alert Triage</a:t>
            </a:r>
            <a:r>
              <a:rPr lang="ar-EG" sz="2400" dirty="0"/>
              <a:t>: </a:t>
            </a:r>
            <a:endParaRPr lang="en-US" sz="2400" dirty="0"/>
          </a:p>
        </p:txBody>
      </p:sp>
      <p:graphicFrame>
        <p:nvGraphicFramePr>
          <p:cNvPr id="6" name="Table 5">
            <a:extLst>
              <a:ext uri="{FF2B5EF4-FFF2-40B4-BE49-F238E27FC236}">
                <a16:creationId xmlns:a16="http://schemas.microsoft.com/office/drawing/2014/main" id="{A4DCF1F7-9892-53D2-5466-732375A7A9B2}"/>
              </a:ext>
            </a:extLst>
          </p:cNvPr>
          <p:cNvGraphicFramePr>
            <a:graphicFrameLocks noGrp="1"/>
          </p:cNvGraphicFramePr>
          <p:nvPr/>
        </p:nvGraphicFramePr>
        <p:xfrm>
          <a:off x="877728" y="2713374"/>
          <a:ext cx="7748112" cy="3565506"/>
        </p:xfrm>
        <a:graphic>
          <a:graphicData uri="http://schemas.openxmlformats.org/drawingml/2006/table">
            <a:tbl>
              <a:tblPr bandRow="1">
                <a:tableStyleId>{00A15C55-8517-42AA-B614-E9B94910E393}</a:tableStyleId>
              </a:tblPr>
              <a:tblGrid>
                <a:gridCol w="2846669">
                  <a:extLst>
                    <a:ext uri="{9D8B030D-6E8A-4147-A177-3AD203B41FA5}">
                      <a16:colId xmlns:a16="http://schemas.microsoft.com/office/drawing/2014/main" val="4042349364"/>
                    </a:ext>
                  </a:extLst>
                </a:gridCol>
                <a:gridCol w="4901443">
                  <a:extLst>
                    <a:ext uri="{9D8B030D-6E8A-4147-A177-3AD203B41FA5}">
                      <a16:colId xmlns:a16="http://schemas.microsoft.com/office/drawing/2014/main" val="3664509633"/>
                    </a:ext>
                  </a:extLst>
                </a:gridCol>
              </a:tblGrid>
              <a:tr h="594251">
                <a:tc>
                  <a:txBody>
                    <a:bodyPr/>
                    <a:lstStyle/>
                    <a:p>
                      <a:pPr algn="ctr"/>
                      <a:r>
                        <a:rPr lang="en-US" dirty="0"/>
                        <a:t>Alert Name</a:t>
                      </a:r>
                    </a:p>
                  </a:txBody>
                  <a:tcPr/>
                </a:tc>
                <a:tc>
                  <a:txBody>
                    <a:bodyPr/>
                    <a:lstStyle/>
                    <a:p>
                      <a:r>
                        <a:rPr lang="en-US" dirty="0"/>
                        <a:t>Create new user </a:t>
                      </a:r>
                    </a:p>
                  </a:txBody>
                  <a:tcPr/>
                </a:tc>
                <a:extLst>
                  <a:ext uri="{0D108BD9-81ED-4DB2-BD59-A6C34878D82A}">
                    <a16:rowId xmlns:a16="http://schemas.microsoft.com/office/drawing/2014/main" val="3064936987"/>
                  </a:ext>
                </a:extLst>
              </a:tr>
              <a:tr h="594251">
                <a:tc>
                  <a:txBody>
                    <a:bodyPr/>
                    <a:lstStyle/>
                    <a:p>
                      <a:pPr algn="ctr"/>
                      <a:r>
                        <a:rPr lang="en-US" dirty="0"/>
                        <a:t>Severity</a:t>
                      </a:r>
                    </a:p>
                  </a:txBody>
                  <a:tcPr/>
                </a:tc>
                <a:tc>
                  <a:txBody>
                    <a:bodyPr/>
                    <a:lstStyle/>
                    <a:p>
                      <a:r>
                        <a:rPr lang="en-US" dirty="0"/>
                        <a:t>medium</a:t>
                      </a:r>
                    </a:p>
                  </a:txBody>
                  <a:tcPr/>
                </a:tc>
                <a:extLst>
                  <a:ext uri="{0D108BD9-81ED-4DB2-BD59-A6C34878D82A}">
                    <a16:rowId xmlns:a16="http://schemas.microsoft.com/office/drawing/2014/main" val="3178792509"/>
                  </a:ext>
                </a:extLst>
              </a:tr>
              <a:tr h="594251">
                <a:tc>
                  <a:txBody>
                    <a:bodyPr/>
                    <a:lstStyle/>
                    <a:p>
                      <a:pPr algn="ctr"/>
                      <a:r>
                        <a:rPr lang="en-US" dirty="0"/>
                        <a:t>Host</a:t>
                      </a:r>
                    </a:p>
                  </a:txBody>
                  <a:tcPr/>
                </a:tc>
                <a:tc>
                  <a:txBody>
                    <a:bodyPr/>
                    <a:lstStyle/>
                    <a:p>
                      <a:r>
                        <a:rPr lang="en-US" dirty="0"/>
                        <a:t>Asus</a:t>
                      </a:r>
                    </a:p>
                  </a:txBody>
                  <a:tcPr/>
                </a:tc>
                <a:extLst>
                  <a:ext uri="{0D108BD9-81ED-4DB2-BD59-A6C34878D82A}">
                    <a16:rowId xmlns:a16="http://schemas.microsoft.com/office/drawing/2014/main" val="2880365340"/>
                  </a:ext>
                </a:extLst>
              </a:tr>
              <a:tr h="594251">
                <a:tc>
                  <a:txBody>
                    <a:bodyPr/>
                    <a:lstStyle/>
                    <a:p>
                      <a:pPr algn="ctr"/>
                      <a:r>
                        <a:rPr lang="en-US" dirty="0"/>
                        <a:t>MITRE</a:t>
                      </a:r>
                    </a:p>
                  </a:txBody>
                  <a:tcPr/>
                </a:tc>
                <a:tc>
                  <a:txBody>
                    <a:bodyPr/>
                    <a:lstStyle/>
                    <a:p>
                      <a:r>
                        <a:rPr lang="en-US" b="0" dirty="0"/>
                        <a:t>T1136.001</a:t>
                      </a:r>
                    </a:p>
                  </a:txBody>
                  <a:tcPr/>
                </a:tc>
                <a:extLst>
                  <a:ext uri="{0D108BD9-81ED-4DB2-BD59-A6C34878D82A}">
                    <a16:rowId xmlns:a16="http://schemas.microsoft.com/office/drawing/2014/main" val="3666350517"/>
                  </a:ext>
                </a:extLst>
              </a:tr>
              <a:tr h="594251">
                <a:tc>
                  <a:txBody>
                    <a:bodyPr/>
                    <a:lstStyle/>
                    <a:p>
                      <a:pPr algn="ctr"/>
                      <a:r>
                        <a:rPr lang="en-US" dirty="0"/>
                        <a:t>Status</a:t>
                      </a:r>
                    </a:p>
                  </a:txBody>
                  <a:tcPr/>
                </a:tc>
                <a:tc>
                  <a:txBody>
                    <a:bodyPr/>
                    <a:lstStyle/>
                    <a:p>
                      <a:r>
                        <a:rPr lang="en-US" dirty="0"/>
                        <a:t>True positive </a:t>
                      </a:r>
                    </a:p>
                  </a:txBody>
                  <a:tcPr/>
                </a:tc>
                <a:extLst>
                  <a:ext uri="{0D108BD9-81ED-4DB2-BD59-A6C34878D82A}">
                    <a16:rowId xmlns:a16="http://schemas.microsoft.com/office/drawing/2014/main" val="1268743883"/>
                  </a:ext>
                </a:extLst>
              </a:tr>
              <a:tr h="594251">
                <a:tc>
                  <a:txBody>
                    <a:bodyPr/>
                    <a:lstStyle/>
                    <a:p>
                      <a:pPr algn="ctr"/>
                      <a:r>
                        <a:rPr lang="en-US" dirty="0"/>
                        <a:t>Analyst Notes</a:t>
                      </a:r>
                    </a:p>
                  </a:txBody>
                  <a:tcPr/>
                </a:tc>
                <a:tc>
                  <a:txBody>
                    <a:bodyPr/>
                    <a:lstStyle/>
                    <a:p>
                      <a:r>
                        <a:rPr lang="en-US" dirty="0"/>
                        <a:t>New unknown user account are created</a:t>
                      </a:r>
                    </a:p>
                  </a:txBody>
                  <a:tcPr/>
                </a:tc>
                <a:extLst>
                  <a:ext uri="{0D108BD9-81ED-4DB2-BD59-A6C34878D82A}">
                    <a16:rowId xmlns:a16="http://schemas.microsoft.com/office/drawing/2014/main" val="3632913206"/>
                  </a:ext>
                </a:extLst>
              </a:tr>
            </a:tbl>
          </a:graphicData>
        </a:graphic>
      </p:graphicFrame>
    </p:spTree>
    <p:extLst>
      <p:ext uri="{BB962C8B-B14F-4D97-AF65-F5344CB8AC3E}">
        <p14:creationId xmlns:p14="http://schemas.microsoft.com/office/powerpoint/2010/main" val="28179319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7E98CE-F0E0-E230-6C09-034FD52C5A27}"/>
            </a:ext>
          </a:extLst>
        </p:cNvPr>
        <p:cNvGrpSpPr/>
        <p:nvPr/>
      </p:nvGrpSpPr>
      <p:grpSpPr>
        <a:xfrm>
          <a:off x="0" y="0"/>
          <a:ext cx="0" cy="0"/>
          <a:chOff x="0" y="0"/>
          <a:chExt cx="0" cy="0"/>
        </a:xfrm>
      </p:grpSpPr>
      <p:pic>
        <p:nvPicPr>
          <p:cNvPr id="1027" name="Picture 3">
            <a:extLst>
              <a:ext uri="{FF2B5EF4-FFF2-40B4-BE49-F238E27FC236}">
                <a16:creationId xmlns:a16="http://schemas.microsoft.com/office/drawing/2014/main" id="{7B846CB9-F48E-ADB9-30E3-3DACD762F277}"/>
              </a:ext>
            </a:extLst>
          </p:cNvPr>
          <p:cNvPicPr>
            <a:picLocks noChangeAspect="1" noChangeArrowheads="1"/>
          </p:cNvPicPr>
          <p:nvPr/>
        </p:nvPicPr>
        <p:blipFill>
          <a:blip r:embed="rId2"/>
          <a:srcRect t="-9550" b="9550"/>
          <a:stretch>
            <a:fillRect/>
          </a:stretch>
        </p:blipFill>
        <p:spPr bwMode="auto">
          <a:xfrm>
            <a:off x="0" y="-225088"/>
            <a:ext cx="10691814" cy="5932170"/>
          </a:xfrm>
          <a:prstGeom prst="rect">
            <a:avLst/>
          </a:prstGeom>
          <a:noFill/>
        </p:spPr>
      </p:pic>
      <p:sp>
        <p:nvSpPr>
          <p:cNvPr id="11" name="TextBox 10">
            <a:extLst>
              <a:ext uri="{FF2B5EF4-FFF2-40B4-BE49-F238E27FC236}">
                <a16:creationId xmlns:a16="http://schemas.microsoft.com/office/drawing/2014/main" id="{BF614EC7-0E6B-FC24-A5C2-905092FC0C2A}"/>
              </a:ext>
            </a:extLst>
          </p:cNvPr>
          <p:cNvSpPr txBox="1"/>
          <p:nvPr/>
        </p:nvSpPr>
        <p:spPr>
          <a:xfrm>
            <a:off x="751840" y="1983742"/>
            <a:ext cx="6461760" cy="369332"/>
          </a:xfrm>
          <a:prstGeom prst="rect">
            <a:avLst/>
          </a:prstGeom>
          <a:noFill/>
        </p:spPr>
        <p:txBody>
          <a:bodyPr wrap="square">
            <a:spAutoFit/>
          </a:bodyPr>
          <a:lstStyle/>
          <a:p>
            <a:r>
              <a:rPr lang="en-US" dirty="0"/>
              <a:t>• </a:t>
            </a:r>
            <a:r>
              <a:rPr lang="en-US" b="1" dirty="0"/>
              <a:t>Target Machine (Victim):</a:t>
            </a:r>
            <a:r>
              <a:rPr lang="en-US" dirty="0"/>
              <a:t> Windows 11 VM (Host Name: </a:t>
            </a:r>
            <a:r>
              <a:rPr lang="en-US" dirty="0" err="1">
                <a:latin typeface="Courier New" panose="02070309020205020404" pitchFamily="49" charset="0"/>
              </a:rPr>
              <a:t>asus</a:t>
            </a:r>
            <a:r>
              <a:rPr lang="en-US" dirty="0"/>
              <a:t>)</a:t>
            </a:r>
          </a:p>
        </p:txBody>
      </p:sp>
      <p:sp>
        <p:nvSpPr>
          <p:cNvPr id="13" name="TextBox 12">
            <a:extLst>
              <a:ext uri="{FF2B5EF4-FFF2-40B4-BE49-F238E27FC236}">
                <a16:creationId xmlns:a16="http://schemas.microsoft.com/office/drawing/2014/main" id="{14EBF432-6583-F94A-CFE0-87780186B780}"/>
              </a:ext>
            </a:extLst>
          </p:cNvPr>
          <p:cNvSpPr txBox="1"/>
          <p:nvPr/>
        </p:nvSpPr>
        <p:spPr>
          <a:xfrm>
            <a:off x="751840" y="1669624"/>
            <a:ext cx="5425440" cy="369332"/>
          </a:xfrm>
          <a:prstGeom prst="rect">
            <a:avLst/>
          </a:prstGeom>
          <a:noFill/>
        </p:spPr>
        <p:txBody>
          <a:bodyPr wrap="square">
            <a:spAutoFit/>
          </a:bodyPr>
          <a:lstStyle/>
          <a:p>
            <a:r>
              <a:rPr lang="en-US" dirty="0"/>
              <a:t>• </a:t>
            </a:r>
            <a:r>
              <a:rPr lang="en-US" b="1" dirty="0"/>
              <a:t>Tool Used:</a:t>
            </a:r>
            <a:r>
              <a:rPr lang="en-US" dirty="0"/>
              <a:t> Command Prompt (Manual Execution)</a:t>
            </a:r>
          </a:p>
        </p:txBody>
      </p:sp>
      <p:sp>
        <p:nvSpPr>
          <p:cNvPr id="15" name="TextBox 14">
            <a:extLst>
              <a:ext uri="{FF2B5EF4-FFF2-40B4-BE49-F238E27FC236}">
                <a16:creationId xmlns:a16="http://schemas.microsoft.com/office/drawing/2014/main" id="{8F4A66F0-94F3-EA24-4AB3-31064D0B34C1}"/>
              </a:ext>
            </a:extLst>
          </p:cNvPr>
          <p:cNvSpPr txBox="1"/>
          <p:nvPr/>
        </p:nvSpPr>
        <p:spPr>
          <a:xfrm>
            <a:off x="751840" y="2364569"/>
            <a:ext cx="5425440" cy="369332"/>
          </a:xfrm>
          <a:prstGeom prst="rect">
            <a:avLst/>
          </a:prstGeom>
          <a:noFill/>
        </p:spPr>
        <p:txBody>
          <a:bodyPr wrap="square">
            <a:spAutoFit/>
          </a:bodyPr>
          <a:lstStyle/>
          <a:p>
            <a:r>
              <a:rPr lang="en-US" dirty="0"/>
              <a:t>• </a:t>
            </a:r>
            <a:r>
              <a:rPr lang="en-US" b="1" dirty="0"/>
              <a:t>MITRE ATT&amp;CK Tactic:</a:t>
            </a:r>
            <a:r>
              <a:rPr lang="en-US" dirty="0"/>
              <a:t> Privilege Escalation</a:t>
            </a:r>
          </a:p>
        </p:txBody>
      </p:sp>
      <p:sp>
        <p:nvSpPr>
          <p:cNvPr id="17" name="TextBox 16">
            <a:extLst>
              <a:ext uri="{FF2B5EF4-FFF2-40B4-BE49-F238E27FC236}">
                <a16:creationId xmlns:a16="http://schemas.microsoft.com/office/drawing/2014/main" id="{BC343674-B67A-29E4-E62A-C1862A1FE1B5}"/>
              </a:ext>
            </a:extLst>
          </p:cNvPr>
          <p:cNvSpPr txBox="1"/>
          <p:nvPr/>
        </p:nvSpPr>
        <p:spPr>
          <a:xfrm>
            <a:off x="751840" y="2690181"/>
            <a:ext cx="7589520" cy="369332"/>
          </a:xfrm>
          <a:prstGeom prst="rect">
            <a:avLst/>
          </a:prstGeom>
          <a:noFill/>
        </p:spPr>
        <p:txBody>
          <a:bodyPr wrap="square">
            <a:spAutoFit/>
          </a:bodyPr>
          <a:lstStyle/>
          <a:p>
            <a:r>
              <a:rPr lang="en-US" dirty="0"/>
              <a:t>• </a:t>
            </a:r>
            <a:r>
              <a:rPr lang="en-US" b="1" dirty="0"/>
              <a:t>MITRE ATT&amp;CK Technique:</a:t>
            </a:r>
            <a:r>
              <a:rPr lang="en-US" dirty="0"/>
              <a:t> Account Manipulation (T1098)</a:t>
            </a:r>
          </a:p>
        </p:txBody>
      </p:sp>
      <p:sp>
        <p:nvSpPr>
          <p:cNvPr id="19" name="TextBox 18">
            <a:extLst>
              <a:ext uri="{FF2B5EF4-FFF2-40B4-BE49-F238E27FC236}">
                <a16:creationId xmlns:a16="http://schemas.microsoft.com/office/drawing/2014/main" id="{61A710C4-69D4-7107-A45E-24E6F7512998}"/>
              </a:ext>
            </a:extLst>
          </p:cNvPr>
          <p:cNvSpPr txBox="1"/>
          <p:nvPr/>
        </p:nvSpPr>
        <p:spPr>
          <a:xfrm>
            <a:off x="751840" y="3059513"/>
            <a:ext cx="7725186" cy="646331"/>
          </a:xfrm>
          <a:prstGeom prst="rect">
            <a:avLst/>
          </a:prstGeom>
          <a:noFill/>
        </p:spPr>
        <p:txBody>
          <a:bodyPr wrap="square">
            <a:spAutoFit/>
          </a:bodyPr>
          <a:lstStyle/>
          <a:p>
            <a:r>
              <a:rPr lang="en-US" dirty="0"/>
              <a:t>• </a:t>
            </a:r>
            <a:r>
              <a:rPr lang="en-US" b="1" dirty="0"/>
              <a:t>Simulation Mechanism:</a:t>
            </a:r>
            <a:r>
              <a:rPr lang="en-US" dirty="0"/>
              <a:t> Self-Simulation (The host executes the technique locally to simulate a compromised scenario).</a:t>
            </a:r>
          </a:p>
        </p:txBody>
      </p:sp>
      <p:sp>
        <p:nvSpPr>
          <p:cNvPr id="21" name="TextBox 20">
            <a:extLst>
              <a:ext uri="{FF2B5EF4-FFF2-40B4-BE49-F238E27FC236}">
                <a16:creationId xmlns:a16="http://schemas.microsoft.com/office/drawing/2014/main" id="{910F99AB-8969-B0A6-AAEA-E7EE77D2AFEC}"/>
              </a:ext>
            </a:extLst>
          </p:cNvPr>
          <p:cNvSpPr txBox="1"/>
          <p:nvPr/>
        </p:nvSpPr>
        <p:spPr>
          <a:xfrm>
            <a:off x="518160" y="3882405"/>
            <a:ext cx="9946640" cy="1477328"/>
          </a:xfrm>
          <a:prstGeom prst="rect">
            <a:avLst/>
          </a:prstGeom>
          <a:noFill/>
        </p:spPr>
        <p:txBody>
          <a:bodyPr wrap="square">
            <a:spAutoFit/>
          </a:bodyPr>
          <a:lstStyle/>
          <a:p>
            <a:pPr>
              <a:buNone/>
            </a:pPr>
            <a:r>
              <a:rPr lang="en-US" b="1" dirty="0"/>
              <a:t>Attack Scenario Description</a:t>
            </a:r>
          </a:p>
          <a:p>
            <a:pPr>
              <a:buNone/>
            </a:pPr>
            <a:r>
              <a:rPr lang="en-US" dirty="0"/>
              <a:t>This test simulates a post-compromise activity where an attacker adds a previously created or compromised local user account to a high-privileged group, such as the local Administrators group. By doing so, the attacker successfully escalates their privileges, granting them full administrative control over the target machine to disable security controls or execute further malicious actions.</a:t>
            </a:r>
          </a:p>
        </p:txBody>
      </p:sp>
      <p:sp>
        <p:nvSpPr>
          <p:cNvPr id="23" name="TextBox 22">
            <a:extLst>
              <a:ext uri="{FF2B5EF4-FFF2-40B4-BE49-F238E27FC236}">
                <a16:creationId xmlns:a16="http://schemas.microsoft.com/office/drawing/2014/main" id="{1D3B554D-D9FF-8071-AC69-ED53911D93E4}"/>
              </a:ext>
            </a:extLst>
          </p:cNvPr>
          <p:cNvSpPr txBox="1"/>
          <p:nvPr/>
        </p:nvSpPr>
        <p:spPr>
          <a:xfrm>
            <a:off x="518160" y="5707082"/>
            <a:ext cx="9946640" cy="1508105"/>
          </a:xfrm>
          <a:prstGeom prst="rect">
            <a:avLst/>
          </a:prstGeom>
          <a:noFill/>
        </p:spPr>
        <p:txBody>
          <a:bodyPr wrap="square">
            <a:spAutoFit/>
          </a:bodyPr>
          <a:lstStyle/>
          <a:p>
            <a:r>
              <a:rPr lang="en-US" sz="2000" b="1" dirty="0"/>
              <a:t>SIEM Rule Deployment</a:t>
            </a:r>
            <a:endParaRPr lang="ar-EG" sz="2000" b="1" dirty="0"/>
          </a:p>
          <a:p>
            <a:endParaRPr lang="ar-EG" dirty="0"/>
          </a:p>
          <a:p>
            <a:r>
              <a:rPr lang="en-US" dirty="0"/>
              <a:t>• </a:t>
            </a:r>
            <a:r>
              <a:rPr lang="en-US" b="1" dirty="0"/>
              <a:t>Rule Name:</a:t>
            </a:r>
            <a:r>
              <a:rPr lang="en-US" dirty="0"/>
              <a:t> Privilege Escalation - User Added to Local Administrators Group </a:t>
            </a:r>
          </a:p>
          <a:p>
            <a:r>
              <a:rPr lang="en-US" dirty="0"/>
              <a:t>• </a:t>
            </a:r>
            <a:r>
              <a:rPr lang="en-US" b="1" dirty="0"/>
              <a:t>Severity:</a:t>
            </a:r>
            <a:r>
              <a:rPr lang="en-US" dirty="0"/>
              <a:t> High</a:t>
            </a:r>
          </a:p>
          <a:p>
            <a:r>
              <a:rPr lang="en-US" dirty="0"/>
              <a:t>• </a:t>
            </a:r>
            <a:r>
              <a:rPr lang="en-US" b="1" dirty="0"/>
              <a:t>Detection Logic (Event ID):</a:t>
            </a:r>
            <a:r>
              <a:rPr lang="en-US" dirty="0"/>
              <a:t> 4732</a:t>
            </a:r>
          </a:p>
        </p:txBody>
      </p:sp>
      <p:sp>
        <p:nvSpPr>
          <p:cNvPr id="24" name="TextBox 23">
            <a:extLst>
              <a:ext uri="{FF2B5EF4-FFF2-40B4-BE49-F238E27FC236}">
                <a16:creationId xmlns:a16="http://schemas.microsoft.com/office/drawing/2014/main" id="{21BCC164-45FD-00C0-315B-9779906DA026}"/>
              </a:ext>
            </a:extLst>
          </p:cNvPr>
          <p:cNvSpPr txBox="1"/>
          <p:nvPr/>
        </p:nvSpPr>
        <p:spPr>
          <a:xfrm>
            <a:off x="518160" y="1306763"/>
            <a:ext cx="4739374" cy="400110"/>
          </a:xfrm>
          <a:prstGeom prst="rect">
            <a:avLst/>
          </a:prstGeom>
          <a:noFill/>
        </p:spPr>
        <p:txBody>
          <a:bodyPr wrap="none" rtlCol="0">
            <a:spAutoFit/>
          </a:bodyPr>
          <a:lstStyle/>
          <a:p>
            <a:r>
              <a:rPr lang="en-US" sz="2000" b="1" dirty="0">
                <a:solidFill>
                  <a:srgbClr val="FF0000"/>
                </a:solidFill>
              </a:rPr>
              <a:t>Use Case 2: </a:t>
            </a:r>
            <a:r>
              <a:rPr lang="en-US" sz="2000" b="1" dirty="0"/>
              <a:t>Privilege Escalation attack </a:t>
            </a:r>
          </a:p>
        </p:txBody>
      </p:sp>
    </p:spTree>
    <p:extLst>
      <p:ext uri="{BB962C8B-B14F-4D97-AF65-F5344CB8AC3E}">
        <p14:creationId xmlns:p14="http://schemas.microsoft.com/office/powerpoint/2010/main" val="33997250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C7888E-FFDB-23CB-B563-5B60D97EFFB5}"/>
            </a:ext>
          </a:extLst>
        </p:cNvPr>
        <p:cNvGrpSpPr/>
        <p:nvPr/>
      </p:nvGrpSpPr>
      <p:grpSpPr>
        <a:xfrm>
          <a:off x="0" y="0"/>
          <a:ext cx="0" cy="0"/>
          <a:chOff x="0" y="0"/>
          <a:chExt cx="0" cy="0"/>
        </a:xfrm>
      </p:grpSpPr>
      <p:pic>
        <p:nvPicPr>
          <p:cNvPr id="1027" name="Picture 3">
            <a:extLst>
              <a:ext uri="{FF2B5EF4-FFF2-40B4-BE49-F238E27FC236}">
                <a16:creationId xmlns:a16="http://schemas.microsoft.com/office/drawing/2014/main" id="{56273C73-A00A-3096-9485-80FCF44E9B1D}"/>
              </a:ext>
            </a:extLst>
          </p:cNvPr>
          <p:cNvPicPr>
            <a:picLocks noChangeAspect="1" noChangeArrowheads="1"/>
          </p:cNvPicPr>
          <p:nvPr/>
        </p:nvPicPr>
        <p:blipFill>
          <a:blip r:embed="rId3"/>
          <a:srcRect t="-9550" b="9550"/>
          <a:stretch>
            <a:fillRect/>
          </a:stretch>
        </p:blipFill>
        <p:spPr bwMode="auto">
          <a:xfrm>
            <a:off x="0" y="-379061"/>
            <a:ext cx="10691814" cy="5932170"/>
          </a:xfrm>
          <a:prstGeom prst="rect">
            <a:avLst/>
          </a:prstGeom>
          <a:noFill/>
        </p:spPr>
      </p:pic>
      <p:pic>
        <p:nvPicPr>
          <p:cNvPr id="3" name="Picture 2">
            <a:extLst>
              <a:ext uri="{FF2B5EF4-FFF2-40B4-BE49-F238E27FC236}">
                <a16:creationId xmlns:a16="http://schemas.microsoft.com/office/drawing/2014/main" id="{4B47178F-74C6-53E9-AE9B-08E7D2B01932}"/>
              </a:ext>
            </a:extLst>
          </p:cNvPr>
          <p:cNvPicPr>
            <a:picLocks noChangeAspect="1"/>
          </p:cNvPicPr>
          <p:nvPr/>
        </p:nvPicPr>
        <p:blipFill>
          <a:blip r:embed="rId4"/>
          <a:stretch>
            <a:fillRect/>
          </a:stretch>
        </p:blipFill>
        <p:spPr>
          <a:xfrm>
            <a:off x="241402" y="2856310"/>
            <a:ext cx="10209007" cy="4668440"/>
          </a:xfrm>
          <a:prstGeom prst="rect">
            <a:avLst/>
          </a:prstGeom>
        </p:spPr>
      </p:pic>
      <p:pic>
        <p:nvPicPr>
          <p:cNvPr id="5" name="Picture 4">
            <a:extLst>
              <a:ext uri="{FF2B5EF4-FFF2-40B4-BE49-F238E27FC236}">
                <a16:creationId xmlns:a16="http://schemas.microsoft.com/office/drawing/2014/main" id="{37A23BA9-026C-4CC9-7F97-146C9219B316}"/>
              </a:ext>
            </a:extLst>
          </p:cNvPr>
          <p:cNvPicPr>
            <a:picLocks noChangeAspect="1"/>
          </p:cNvPicPr>
          <p:nvPr/>
        </p:nvPicPr>
        <p:blipFill>
          <a:blip r:embed="rId5"/>
          <a:stretch>
            <a:fillRect/>
          </a:stretch>
        </p:blipFill>
        <p:spPr>
          <a:xfrm>
            <a:off x="-2" y="1812163"/>
            <a:ext cx="10691813" cy="602553"/>
          </a:xfrm>
          <a:prstGeom prst="rect">
            <a:avLst/>
          </a:prstGeom>
        </p:spPr>
      </p:pic>
      <p:sp>
        <p:nvSpPr>
          <p:cNvPr id="8" name="TextBox 7">
            <a:extLst>
              <a:ext uri="{FF2B5EF4-FFF2-40B4-BE49-F238E27FC236}">
                <a16:creationId xmlns:a16="http://schemas.microsoft.com/office/drawing/2014/main" id="{5AC09C1F-0577-4BE4-E759-06599E308294}"/>
              </a:ext>
            </a:extLst>
          </p:cNvPr>
          <p:cNvSpPr txBox="1"/>
          <p:nvPr/>
        </p:nvSpPr>
        <p:spPr>
          <a:xfrm>
            <a:off x="883921" y="516496"/>
            <a:ext cx="5346550" cy="400110"/>
          </a:xfrm>
          <a:prstGeom prst="rect">
            <a:avLst/>
          </a:prstGeom>
          <a:noFill/>
        </p:spPr>
        <p:txBody>
          <a:bodyPr wrap="square">
            <a:spAutoFit/>
          </a:bodyPr>
          <a:lstStyle/>
          <a:p>
            <a:r>
              <a:rPr lang="en-US" sz="2000" b="1" dirty="0"/>
              <a:t>&gt;&gt;Privilege Escalation</a:t>
            </a:r>
          </a:p>
        </p:txBody>
      </p:sp>
      <p:sp>
        <p:nvSpPr>
          <p:cNvPr id="12" name="TextBox 11">
            <a:extLst>
              <a:ext uri="{FF2B5EF4-FFF2-40B4-BE49-F238E27FC236}">
                <a16:creationId xmlns:a16="http://schemas.microsoft.com/office/drawing/2014/main" id="{4D56BD30-CB5E-7CBD-D01A-B1D30035ADA6}"/>
              </a:ext>
            </a:extLst>
          </p:cNvPr>
          <p:cNvSpPr txBox="1"/>
          <p:nvPr/>
        </p:nvSpPr>
        <p:spPr>
          <a:xfrm>
            <a:off x="3557196" y="1161604"/>
            <a:ext cx="5344160" cy="369332"/>
          </a:xfrm>
          <a:prstGeom prst="rect">
            <a:avLst/>
          </a:prstGeom>
          <a:noFill/>
        </p:spPr>
        <p:txBody>
          <a:bodyPr wrap="square">
            <a:spAutoFit/>
          </a:bodyPr>
          <a:lstStyle/>
          <a:p>
            <a:r>
              <a:rPr lang="en-US" dirty="0" err="1">
                <a:latin typeface="Courier New" panose="02070309020205020404" pitchFamily="49" charset="0"/>
              </a:rPr>
              <a:t>event_id</a:t>
            </a:r>
            <a:r>
              <a:rPr lang="en-US" dirty="0">
                <a:latin typeface="Courier New" panose="02070309020205020404" pitchFamily="49" charset="0"/>
              </a:rPr>
              <a:t>: 4732</a:t>
            </a:r>
            <a:r>
              <a:rPr lang="en-US" dirty="0"/>
              <a:t> (</a:t>
            </a:r>
            <a:r>
              <a:rPr lang="en-US" dirty="0" err="1"/>
              <a:t>إضافته</a:t>
            </a:r>
            <a:r>
              <a:rPr lang="en-US" dirty="0"/>
              <a:t> </a:t>
            </a:r>
            <a:r>
              <a:rPr lang="en-US" dirty="0" err="1"/>
              <a:t>للأدمن</a:t>
            </a:r>
            <a:r>
              <a:rPr lang="en-US" dirty="0"/>
              <a:t>).</a:t>
            </a:r>
          </a:p>
        </p:txBody>
      </p:sp>
    </p:spTree>
    <p:extLst>
      <p:ext uri="{BB962C8B-B14F-4D97-AF65-F5344CB8AC3E}">
        <p14:creationId xmlns:p14="http://schemas.microsoft.com/office/powerpoint/2010/main" val="33765027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86B3C-F42B-9D55-279A-2A771CECD088}"/>
            </a:ext>
          </a:extLst>
        </p:cNvPr>
        <p:cNvGrpSpPr/>
        <p:nvPr/>
      </p:nvGrpSpPr>
      <p:grpSpPr>
        <a:xfrm>
          <a:off x="0" y="0"/>
          <a:ext cx="0" cy="0"/>
          <a:chOff x="0" y="0"/>
          <a:chExt cx="0" cy="0"/>
        </a:xfrm>
      </p:grpSpPr>
      <p:pic>
        <p:nvPicPr>
          <p:cNvPr id="1027" name="Picture 3">
            <a:extLst>
              <a:ext uri="{FF2B5EF4-FFF2-40B4-BE49-F238E27FC236}">
                <a16:creationId xmlns:a16="http://schemas.microsoft.com/office/drawing/2014/main" id="{E296449A-018F-BEDF-C575-564805D2004C}"/>
              </a:ext>
            </a:extLst>
          </p:cNvPr>
          <p:cNvPicPr>
            <a:picLocks noChangeAspect="1" noChangeArrowheads="1"/>
          </p:cNvPicPr>
          <p:nvPr/>
        </p:nvPicPr>
        <p:blipFill>
          <a:blip r:embed="rId3"/>
          <a:srcRect t="-9550" b="9550"/>
          <a:stretch>
            <a:fillRect/>
          </a:stretch>
        </p:blipFill>
        <p:spPr bwMode="auto">
          <a:xfrm>
            <a:off x="-1" y="0"/>
            <a:ext cx="10691814" cy="5932170"/>
          </a:xfrm>
          <a:prstGeom prst="rect">
            <a:avLst/>
          </a:prstGeom>
          <a:noFill/>
        </p:spPr>
      </p:pic>
      <p:sp>
        <p:nvSpPr>
          <p:cNvPr id="10" name="TextBox 9">
            <a:extLst>
              <a:ext uri="{FF2B5EF4-FFF2-40B4-BE49-F238E27FC236}">
                <a16:creationId xmlns:a16="http://schemas.microsoft.com/office/drawing/2014/main" id="{3E71CCBD-DCAD-D932-7544-CD722D985C69}"/>
              </a:ext>
            </a:extLst>
          </p:cNvPr>
          <p:cNvSpPr txBox="1"/>
          <p:nvPr/>
        </p:nvSpPr>
        <p:spPr>
          <a:xfrm>
            <a:off x="624840" y="2934135"/>
            <a:ext cx="1841017" cy="369332"/>
          </a:xfrm>
          <a:prstGeom prst="rect">
            <a:avLst/>
          </a:prstGeom>
          <a:noFill/>
        </p:spPr>
        <p:txBody>
          <a:bodyPr wrap="none" rtlCol="0">
            <a:spAutoFit/>
          </a:bodyPr>
          <a:lstStyle/>
          <a:p>
            <a:r>
              <a:rPr lang="en-US" dirty="0"/>
              <a:t>1- @ CMD write :</a:t>
            </a:r>
          </a:p>
        </p:txBody>
      </p:sp>
      <p:sp>
        <p:nvSpPr>
          <p:cNvPr id="12" name="TextBox 11">
            <a:extLst>
              <a:ext uri="{FF2B5EF4-FFF2-40B4-BE49-F238E27FC236}">
                <a16:creationId xmlns:a16="http://schemas.microsoft.com/office/drawing/2014/main" id="{F312F42D-E775-5075-7694-11CA4C05168C}"/>
              </a:ext>
            </a:extLst>
          </p:cNvPr>
          <p:cNvSpPr txBox="1"/>
          <p:nvPr/>
        </p:nvSpPr>
        <p:spPr>
          <a:xfrm>
            <a:off x="624840" y="3577709"/>
            <a:ext cx="2055819" cy="369332"/>
          </a:xfrm>
          <a:prstGeom prst="rect">
            <a:avLst/>
          </a:prstGeom>
          <a:noFill/>
        </p:spPr>
        <p:txBody>
          <a:bodyPr wrap="none" rtlCol="0">
            <a:spAutoFit/>
          </a:bodyPr>
          <a:lstStyle/>
          <a:p>
            <a:r>
              <a:rPr lang="en-US" dirty="0"/>
              <a:t>2- Then click Enter </a:t>
            </a:r>
          </a:p>
        </p:txBody>
      </p:sp>
      <p:sp>
        <p:nvSpPr>
          <p:cNvPr id="16" name="TextBox 15">
            <a:extLst>
              <a:ext uri="{FF2B5EF4-FFF2-40B4-BE49-F238E27FC236}">
                <a16:creationId xmlns:a16="http://schemas.microsoft.com/office/drawing/2014/main" id="{0BBAA690-21BB-8D90-9ABC-C04936A5A372}"/>
              </a:ext>
            </a:extLst>
          </p:cNvPr>
          <p:cNvSpPr txBox="1"/>
          <p:nvPr/>
        </p:nvSpPr>
        <p:spPr>
          <a:xfrm>
            <a:off x="2408371" y="1361747"/>
            <a:ext cx="5875070" cy="461665"/>
          </a:xfrm>
          <a:prstGeom prst="rect">
            <a:avLst/>
          </a:prstGeom>
          <a:noFill/>
        </p:spPr>
        <p:txBody>
          <a:bodyPr wrap="none" rtlCol="0">
            <a:spAutoFit/>
          </a:bodyPr>
          <a:lstStyle/>
          <a:p>
            <a:r>
              <a:rPr lang="en-US" sz="2400" b="1" dirty="0"/>
              <a:t>Simulate Privilege Escalation using CMD </a:t>
            </a:r>
          </a:p>
        </p:txBody>
      </p:sp>
      <p:pic>
        <p:nvPicPr>
          <p:cNvPr id="4" name="Picture 3">
            <a:extLst>
              <a:ext uri="{FF2B5EF4-FFF2-40B4-BE49-F238E27FC236}">
                <a16:creationId xmlns:a16="http://schemas.microsoft.com/office/drawing/2014/main" id="{67824E2C-D82B-A56A-10C6-8F29EA2CECCF}"/>
              </a:ext>
            </a:extLst>
          </p:cNvPr>
          <p:cNvPicPr>
            <a:picLocks noChangeAspect="1"/>
          </p:cNvPicPr>
          <p:nvPr/>
        </p:nvPicPr>
        <p:blipFill>
          <a:blip r:embed="rId4"/>
          <a:stretch>
            <a:fillRect/>
          </a:stretch>
        </p:blipFill>
        <p:spPr>
          <a:xfrm>
            <a:off x="2819854" y="2890181"/>
            <a:ext cx="3635055" cy="457240"/>
          </a:xfrm>
          <a:prstGeom prst="rect">
            <a:avLst/>
          </a:prstGeom>
        </p:spPr>
      </p:pic>
    </p:spTree>
    <p:extLst>
      <p:ext uri="{BB962C8B-B14F-4D97-AF65-F5344CB8AC3E}">
        <p14:creationId xmlns:p14="http://schemas.microsoft.com/office/powerpoint/2010/main" val="26970045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A7D450-9059-BFBB-8B21-E2ECE26BD6C5}"/>
            </a:ext>
          </a:extLst>
        </p:cNvPr>
        <p:cNvGrpSpPr/>
        <p:nvPr/>
      </p:nvGrpSpPr>
      <p:grpSpPr>
        <a:xfrm>
          <a:off x="0" y="0"/>
          <a:ext cx="0" cy="0"/>
          <a:chOff x="0" y="0"/>
          <a:chExt cx="0" cy="0"/>
        </a:xfrm>
      </p:grpSpPr>
      <p:pic>
        <p:nvPicPr>
          <p:cNvPr id="1027" name="Picture 3">
            <a:extLst>
              <a:ext uri="{FF2B5EF4-FFF2-40B4-BE49-F238E27FC236}">
                <a16:creationId xmlns:a16="http://schemas.microsoft.com/office/drawing/2014/main" id="{7B799FAA-DD56-142F-7637-E555D485B225}"/>
              </a:ext>
            </a:extLst>
          </p:cNvPr>
          <p:cNvPicPr>
            <a:picLocks noChangeAspect="1" noChangeArrowheads="1"/>
          </p:cNvPicPr>
          <p:nvPr/>
        </p:nvPicPr>
        <p:blipFill>
          <a:blip r:embed="rId2"/>
          <a:srcRect t="-9550" b="9550"/>
          <a:stretch>
            <a:fillRect/>
          </a:stretch>
        </p:blipFill>
        <p:spPr bwMode="auto">
          <a:xfrm>
            <a:off x="-1" y="123385"/>
            <a:ext cx="10691814" cy="5932170"/>
          </a:xfrm>
          <a:prstGeom prst="rect">
            <a:avLst/>
          </a:prstGeom>
          <a:noFill/>
        </p:spPr>
      </p:pic>
      <p:sp>
        <p:nvSpPr>
          <p:cNvPr id="3" name="TextBox 2">
            <a:extLst>
              <a:ext uri="{FF2B5EF4-FFF2-40B4-BE49-F238E27FC236}">
                <a16:creationId xmlns:a16="http://schemas.microsoft.com/office/drawing/2014/main" id="{D063C5BE-6A3D-0F64-733F-0C1B080DAA18}"/>
              </a:ext>
            </a:extLst>
          </p:cNvPr>
          <p:cNvSpPr txBox="1"/>
          <p:nvPr/>
        </p:nvSpPr>
        <p:spPr>
          <a:xfrm>
            <a:off x="1526580" y="1973821"/>
            <a:ext cx="8338779" cy="461665"/>
          </a:xfrm>
          <a:prstGeom prst="rect">
            <a:avLst/>
          </a:prstGeom>
          <a:noFill/>
        </p:spPr>
        <p:txBody>
          <a:bodyPr wrap="square">
            <a:spAutoFit/>
          </a:bodyPr>
          <a:lstStyle/>
          <a:p>
            <a:r>
              <a:rPr lang="en-US" sz="2400" dirty="0"/>
              <a:t>Technical Execution Steps  on atomic red team</a:t>
            </a:r>
          </a:p>
        </p:txBody>
      </p:sp>
      <p:sp>
        <p:nvSpPr>
          <p:cNvPr id="5" name="TextBox 4">
            <a:extLst>
              <a:ext uri="{FF2B5EF4-FFF2-40B4-BE49-F238E27FC236}">
                <a16:creationId xmlns:a16="http://schemas.microsoft.com/office/drawing/2014/main" id="{29B065F9-161C-38C4-154A-B344B803E01C}"/>
              </a:ext>
            </a:extLst>
          </p:cNvPr>
          <p:cNvSpPr txBox="1"/>
          <p:nvPr/>
        </p:nvSpPr>
        <p:spPr>
          <a:xfrm>
            <a:off x="314960" y="2483639"/>
            <a:ext cx="5344160" cy="369332"/>
          </a:xfrm>
          <a:prstGeom prst="rect">
            <a:avLst/>
          </a:prstGeom>
          <a:noFill/>
        </p:spPr>
        <p:txBody>
          <a:bodyPr wrap="square">
            <a:spAutoFit/>
          </a:bodyPr>
          <a:lstStyle/>
          <a:p>
            <a:r>
              <a:rPr lang="en-US" dirty="0"/>
              <a:t>Step 1: Import the Atomic Red Team Module</a:t>
            </a:r>
          </a:p>
        </p:txBody>
      </p:sp>
      <p:pic>
        <p:nvPicPr>
          <p:cNvPr id="7" name="Picture 6">
            <a:extLst>
              <a:ext uri="{FF2B5EF4-FFF2-40B4-BE49-F238E27FC236}">
                <a16:creationId xmlns:a16="http://schemas.microsoft.com/office/drawing/2014/main" id="{5406AA7B-5413-5364-7210-15F12C20E4A4}"/>
              </a:ext>
            </a:extLst>
          </p:cNvPr>
          <p:cNvPicPr>
            <a:picLocks noChangeAspect="1"/>
          </p:cNvPicPr>
          <p:nvPr/>
        </p:nvPicPr>
        <p:blipFill>
          <a:blip r:embed="rId3"/>
          <a:stretch>
            <a:fillRect/>
          </a:stretch>
        </p:blipFill>
        <p:spPr>
          <a:xfrm>
            <a:off x="833120" y="2883468"/>
            <a:ext cx="7849280" cy="632515"/>
          </a:xfrm>
          <a:prstGeom prst="rect">
            <a:avLst/>
          </a:prstGeom>
        </p:spPr>
      </p:pic>
      <p:sp>
        <p:nvSpPr>
          <p:cNvPr id="9" name="TextBox 8">
            <a:extLst>
              <a:ext uri="{FF2B5EF4-FFF2-40B4-BE49-F238E27FC236}">
                <a16:creationId xmlns:a16="http://schemas.microsoft.com/office/drawing/2014/main" id="{F2421839-4A34-BDAC-A9D4-1FF1A65CEA79}"/>
              </a:ext>
            </a:extLst>
          </p:cNvPr>
          <p:cNvSpPr txBox="1"/>
          <p:nvPr/>
        </p:nvSpPr>
        <p:spPr>
          <a:xfrm>
            <a:off x="314960" y="4254408"/>
            <a:ext cx="5344160" cy="369332"/>
          </a:xfrm>
          <a:prstGeom prst="rect">
            <a:avLst/>
          </a:prstGeom>
          <a:noFill/>
        </p:spPr>
        <p:txBody>
          <a:bodyPr wrap="square">
            <a:spAutoFit/>
          </a:bodyPr>
          <a:lstStyle/>
          <a:p>
            <a:r>
              <a:rPr lang="en-US" dirty="0"/>
              <a:t>Step 2: Execute the Specific Attack Test</a:t>
            </a:r>
          </a:p>
        </p:txBody>
      </p:sp>
      <p:pic>
        <p:nvPicPr>
          <p:cNvPr id="11" name="Picture 10">
            <a:extLst>
              <a:ext uri="{FF2B5EF4-FFF2-40B4-BE49-F238E27FC236}">
                <a16:creationId xmlns:a16="http://schemas.microsoft.com/office/drawing/2014/main" id="{C4C5846C-5424-FADF-4EC4-FC05C1288934}"/>
              </a:ext>
            </a:extLst>
          </p:cNvPr>
          <p:cNvPicPr>
            <a:picLocks noChangeAspect="1"/>
          </p:cNvPicPr>
          <p:nvPr/>
        </p:nvPicPr>
        <p:blipFill>
          <a:blip r:embed="rId4"/>
          <a:stretch>
            <a:fillRect/>
          </a:stretch>
        </p:blipFill>
        <p:spPr>
          <a:xfrm>
            <a:off x="833120" y="4813874"/>
            <a:ext cx="2880610" cy="510584"/>
          </a:xfrm>
          <a:prstGeom prst="rect">
            <a:avLst/>
          </a:prstGeom>
        </p:spPr>
      </p:pic>
      <p:sp>
        <p:nvSpPr>
          <p:cNvPr id="6" name="TextBox 5">
            <a:extLst>
              <a:ext uri="{FF2B5EF4-FFF2-40B4-BE49-F238E27FC236}">
                <a16:creationId xmlns:a16="http://schemas.microsoft.com/office/drawing/2014/main" id="{B5BE6857-C215-55B3-B3FE-6722DCAD8652}"/>
              </a:ext>
            </a:extLst>
          </p:cNvPr>
          <p:cNvSpPr txBox="1"/>
          <p:nvPr/>
        </p:nvSpPr>
        <p:spPr>
          <a:xfrm>
            <a:off x="2520392" y="6424887"/>
            <a:ext cx="6162008" cy="369332"/>
          </a:xfrm>
          <a:prstGeom prst="rect">
            <a:avLst/>
          </a:prstGeom>
          <a:noFill/>
        </p:spPr>
        <p:txBody>
          <a:bodyPr wrap="none" rtlCol="0">
            <a:spAutoFit/>
          </a:bodyPr>
          <a:lstStyle/>
          <a:p>
            <a:r>
              <a:rPr lang="en-US" dirty="0"/>
              <a:t>Depend on </a:t>
            </a:r>
            <a:r>
              <a:rPr lang="en-US" b="1" dirty="0"/>
              <a:t>MITRE ATT&amp;CK ID </a:t>
            </a:r>
            <a:r>
              <a:rPr lang="en-US" dirty="0"/>
              <a:t>to simulate a specific attack  </a:t>
            </a:r>
          </a:p>
        </p:txBody>
      </p:sp>
      <p:cxnSp>
        <p:nvCxnSpPr>
          <p:cNvPr id="10" name="Straight Arrow Connector 9">
            <a:extLst>
              <a:ext uri="{FF2B5EF4-FFF2-40B4-BE49-F238E27FC236}">
                <a16:creationId xmlns:a16="http://schemas.microsoft.com/office/drawing/2014/main" id="{F31F267F-FC2B-EB16-79A1-BDBD5CAD30F4}"/>
              </a:ext>
            </a:extLst>
          </p:cNvPr>
          <p:cNvCxnSpPr/>
          <p:nvPr/>
        </p:nvCxnSpPr>
        <p:spPr>
          <a:xfrm flipH="1" flipV="1">
            <a:off x="3108960" y="5198515"/>
            <a:ext cx="817581" cy="122637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4BF58761-43E8-6C06-6529-9B744713FD07}"/>
              </a:ext>
            </a:extLst>
          </p:cNvPr>
          <p:cNvSpPr txBox="1"/>
          <p:nvPr/>
        </p:nvSpPr>
        <p:spPr>
          <a:xfrm>
            <a:off x="1945772" y="1168213"/>
            <a:ext cx="5623975" cy="461665"/>
          </a:xfrm>
          <a:prstGeom prst="rect">
            <a:avLst/>
          </a:prstGeom>
          <a:noFill/>
        </p:spPr>
        <p:txBody>
          <a:bodyPr wrap="none" rtlCol="0">
            <a:spAutoFit/>
          </a:bodyPr>
          <a:lstStyle/>
          <a:p>
            <a:r>
              <a:rPr lang="en-US" sz="2400" b="1" dirty="0"/>
              <a:t>Simulate attack using atomic red team </a:t>
            </a:r>
          </a:p>
        </p:txBody>
      </p:sp>
    </p:spTree>
    <p:extLst>
      <p:ext uri="{BB962C8B-B14F-4D97-AF65-F5344CB8AC3E}">
        <p14:creationId xmlns:p14="http://schemas.microsoft.com/office/powerpoint/2010/main" val="36280860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FC3D1-34F0-8490-E474-D29EA6CCFBAC}"/>
            </a:ext>
          </a:extLst>
        </p:cNvPr>
        <p:cNvGrpSpPr/>
        <p:nvPr/>
      </p:nvGrpSpPr>
      <p:grpSpPr>
        <a:xfrm>
          <a:off x="0" y="0"/>
          <a:ext cx="0" cy="0"/>
          <a:chOff x="0" y="0"/>
          <a:chExt cx="0" cy="0"/>
        </a:xfrm>
      </p:grpSpPr>
      <p:pic>
        <p:nvPicPr>
          <p:cNvPr id="1027" name="Picture 3">
            <a:extLst>
              <a:ext uri="{FF2B5EF4-FFF2-40B4-BE49-F238E27FC236}">
                <a16:creationId xmlns:a16="http://schemas.microsoft.com/office/drawing/2014/main" id="{643D5AD7-F3F3-F513-9D23-400A8B670188}"/>
              </a:ext>
            </a:extLst>
          </p:cNvPr>
          <p:cNvPicPr>
            <a:picLocks noChangeAspect="1" noChangeArrowheads="1"/>
          </p:cNvPicPr>
          <p:nvPr/>
        </p:nvPicPr>
        <p:blipFill>
          <a:blip r:embed="rId2"/>
          <a:srcRect t="-9550" b="9550"/>
          <a:stretch>
            <a:fillRect/>
          </a:stretch>
        </p:blipFill>
        <p:spPr bwMode="auto">
          <a:xfrm>
            <a:off x="0" y="-155027"/>
            <a:ext cx="10691814" cy="5932170"/>
          </a:xfrm>
          <a:prstGeom prst="rect">
            <a:avLst/>
          </a:prstGeom>
          <a:noFill/>
        </p:spPr>
      </p:pic>
      <p:pic>
        <p:nvPicPr>
          <p:cNvPr id="7" name="Picture 6">
            <a:extLst>
              <a:ext uri="{FF2B5EF4-FFF2-40B4-BE49-F238E27FC236}">
                <a16:creationId xmlns:a16="http://schemas.microsoft.com/office/drawing/2014/main" id="{F2337BBD-54E1-3B74-2DFD-D25D65BFD66B}"/>
              </a:ext>
            </a:extLst>
          </p:cNvPr>
          <p:cNvPicPr>
            <a:picLocks noChangeAspect="1"/>
          </p:cNvPicPr>
          <p:nvPr/>
        </p:nvPicPr>
        <p:blipFill>
          <a:blip r:embed="rId3"/>
          <a:srcRect t="701"/>
          <a:stretch>
            <a:fillRect/>
          </a:stretch>
        </p:blipFill>
        <p:spPr>
          <a:xfrm>
            <a:off x="0" y="2291924"/>
            <a:ext cx="10691813" cy="3981321"/>
          </a:xfrm>
          <a:prstGeom prst="rect">
            <a:avLst/>
          </a:prstGeom>
        </p:spPr>
      </p:pic>
      <p:sp>
        <p:nvSpPr>
          <p:cNvPr id="11" name="TextBox 10">
            <a:extLst>
              <a:ext uri="{FF2B5EF4-FFF2-40B4-BE49-F238E27FC236}">
                <a16:creationId xmlns:a16="http://schemas.microsoft.com/office/drawing/2014/main" id="{50726EF2-05EF-FB68-9F23-AE1B7D93F701}"/>
              </a:ext>
            </a:extLst>
          </p:cNvPr>
          <p:cNvSpPr txBox="1"/>
          <p:nvPr/>
        </p:nvSpPr>
        <p:spPr>
          <a:xfrm>
            <a:off x="3102098" y="1564704"/>
            <a:ext cx="5344160" cy="369332"/>
          </a:xfrm>
          <a:prstGeom prst="rect">
            <a:avLst/>
          </a:prstGeom>
          <a:noFill/>
        </p:spPr>
        <p:txBody>
          <a:bodyPr wrap="square">
            <a:spAutoFit/>
          </a:bodyPr>
          <a:lstStyle/>
          <a:p>
            <a:r>
              <a:rPr lang="en-US" dirty="0"/>
              <a:t>Created a new local user named </a:t>
            </a:r>
            <a:r>
              <a:rPr lang="en-US" b="1" dirty="0" err="1">
                <a:latin typeface="Courier New" panose="02070309020205020404" pitchFamily="49" charset="0"/>
              </a:rPr>
              <a:t>NewLocalUser</a:t>
            </a:r>
            <a:endParaRPr lang="en-US" dirty="0"/>
          </a:p>
        </p:txBody>
      </p:sp>
      <p:cxnSp>
        <p:nvCxnSpPr>
          <p:cNvPr id="13" name="Straight Arrow Connector 12">
            <a:extLst>
              <a:ext uri="{FF2B5EF4-FFF2-40B4-BE49-F238E27FC236}">
                <a16:creationId xmlns:a16="http://schemas.microsoft.com/office/drawing/2014/main" id="{CBB8E007-B062-1E51-3B10-0B58E4DD87E7}"/>
              </a:ext>
            </a:extLst>
          </p:cNvPr>
          <p:cNvCxnSpPr>
            <a:cxnSpLocks/>
          </p:cNvCxnSpPr>
          <p:nvPr/>
        </p:nvCxnSpPr>
        <p:spPr>
          <a:xfrm>
            <a:off x="5943600" y="1934036"/>
            <a:ext cx="1452880" cy="1754044"/>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94DB76A2-B9B7-1E41-7C6D-A044921343B2}"/>
              </a:ext>
            </a:extLst>
          </p:cNvPr>
          <p:cNvSpPr txBox="1"/>
          <p:nvPr/>
        </p:nvSpPr>
        <p:spPr>
          <a:xfrm>
            <a:off x="1488440" y="6631133"/>
            <a:ext cx="6761480" cy="369332"/>
          </a:xfrm>
          <a:prstGeom prst="rect">
            <a:avLst/>
          </a:prstGeom>
          <a:noFill/>
        </p:spPr>
        <p:txBody>
          <a:bodyPr wrap="square">
            <a:spAutoFit/>
          </a:bodyPr>
          <a:lstStyle/>
          <a:p>
            <a:r>
              <a:rPr lang="en-US" dirty="0"/>
              <a:t>Successfully added the user to the </a:t>
            </a:r>
            <a:r>
              <a:rPr lang="en-US" b="1" dirty="0">
                <a:latin typeface="Courier New" panose="02070309020205020404" pitchFamily="49" charset="0"/>
              </a:rPr>
              <a:t>Administrators</a:t>
            </a:r>
            <a:r>
              <a:rPr lang="en-US" dirty="0"/>
              <a:t> group</a:t>
            </a:r>
          </a:p>
        </p:txBody>
      </p:sp>
      <p:cxnSp>
        <p:nvCxnSpPr>
          <p:cNvPr id="20" name="Straight Arrow Connector 19">
            <a:extLst>
              <a:ext uri="{FF2B5EF4-FFF2-40B4-BE49-F238E27FC236}">
                <a16:creationId xmlns:a16="http://schemas.microsoft.com/office/drawing/2014/main" id="{F84F8AF7-7CC8-DEF7-A263-58566E0EF1B6}"/>
              </a:ext>
            </a:extLst>
          </p:cNvPr>
          <p:cNvCxnSpPr>
            <a:cxnSpLocks/>
          </p:cNvCxnSpPr>
          <p:nvPr/>
        </p:nvCxnSpPr>
        <p:spPr>
          <a:xfrm flipH="1" flipV="1">
            <a:off x="3586480" y="4015333"/>
            <a:ext cx="1127760" cy="261580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BA606791-C4A5-2153-3335-48427F0A9D15}"/>
              </a:ext>
            </a:extLst>
          </p:cNvPr>
          <p:cNvSpPr txBox="1"/>
          <p:nvPr/>
        </p:nvSpPr>
        <p:spPr>
          <a:xfrm>
            <a:off x="5265868" y="7000465"/>
            <a:ext cx="2361304" cy="369332"/>
          </a:xfrm>
          <a:prstGeom prst="rect">
            <a:avLst/>
          </a:prstGeom>
          <a:noFill/>
        </p:spPr>
        <p:txBody>
          <a:bodyPr wrap="square">
            <a:spAutoFit/>
          </a:bodyPr>
          <a:lstStyle/>
          <a:p>
            <a:r>
              <a:rPr lang="ar-EG" dirty="0"/>
              <a:t>)</a:t>
            </a:r>
            <a:r>
              <a:rPr lang="en-US" dirty="0"/>
              <a:t>Privilege Escalation</a:t>
            </a:r>
            <a:r>
              <a:rPr lang="ar-EG" dirty="0"/>
              <a:t>(</a:t>
            </a:r>
            <a:endParaRPr lang="en-US" dirty="0"/>
          </a:p>
        </p:txBody>
      </p:sp>
    </p:spTree>
    <p:extLst>
      <p:ext uri="{BB962C8B-B14F-4D97-AF65-F5344CB8AC3E}">
        <p14:creationId xmlns:p14="http://schemas.microsoft.com/office/powerpoint/2010/main" val="20751260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CA885E-6A47-A83C-FBA8-8D32F94E631E}"/>
            </a:ext>
          </a:extLst>
        </p:cNvPr>
        <p:cNvGrpSpPr/>
        <p:nvPr/>
      </p:nvGrpSpPr>
      <p:grpSpPr>
        <a:xfrm>
          <a:off x="0" y="0"/>
          <a:ext cx="0" cy="0"/>
          <a:chOff x="0" y="0"/>
          <a:chExt cx="0" cy="0"/>
        </a:xfrm>
      </p:grpSpPr>
      <p:pic>
        <p:nvPicPr>
          <p:cNvPr id="1027" name="Picture 3">
            <a:extLst>
              <a:ext uri="{FF2B5EF4-FFF2-40B4-BE49-F238E27FC236}">
                <a16:creationId xmlns:a16="http://schemas.microsoft.com/office/drawing/2014/main" id="{CE7B6575-03CF-C408-5318-12717DD5EAD8}"/>
              </a:ext>
            </a:extLst>
          </p:cNvPr>
          <p:cNvPicPr>
            <a:picLocks noChangeAspect="1" noChangeArrowheads="1"/>
          </p:cNvPicPr>
          <p:nvPr/>
        </p:nvPicPr>
        <p:blipFill>
          <a:blip r:embed="rId2"/>
          <a:srcRect t="-9550" b="9550"/>
          <a:stretch>
            <a:fillRect/>
          </a:stretch>
        </p:blipFill>
        <p:spPr bwMode="auto">
          <a:xfrm>
            <a:off x="-1" y="0"/>
            <a:ext cx="10691814" cy="5932170"/>
          </a:xfrm>
          <a:prstGeom prst="rect">
            <a:avLst/>
          </a:prstGeom>
          <a:noFill/>
        </p:spPr>
      </p:pic>
      <p:sp>
        <p:nvSpPr>
          <p:cNvPr id="3" name="TextBox 2">
            <a:extLst>
              <a:ext uri="{FF2B5EF4-FFF2-40B4-BE49-F238E27FC236}">
                <a16:creationId xmlns:a16="http://schemas.microsoft.com/office/drawing/2014/main" id="{BF0CD7DC-0F07-F1B7-45C6-DD268916132C}"/>
              </a:ext>
            </a:extLst>
          </p:cNvPr>
          <p:cNvSpPr txBox="1"/>
          <p:nvPr/>
        </p:nvSpPr>
        <p:spPr>
          <a:xfrm>
            <a:off x="877729" y="1744980"/>
            <a:ext cx="5344160" cy="461665"/>
          </a:xfrm>
          <a:prstGeom prst="rect">
            <a:avLst/>
          </a:prstGeom>
          <a:noFill/>
        </p:spPr>
        <p:txBody>
          <a:bodyPr wrap="square">
            <a:spAutoFit/>
          </a:bodyPr>
          <a:lstStyle/>
          <a:p>
            <a:r>
              <a:rPr lang="en-US" sz="2400" dirty="0"/>
              <a:t>Alert Triage</a:t>
            </a:r>
            <a:r>
              <a:rPr lang="ar-EG" sz="2400" dirty="0"/>
              <a:t>: </a:t>
            </a:r>
            <a:endParaRPr lang="en-US" sz="2400" dirty="0"/>
          </a:p>
        </p:txBody>
      </p:sp>
      <p:graphicFrame>
        <p:nvGraphicFramePr>
          <p:cNvPr id="6" name="Table 5">
            <a:extLst>
              <a:ext uri="{FF2B5EF4-FFF2-40B4-BE49-F238E27FC236}">
                <a16:creationId xmlns:a16="http://schemas.microsoft.com/office/drawing/2014/main" id="{7E140AA8-368A-0C2C-F98E-1DA99B8EE67E}"/>
              </a:ext>
            </a:extLst>
          </p:cNvPr>
          <p:cNvGraphicFramePr>
            <a:graphicFrameLocks noGrp="1"/>
          </p:cNvGraphicFramePr>
          <p:nvPr/>
        </p:nvGraphicFramePr>
        <p:xfrm>
          <a:off x="877728" y="2713374"/>
          <a:ext cx="9282272" cy="3565506"/>
        </p:xfrm>
        <a:graphic>
          <a:graphicData uri="http://schemas.openxmlformats.org/drawingml/2006/table">
            <a:tbl>
              <a:tblPr bandRow="1">
                <a:tableStyleId>{00A15C55-8517-42AA-B614-E9B94910E393}</a:tableStyleId>
              </a:tblPr>
              <a:tblGrid>
                <a:gridCol w="2536032">
                  <a:extLst>
                    <a:ext uri="{9D8B030D-6E8A-4147-A177-3AD203B41FA5}">
                      <a16:colId xmlns:a16="http://schemas.microsoft.com/office/drawing/2014/main" val="4042349364"/>
                    </a:ext>
                  </a:extLst>
                </a:gridCol>
                <a:gridCol w="6746240">
                  <a:extLst>
                    <a:ext uri="{9D8B030D-6E8A-4147-A177-3AD203B41FA5}">
                      <a16:colId xmlns:a16="http://schemas.microsoft.com/office/drawing/2014/main" val="3664509633"/>
                    </a:ext>
                  </a:extLst>
                </a:gridCol>
              </a:tblGrid>
              <a:tr h="594251">
                <a:tc>
                  <a:txBody>
                    <a:bodyPr/>
                    <a:lstStyle/>
                    <a:p>
                      <a:pPr algn="ctr"/>
                      <a:r>
                        <a:rPr lang="en-US" dirty="0"/>
                        <a:t>Alert Name</a:t>
                      </a:r>
                    </a:p>
                  </a:txBody>
                  <a:tcPr/>
                </a:tc>
                <a:tc>
                  <a:txBody>
                    <a:bodyPr/>
                    <a:lstStyle/>
                    <a:p>
                      <a:r>
                        <a:rPr lang="en-US" sz="1800" b="0" dirty="0"/>
                        <a:t>Privilege Escalation</a:t>
                      </a:r>
                      <a:endParaRPr lang="en-US" b="0" dirty="0"/>
                    </a:p>
                  </a:txBody>
                  <a:tcPr/>
                </a:tc>
                <a:extLst>
                  <a:ext uri="{0D108BD9-81ED-4DB2-BD59-A6C34878D82A}">
                    <a16:rowId xmlns:a16="http://schemas.microsoft.com/office/drawing/2014/main" val="3064936987"/>
                  </a:ext>
                </a:extLst>
              </a:tr>
              <a:tr h="594251">
                <a:tc>
                  <a:txBody>
                    <a:bodyPr/>
                    <a:lstStyle/>
                    <a:p>
                      <a:pPr algn="ctr"/>
                      <a:r>
                        <a:rPr lang="en-US" dirty="0"/>
                        <a:t>Severity</a:t>
                      </a:r>
                    </a:p>
                  </a:txBody>
                  <a:tcPr/>
                </a:tc>
                <a:tc>
                  <a:txBody>
                    <a:bodyPr/>
                    <a:lstStyle/>
                    <a:p>
                      <a:r>
                        <a:rPr lang="en-US" dirty="0"/>
                        <a:t>High</a:t>
                      </a:r>
                    </a:p>
                  </a:txBody>
                  <a:tcPr/>
                </a:tc>
                <a:extLst>
                  <a:ext uri="{0D108BD9-81ED-4DB2-BD59-A6C34878D82A}">
                    <a16:rowId xmlns:a16="http://schemas.microsoft.com/office/drawing/2014/main" val="3178792509"/>
                  </a:ext>
                </a:extLst>
              </a:tr>
              <a:tr h="594251">
                <a:tc>
                  <a:txBody>
                    <a:bodyPr/>
                    <a:lstStyle/>
                    <a:p>
                      <a:pPr algn="ctr"/>
                      <a:r>
                        <a:rPr lang="en-US" dirty="0"/>
                        <a:t>Host</a:t>
                      </a:r>
                    </a:p>
                  </a:txBody>
                  <a:tcPr/>
                </a:tc>
                <a:tc>
                  <a:txBody>
                    <a:bodyPr/>
                    <a:lstStyle/>
                    <a:p>
                      <a:r>
                        <a:rPr lang="en-US" dirty="0"/>
                        <a:t>Asus </a:t>
                      </a:r>
                    </a:p>
                  </a:txBody>
                  <a:tcPr/>
                </a:tc>
                <a:extLst>
                  <a:ext uri="{0D108BD9-81ED-4DB2-BD59-A6C34878D82A}">
                    <a16:rowId xmlns:a16="http://schemas.microsoft.com/office/drawing/2014/main" val="2880365340"/>
                  </a:ext>
                </a:extLst>
              </a:tr>
              <a:tr h="594251">
                <a:tc>
                  <a:txBody>
                    <a:bodyPr/>
                    <a:lstStyle/>
                    <a:p>
                      <a:pPr algn="ctr"/>
                      <a:r>
                        <a:rPr lang="en-US" dirty="0"/>
                        <a:t>MITRE</a:t>
                      </a:r>
                    </a:p>
                  </a:txBody>
                  <a:tcPr/>
                </a:tc>
                <a:tc>
                  <a:txBody>
                    <a:bodyPr/>
                    <a:lstStyle/>
                    <a:p>
                      <a:r>
                        <a:rPr lang="en-US" dirty="0"/>
                        <a:t>T1098</a:t>
                      </a:r>
                    </a:p>
                  </a:txBody>
                  <a:tcPr/>
                </a:tc>
                <a:extLst>
                  <a:ext uri="{0D108BD9-81ED-4DB2-BD59-A6C34878D82A}">
                    <a16:rowId xmlns:a16="http://schemas.microsoft.com/office/drawing/2014/main" val="3666350517"/>
                  </a:ext>
                </a:extLst>
              </a:tr>
              <a:tr h="594251">
                <a:tc>
                  <a:txBody>
                    <a:bodyPr/>
                    <a:lstStyle/>
                    <a:p>
                      <a:pPr algn="ctr"/>
                      <a:r>
                        <a:rPr lang="en-US" dirty="0"/>
                        <a:t>Status</a:t>
                      </a:r>
                    </a:p>
                  </a:txBody>
                  <a:tcPr/>
                </a:tc>
                <a:tc>
                  <a:txBody>
                    <a:bodyPr/>
                    <a:lstStyle/>
                    <a:p>
                      <a:r>
                        <a:rPr lang="en-US" dirty="0"/>
                        <a:t>True positive </a:t>
                      </a:r>
                    </a:p>
                  </a:txBody>
                  <a:tcPr/>
                </a:tc>
                <a:extLst>
                  <a:ext uri="{0D108BD9-81ED-4DB2-BD59-A6C34878D82A}">
                    <a16:rowId xmlns:a16="http://schemas.microsoft.com/office/drawing/2014/main" val="1268743883"/>
                  </a:ext>
                </a:extLst>
              </a:tr>
              <a:tr h="594251">
                <a:tc>
                  <a:txBody>
                    <a:bodyPr/>
                    <a:lstStyle/>
                    <a:p>
                      <a:pPr algn="ctr"/>
                      <a:r>
                        <a:rPr lang="en-US" dirty="0"/>
                        <a:t>Analyst Notes</a:t>
                      </a:r>
                    </a:p>
                  </a:txBody>
                  <a:tcPr/>
                </a:tc>
                <a:tc>
                  <a:txBody>
                    <a:bodyPr/>
                    <a:lstStyle/>
                    <a:p>
                      <a:r>
                        <a:rPr lang="en-US" dirty="0"/>
                        <a:t>Unauthorized User Added to Local Administrators Group </a:t>
                      </a:r>
                    </a:p>
                  </a:txBody>
                  <a:tcPr/>
                </a:tc>
                <a:extLst>
                  <a:ext uri="{0D108BD9-81ED-4DB2-BD59-A6C34878D82A}">
                    <a16:rowId xmlns:a16="http://schemas.microsoft.com/office/drawing/2014/main" val="3632913206"/>
                  </a:ext>
                </a:extLst>
              </a:tr>
            </a:tbl>
          </a:graphicData>
        </a:graphic>
      </p:graphicFrame>
    </p:spTree>
    <p:extLst>
      <p:ext uri="{BB962C8B-B14F-4D97-AF65-F5344CB8AC3E}">
        <p14:creationId xmlns:p14="http://schemas.microsoft.com/office/powerpoint/2010/main" val="25218800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CCBB4-BBD6-41CC-A4AE-2984296E4877}"/>
            </a:ext>
          </a:extLst>
        </p:cNvPr>
        <p:cNvGrpSpPr/>
        <p:nvPr/>
      </p:nvGrpSpPr>
      <p:grpSpPr>
        <a:xfrm>
          <a:off x="0" y="0"/>
          <a:ext cx="0" cy="0"/>
          <a:chOff x="0" y="0"/>
          <a:chExt cx="0" cy="0"/>
        </a:xfrm>
      </p:grpSpPr>
      <p:pic>
        <p:nvPicPr>
          <p:cNvPr id="1027" name="Picture 3">
            <a:extLst>
              <a:ext uri="{FF2B5EF4-FFF2-40B4-BE49-F238E27FC236}">
                <a16:creationId xmlns:a16="http://schemas.microsoft.com/office/drawing/2014/main" id="{CFFC9C01-1AEE-58CD-D69C-755FC0C5A2CB}"/>
              </a:ext>
            </a:extLst>
          </p:cNvPr>
          <p:cNvPicPr>
            <a:picLocks noChangeAspect="1" noChangeArrowheads="1"/>
          </p:cNvPicPr>
          <p:nvPr/>
        </p:nvPicPr>
        <p:blipFill>
          <a:blip r:embed="rId2"/>
          <a:srcRect t="-9550" b="9550"/>
          <a:stretch>
            <a:fillRect/>
          </a:stretch>
        </p:blipFill>
        <p:spPr bwMode="auto">
          <a:xfrm>
            <a:off x="0" y="-225088"/>
            <a:ext cx="10691814" cy="5932170"/>
          </a:xfrm>
          <a:prstGeom prst="rect">
            <a:avLst/>
          </a:prstGeom>
          <a:noFill/>
        </p:spPr>
      </p:pic>
      <p:sp>
        <p:nvSpPr>
          <p:cNvPr id="9" name="TextBox 8">
            <a:extLst>
              <a:ext uri="{FF2B5EF4-FFF2-40B4-BE49-F238E27FC236}">
                <a16:creationId xmlns:a16="http://schemas.microsoft.com/office/drawing/2014/main" id="{9EAFBB5D-1631-2079-A1A7-B5570939EF5D}"/>
              </a:ext>
            </a:extLst>
          </p:cNvPr>
          <p:cNvSpPr txBox="1"/>
          <p:nvPr/>
        </p:nvSpPr>
        <p:spPr>
          <a:xfrm>
            <a:off x="2540000" y="699185"/>
            <a:ext cx="5425440" cy="461665"/>
          </a:xfrm>
          <a:prstGeom prst="rect">
            <a:avLst/>
          </a:prstGeom>
          <a:noFill/>
        </p:spPr>
        <p:txBody>
          <a:bodyPr wrap="square">
            <a:spAutoFit/>
          </a:bodyPr>
          <a:lstStyle/>
          <a:p>
            <a:r>
              <a:rPr lang="en-US" sz="2400" dirty="0"/>
              <a:t>Attack &amp; Detection Documentation</a:t>
            </a:r>
          </a:p>
        </p:txBody>
      </p:sp>
      <p:sp>
        <p:nvSpPr>
          <p:cNvPr id="11" name="TextBox 10">
            <a:extLst>
              <a:ext uri="{FF2B5EF4-FFF2-40B4-BE49-F238E27FC236}">
                <a16:creationId xmlns:a16="http://schemas.microsoft.com/office/drawing/2014/main" id="{27A27CF3-67ED-715C-C020-53968946BBE6}"/>
              </a:ext>
            </a:extLst>
          </p:cNvPr>
          <p:cNvSpPr txBox="1"/>
          <p:nvPr/>
        </p:nvSpPr>
        <p:spPr>
          <a:xfrm>
            <a:off x="751840" y="1983742"/>
            <a:ext cx="7802880" cy="369332"/>
          </a:xfrm>
          <a:prstGeom prst="rect">
            <a:avLst/>
          </a:prstGeom>
          <a:noFill/>
        </p:spPr>
        <p:txBody>
          <a:bodyPr wrap="square">
            <a:spAutoFit/>
          </a:bodyPr>
          <a:lstStyle/>
          <a:p>
            <a:r>
              <a:rPr lang="en-US" dirty="0"/>
              <a:t>• </a:t>
            </a:r>
            <a:r>
              <a:rPr lang="en-US" b="1" dirty="0"/>
              <a:t>Target Machine (Victim):</a:t>
            </a:r>
            <a:r>
              <a:rPr lang="en-US" dirty="0"/>
              <a:t> Windows 11 VM (Host Name: </a:t>
            </a:r>
            <a:r>
              <a:rPr lang="en-US" dirty="0" err="1">
                <a:latin typeface="Courier New" panose="02070309020205020404" pitchFamily="49" charset="0"/>
              </a:rPr>
              <a:t>asus</a:t>
            </a:r>
            <a:r>
              <a:rPr lang="en-US" dirty="0"/>
              <a:t>)</a:t>
            </a:r>
          </a:p>
        </p:txBody>
      </p:sp>
      <p:sp>
        <p:nvSpPr>
          <p:cNvPr id="13" name="TextBox 12">
            <a:extLst>
              <a:ext uri="{FF2B5EF4-FFF2-40B4-BE49-F238E27FC236}">
                <a16:creationId xmlns:a16="http://schemas.microsoft.com/office/drawing/2014/main" id="{B9EBA511-3D99-3062-2376-28951C6BD2EE}"/>
              </a:ext>
            </a:extLst>
          </p:cNvPr>
          <p:cNvSpPr txBox="1"/>
          <p:nvPr/>
        </p:nvSpPr>
        <p:spPr>
          <a:xfrm>
            <a:off x="751840" y="1669624"/>
            <a:ext cx="5425440" cy="369332"/>
          </a:xfrm>
          <a:prstGeom prst="rect">
            <a:avLst/>
          </a:prstGeom>
          <a:noFill/>
        </p:spPr>
        <p:txBody>
          <a:bodyPr wrap="square">
            <a:spAutoFit/>
          </a:bodyPr>
          <a:lstStyle/>
          <a:p>
            <a:r>
              <a:rPr lang="en-US" dirty="0"/>
              <a:t>• </a:t>
            </a:r>
            <a:r>
              <a:rPr lang="en-US" b="1" dirty="0"/>
              <a:t>Tool Used:</a:t>
            </a:r>
            <a:r>
              <a:rPr lang="en-US" dirty="0"/>
              <a:t> Atomic Red Team (ART)</a:t>
            </a:r>
          </a:p>
        </p:txBody>
      </p:sp>
      <p:sp>
        <p:nvSpPr>
          <p:cNvPr id="15" name="TextBox 14">
            <a:extLst>
              <a:ext uri="{FF2B5EF4-FFF2-40B4-BE49-F238E27FC236}">
                <a16:creationId xmlns:a16="http://schemas.microsoft.com/office/drawing/2014/main" id="{8FDCA55E-9CE7-2AD9-ADD2-88281B236134}"/>
              </a:ext>
            </a:extLst>
          </p:cNvPr>
          <p:cNvSpPr txBox="1"/>
          <p:nvPr/>
        </p:nvSpPr>
        <p:spPr>
          <a:xfrm>
            <a:off x="751840" y="2364569"/>
            <a:ext cx="5425440" cy="369332"/>
          </a:xfrm>
          <a:prstGeom prst="rect">
            <a:avLst/>
          </a:prstGeom>
          <a:noFill/>
        </p:spPr>
        <p:txBody>
          <a:bodyPr wrap="square">
            <a:spAutoFit/>
          </a:bodyPr>
          <a:lstStyle/>
          <a:p>
            <a:r>
              <a:rPr lang="en-US" dirty="0"/>
              <a:t>• </a:t>
            </a:r>
            <a:r>
              <a:rPr lang="en-US" b="1" dirty="0"/>
              <a:t>MITRE ATT&amp;CK Tactic:</a:t>
            </a:r>
            <a:r>
              <a:rPr lang="en-US" dirty="0"/>
              <a:t> Credential Access</a:t>
            </a:r>
          </a:p>
        </p:txBody>
      </p:sp>
      <p:sp>
        <p:nvSpPr>
          <p:cNvPr id="17" name="TextBox 16">
            <a:extLst>
              <a:ext uri="{FF2B5EF4-FFF2-40B4-BE49-F238E27FC236}">
                <a16:creationId xmlns:a16="http://schemas.microsoft.com/office/drawing/2014/main" id="{F084D685-C546-0D21-7A4D-DC892B63010A}"/>
              </a:ext>
            </a:extLst>
          </p:cNvPr>
          <p:cNvSpPr txBox="1"/>
          <p:nvPr/>
        </p:nvSpPr>
        <p:spPr>
          <a:xfrm>
            <a:off x="751840" y="2690181"/>
            <a:ext cx="7589520" cy="369332"/>
          </a:xfrm>
          <a:prstGeom prst="rect">
            <a:avLst/>
          </a:prstGeom>
          <a:noFill/>
        </p:spPr>
        <p:txBody>
          <a:bodyPr wrap="square">
            <a:spAutoFit/>
          </a:bodyPr>
          <a:lstStyle/>
          <a:p>
            <a:r>
              <a:rPr lang="en-US" dirty="0"/>
              <a:t>• </a:t>
            </a:r>
            <a:r>
              <a:rPr lang="en-US" b="1" dirty="0"/>
              <a:t>MITRE ATT&amp;CK Technique:</a:t>
            </a:r>
            <a:r>
              <a:rPr lang="en-US" dirty="0"/>
              <a:t> Brute Force </a:t>
            </a:r>
            <a:r>
              <a:rPr lang="ar-EG" dirty="0"/>
              <a:t>)</a:t>
            </a:r>
            <a:r>
              <a:rPr lang="en-US" dirty="0"/>
              <a:t> </a:t>
            </a:r>
            <a:r>
              <a:rPr lang="en-US" b="1" dirty="0"/>
              <a:t>T1110</a:t>
            </a:r>
            <a:r>
              <a:rPr lang="ar-EG" dirty="0"/>
              <a:t>( </a:t>
            </a:r>
            <a:endParaRPr lang="en-US" dirty="0"/>
          </a:p>
        </p:txBody>
      </p:sp>
      <p:sp>
        <p:nvSpPr>
          <p:cNvPr id="19" name="TextBox 18">
            <a:extLst>
              <a:ext uri="{FF2B5EF4-FFF2-40B4-BE49-F238E27FC236}">
                <a16:creationId xmlns:a16="http://schemas.microsoft.com/office/drawing/2014/main" id="{515AE1C8-59FC-38EE-E007-E5F0D146BC32}"/>
              </a:ext>
            </a:extLst>
          </p:cNvPr>
          <p:cNvSpPr txBox="1"/>
          <p:nvPr/>
        </p:nvSpPr>
        <p:spPr>
          <a:xfrm>
            <a:off x="751840" y="3059513"/>
            <a:ext cx="7725186" cy="646331"/>
          </a:xfrm>
          <a:prstGeom prst="rect">
            <a:avLst/>
          </a:prstGeom>
          <a:noFill/>
        </p:spPr>
        <p:txBody>
          <a:bodyPr wrap="square">
            <a:spAutoFit/>
          </a:bodyPr>
          <a:lstStyle/>
          <a:p>
            <a:r>
              <a:rPr lang="en-US" dirty="0"/>
              <a:t>• </a:t>
            </a:r>
            <a:r>
              <a:rPr lang="en-US" b="1" dirty="0"/>
              <a:t>Simulation Mechanism:</a:t>
            </a:r>
            <a:r>
              <a:rPr lang="en-US" dirty="0"/>
              <a:t> Self-Simulation (The host executes the technique locally to simulate a compromised scenario).</a:t>
            </a:r>
          </a:p>
        </p:txBody>
      </p:sp>
      <p:sp>
        <p:nvSpPr>
          <p:cNvPr id="21" name="TextBox 20">
            <a:extLst>
              <a:ext uri="{FF2B5EF4-FFF2-40B4-BE49-F238E27FC236}">
                <a16:creationId xmlns:a16="http://schemas.microsoft.com/office/drawing/2014/main" id="{64EEAE56-2FD9-63EF-B0E9-ED185D560E2E}"/>
              </a:ext>
            </a:extLst>
          </p:cNvPr>
          <p:cNvSpPr txBox="1"/>
          <p:nvPr/>
        </p:nvSpPr>
        <p:spPr>
          <a:xfrm>
            <a:off x="518160" y="3882405"/>
            <a:ext cx="9946640" cy="1754326"/>
          </a:xfrm>
          <a:prstGeom prst="rect">
            <a:avLst/>
          </a:prstGeom>
          <a:noFill/>
        </p:spPr>
        <p:txBody>
          <a:bodyPr wrap="square">
            <a:spAutoFit/>
          </a:bodyPr>
          <a:lstStyle/>
          <a:p>
            <a:pPr>
              <a:buNone/>
            </a:pPr>
            <a:r>
              <a:rPr lang="en-US" b="1" dirty="0"/>
              <a:t>Attack Scenario Description</a:t>
            </a:r>
          </a:p>
          <a:p>
            <a:pPr>
              <a:buNone/>
            </a:pPr>
            <a:r>
              <a:rPr lang="en-US" dirty="0"/>
              <a:t>This test simulates an authentication exploitation tactic where an attacker or an automated script attempts to gain unauthorized access to a system by guessing local account passwords. By executing a rapid looping sequence of incorrect login attempts, the simulation forces the Windows subsystem to trigger defense telemetry, allowing the SOC team to detect malicious credential-hunting patterns before a successful breach occurs.</a:t>
            </a:r>
          </a:p>
        </p:txBody>
      </p:sp>
      <p:sp>
        <p:nvSpPr>
          <p:cNvPr id="23" name="TextBox 22">
            <a:extLst>
              <a:ext uri="{FF2B5EF4-FFF2-40B4-BE49-F238E27FC236}">
                <a16:creationId xmlns:a16="http://schemas.microsoft.com/office/drawing/2014/main" id="{D768F8BC-5969-FE8D-8D7E-E5BB8522E8D5}"/>
              </a:ext>
            </a:extLst>
          </p:cNvPr>
          <p:cNvSpPr txBox="1"/>
          <p:nvPr/>
        </p:nvSpPr>
        <p:spPr>
          <a:xfrm>
            <a:off x="518160" y="5707082"/>
            <a:ext cx="10173653" cy="1785104"/>
          </a:xfrm>
          <a:prstGeom prst="rect">
            <a:avLst/>
          </a:prstGeom>
          <a:noFill/>
        </p:spPr>
        <p:txBody>
          <a:bodyPr wrap="square">
            <a:spAutoFit/>
          </a:bodyPr>
          <a:lstStyle/>
          <a:p>
            <a:r>
              <a:rPr lang="en-US" sz="2000" b="1" dirty="0"/>
              <a:t>SIEM Rule Deployment</a:t>
            </a:r>
            <a:endParaRPr lang="ar-EG" sz="2000" b="1" dirty="0"/>
          </a:p>
          <a:p>
            <a:endParaRPr lang="ar-EG" dirty="0"/>
          </a:p>
          <a:p>
            <a:r>
              <a:rPr lang="en-US" dirty="0"/>
              <a:t>• </a:t>
            </a:r>
            <a:r>
              <a:rPr lang="en-US" b="1" dirty="0"/>
              <a:t>Rule Name:</a:t>
            </a:r>
            <a:r>
              <a:rPr lang="en-US" dirty="0"/>
              <a:t> Credential Access – Brute Force Detection</a:t>
            </a:r>
            <a:endParaRPr lang="ar-EG" dirty="0"/>
          </a:p>
          <a:p>
            <a:r>
              <a:rPr lang="en-US" dirty="0"/>
              <a:t>• </a:t>
            </a:r>
            <a:r>
              <a:rPr lang="en-US" b="1" dirty="0"/>
              <a:t>Severity:</a:t>
            </a:r>
            <a:r>
              <a:rPr lang="en-US" dirty="0"/>
              <a:t> Medium (Can be escalated to High if thresholds are breached within a short timeframe)</a:t>
            </a:r>
          </a:p>
          <a:p>
            <a:r>
              <a:rPr lang="en-US" dirty="0"/>
              <a:t>•</a:t>
            </a:r>
            <a:r>
              <a:rPr lang="en-US" b="1" dirty="0"/>
              <a:t> Detection Logic (Event ID):</a:t>
            </a:r>
            <a:r>
              <a:rPr lang="en-US" dirty="0"/>
              <a:t> 4625</a:t>
            </a:r>
          </a:p>
          <a:p>
            <a:endParaRPr lang="en-US" dirty="0"/>
          </a:p>
        </p:txBody>
      </p:sp>
      <p:sp>
        <p:nvSpPr>
          <p:cNvPr id="24" name="TextBox 23">
            <a:extLst>
              <a:ext uri="{FF2B5EF4-FFF2-40B4-BE49-F238E27FC236}">
                <a16:creationId xmlns:a16="http://schemas.microsoft.com/office/drawing/2014/main" id="{E27641D4-9D1F-72DD-245B-84BD3E481310}"/>
              </a:ext>
            </a:extLst>
          </p:cNvPr>
          <p:cNvSpPr txBox="1"/>
          <p:nvPr/>
        </p:nvSpPr>
        <p:spPr>
          <a:xfrm>
            <a:off x="518160" y="1306763"/>
            <a:ext cx="3747116" cy="400110"/>
          </a:xfrm>
          <a:prstGeom prst="rect">
            <a:avLst/>
          </a:prstGeom>
          <a:noFill/>
        </p:spPr>
        <p:txBody>
          <a:bodyPr wrap="none" rtlCol="0">
            <a:spAutoFit/>
          </a:bodyPr>
          <a:lstStyle/>
          <a:p>
            <a:r>
              <a:rPr lang="en-US" sz="2000" b="1" dirty="0">
                <a:solidFill>
                  <a:srgbClr val="FF0000"/>
                </a:solidFill>
              </a:rPr>
              <a:t>Use Case 3:</a:t>
            </a:r>
            <a:r>
              <a:rPr lang="en-US" sz="2000" b="1" dirty="0"/>
              <a:t> Brute Force attack</a:t>
            </a:r>
          </a:p>
        </p:txBody>
      </p:sp>
    </p:spTree>
    <p:extLst>
      <p:ext uri="{BB962C8B-B14F-4D97-AF65-F5344CB8AC3E}">
        <p14:creationId xmlns:p14="http://schemas.microsoft.com/office/powerpoint/2010/main" val="15483965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A007B9-E0D3-7482-6D37-D64EA521B82D}"/>
            </a:ext>
          </a:extLst>
        </p:cNvPr>
        <p:cNvGrpSpPr/>
        <p:nvPr/>
      </p:nvGrpSpPr>
      <p:grpSpPr>
        <a:xfrm>
          <a:off x="0" y="0"/>
          <a:ext cx="0" cy="0"/>
          <a:chOff x="0" y="0"/>
          <a:chExt cx="0" cy="0"/>
        </a:xfrm>
      </p:grpSpPr>
      <p:pic>
        <p:nvPicPr>
          <p:cNvPr id="1027" name="Picture 3">
            <a:extLst>
              <a:ext uri="{FF2B5EF4-FFF2-40B4-BE49-F238E27FC236}">
                <a16:creationId xmlns:a16="http://schemas.microsoft.com/office/drawing/2014/main" id="{AEE962B8-83A3-1B74-CFA1-9C831C2A4958}"/>
              </a:ext>
            </a:extLst>
          </p:cNvPr>
          <p:cNvPicPr>
            <a:picLocks noChangeAspect="1" noChangeArrowheads="1"/>
          </p:cNvPicPr>
          <p:nvPr/>
        </p:nvPicPr>
        <p:blipFill>
          <a:blip r:embed="rId2"/>
          <a:srcRect t="-9550" b="9550"/>
          <a:stretch>
            <a:fillRect/>
          </a:stretch>
        </p:blipFill>
        <p:spPr bwMode="auto">
          <a:xfrm>
            <a:off x="0" y="-379061"/>
            <a:ext cx="10691814" cy="5932170"/>
          </a:xfrm>
          <a:prstGeom prst="rect">
            <a:avLst/>
          </a:prstGeom>
          <a:noFill/>
        </p:spPr>
      </p:pic>
      <p:sp>
        <p:nvSpPr>
          <p:cNvPr id="15" name="TextBox 14">
            <a:extLst>
              <a:ext uri="{FF2B5EF4-FFF2-40B4-BE49-F238E27FC236}">
                <a16:creationId xmlns:a16="http://schemas.microsoft.com/office/drawing/2014/main" id="{15B51F01-0887-D505-C032-D1F4BE85768B}"/>
              </a:ext>
            </a:extLst>
          </p:cNvPr>
          <p:cNvSpPr txBox="1"/>
          <p:nvPr/>
        </p:nvSpPr>
        <p:spPr>
          <a:xfrm>
            <a:off x="2980073" y="1340927"/>
            <a:ext cx="5346550" cy="369332"/>
          </a:xfrm>
          <a:prstGeom prst="rect">
            <a:avLst/>
          </a:prstGeom>
          <a:noFill/>
        </p:spPr>
        <p:txBody>
          <a:bodyPr wrap="square">
            <a:spAutoFit/>
          </a:bodyPr>
          <a:lstStyle/>
          <a:p>
            <a:r>
              <a:rPr lang="en-US" dirty="0" err="1">
                <a:latin typeface="Courier New" panose="02070309020205020404" pitchFamily="49" charset="0"/>
              </a:rPr>
              <a:t>event_id</a:t>
            </a:r>
            <a:r>
              <a:rPr lang="en-US" dirty="0">
                <a:latin typeface="Courier New" panose="02070309020205020404" pitchFamily="49" charset="0"/>
              </a:rPr>
              <a:t>: 4625 (failed login )</a:t>
            </a:r>
            <a:r>
              <a:rPr lang="en-US" dirty="0"/>
              <a:t> </a:t>
            </a:r>
          </a:p>
        </p:txBody>
      </p:sp>
      <p:pic>
        <p:nvPicPr>
          <p:cNvPr id="14" name="Picture 13">
            <a:extLst>
              <a:ext uri="{FF2B5EF4-FFF2-40B4-BE49-F238E27FC236}">
                <a16:creationId xmlns:a16="http://schemas.microsoft.com/office/drawing/2014/main" id="{6AE0E814-0F6D-8F0D-2D2E-F4188F3F9018}"/>
              </a:ext>
            </a:extLst>
          </p:cNvPr>
          <p:cNvPicPr>
            <a:picLocks noChangeAspect="1"/>
          </p:cNvPicPr>
          <p:nvPr/>
        </p:nvPicPr>
        <p:blipFill>
          <a:blip r:embed="rId3"/>
          <a:stretch>
            <a:fillRect/>
          </a:stretch>
        </p:blipFill>
        <p:spPr>
          <a:xfrm>
            <a:off x="0" y="1723138"/>
            <a:ext cx="10691813" cy="4460685"/>
          </a:xfrm>
          <a:prstGeom prst="rect">
            <a:avLst/>
          </a:prstGeom>
        </p:spPr>
      </p:pic>
    </p:spTree>
    <p:extLst>
      <p:ext uri="{BB962C8B-B14F-4D97-AF65-F5344CB8AC3E}">
        <p14:creationId xmlns:p14="http://schemas.microsoft.com/office/powerpoint/2010/main" val="17438778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3ECFB4-653B-E743-9DF0-A834B3FAE469}"/>
            </a:ext>
          </a:extLst>
        </p:cNvPr>
        <p:cNvGrpSpPr/>
        <p:nvPr/>
      </p:nvGrpSpPr>
      <p:grpSpPr>
        <a:xfrm>
          <a:off x="0" y="0"/>
          <a:ext cx="0" cy="0"/>
          <a:chOff x="0" y="0"/>
          <a:chExt cx="0" cy="0"/>
        </a:xfrm>
      </p:grpSpPr>
      <p:pic>
        <p:nvPicPr>
          <p:cNvPr id="1027" name="Picture 3">
            <a:extLst>
              <a:ext uri="{FF2B5EF4-FFF2-40B4-BE49-F238E27FC236}">
                <a16:creationId xmlns:a16="http://schemas.microsoft.com/office/drawing/2014/main" id="{366AC61C-74A3-19B6-C933-BC0AD0CF84FA}"/>
              </a:ext>
            </a:extLst>
          </p:cNvPr>
          <p:cNvPicPr>
            <a:picLocks noChangeAspect="1" noChangeArrowheads="1"/>
          </p:cNvPicPr>
          <p:nvPr/>
        </p:nvPicPr>
        <p:blipFill>
          <a:blip r:embed="rId2"/>
          <a:srcRect t="-9550" b="9550"/>
          <a:stretch>
            <a:fillRect/>
          </a:stretch>
        </p:blipFill>
        <p:spPr bwMode="auto">
          <a:xfrm>
            <a:off x="0" y="-236821"/>
            <a:ext cx="10691814" cy="5932170"/>
          </a:xfrm>
          <a:prstGeom prst="rect">
            <a:avLst/>
          </a:prstGeom>
          <a:noFill/>
        </p:spPr>
      </p:pic>
      <p:pic>
        <p:nvPicPr>
          <p:cNvPr id="3" name="Picture 2">
            <a:extLst>
              <a:ext uri="{FF2B5EF4-FFF2-40B4-BE49-F238E27FC236}">
                <a16:creationId xmlns:a16="http://schemas.microsoft.com/office/drawing/2014/main" id="{3229CE83-C9C2-0797-60E6-558A4A9C7073}"/>
              </a:ext>
            </a:extLst>
          </p:cNvPr>
          <p:cNvPicPr>
            <a:picLocks noChangeAspect="1"/>
          </p:cNvPicPr>
          <p:nvPr/>
        </p:nvPicPr>
        <p:blipFill>
          <a:blip r:embed="rId3"/>
          <a:stretch>
            <a:fillRect/>
          </a:stretch>
        </p:blipFill>
        <p:spPr>
          <a:xfrm>
            <a:off x="935915" y="706684"/>
            <a:ext cx="8283389" cy="3499487"/>
          </a:xfrm>
          <a:prstGeom prst="rect">
            <a:avLst/>
          </a:prstGeom>
        </p:spPr>
      </p:pic>
      <p:pic>
        <p:nvPicPr>
          <p:cNvPr id="5" name="Picture 4">
            <a:extLst>
              <a:ext uri="{FF2B5EF4-FFF2-40B4-BE49-F238E27FC236}">
                <a16:creationId xmlns:a16="http://schemas.microsoft.com/office/drawing/2014/main" id="{CE108FD2-63B0-C808-C977-F261737C9067}"/>
              </a:ext>
            </a:extLst>
          </p:cNvPr>
          <p:cNvPicPr>
            <a:picLocks noChangeAspect="1"/>
          </p:cNvPicPr>
          <p:nvPr/>
        </p:nvPicPr>
        <p:blipFill>
          <a:blip r:embed="rId4"/>
          <a:stretch>
            <a:fillRect/>
          </a:stretch>
        </p:blipFill>
        <p:spPr>
          <a:xfrm>
            <a:off x="935915" y="4206171"/>
            <a:ext cx="8283389" cy="3318579"/>
          </a:xfrm>
          <a:prstGeom prst="rect">
            <a:avLst/>
          </a:prstGeom>
        </p:spPr>
      </p:pic>
    </p:spTree>
    <p:extLst>
      <p:ext uri="{BB962C8B-B14F-4D97-AF65-F5344CB8AC3E}">
        <p14:creationId xmlns:p14="http://schemas.microsoft.com/office/powerpoint/2010/main" val="19784203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C7EC70-C082-6DFB-12AB-3976B2DC089D}"/>
            </a:ext>
          </a:extLst>
        </p:cNvPr>
        <p:cNvGrpSpPr/>
        <p:nvPr/>
      </p:nvGrpSpPr>
      <p:grpSpPr>
        <a:xfrm>
          <a:off x="0" y="0"/>
          <a:ext cx="0" cy="0"/>
          <a:chOff x="0" y="0"/>
          <a:chExt cx="0" cy="0"/>
        </a:xfrm>
      </p:grpSpPr>
      <p:pic>
        <p:nvPicPr>
          <p:cNvPr id="1027" name="Picture 3">
            <a:extLst>
              <a:ext uri="{FF2B5EF4-FFF2-40B4-BE49-F238E27FC236}">
                <a16:creationId xmlns:a16="http://schemas.microsoft.com/office/drawing/2014/main" id="{74CFEAA2-E18E-FD4E-ED94-AC61386449AF}"/>
              </a:ext>
            </a:extLst>
          </p:cNvPr>
          <p:cNvPicPr>
            <a:picLocks noChangeAspect="1" noChangeArrowheads="1"/>
          </p:cNvPicPr>
          <p:nvPr/>
        </p:nvPicPr>
        <p:blipFill>
          <a:blip r:embed="rId2"/>
          <a:srcRect t="-9550" b="9550"/>
          <a:stretch>
            <a:fillRect/>
          </a:stretch>
        </p:blipFill>
        <p:spPr bwMode="auto">
          <a:xfrm>
            <a:off x="-1" y="-31950"/>
            <a:ext cx="10691814" cy="5932170"/>
          </a:xfrm>
          <a:prstGeom prst="rect">
            <a:avLst/>
          </a:prstGeom>
          <a:noFill/>
        </p:spPr>
      </p:pic>
      <p:pic>
        <p:nvPicPr>
          <p:cNvPr id="6" name="Picture 5">
            <a:extLst>
              <a:ext uri="{FF2B5EF4-FFF2-40B4-BE49-F238E27FC236}">
                <a16:creationId xmlns:a16="http://schemas.microsoft.com/office/drawing/2014/main" id="{99EC72CF-C3EF-3D6B-DDA1-196FB986980C}"/>
              </a:ext>
            </a:extLst>
          </p:cNvPr>
          <p:cNvPicPr>
            <a:picLocks noChangeAspect="1"/>
          </p:cNvPicPr>
          <p:nvPr/>
        </p:nvPicPr>
        <p:blipFill>
          <a:blip r:embed="rId3"/>
          <a:stretch>
            <a:fillRect/>
          </a:stretch>
        </p:blipFill>
        <p:spPr>
          <a:xfrm>
            <a:off x="2664692" y="2181267"/>
            <a:ext cx="2802212" cy="499119"/>
          </a:xfrm>
          <a:prstGeom prst="rect">
            <a:avLst/>
          </a:prstGeom>
        </p:spPr>
      </p:pic>
      <p:sp>
        <p:nvSpPr>
          <p:cNvPr id="10" name="TextBox 9">
            <a:extLst>
              <a:ext uri="{FF2B5EF4-FFF2-40B4-BE49-F238E27FC236}">
                <a16:creationId xmlns:a16="http://schemas.microsoft.com/office/drawing/2014/main" id="{A16856D0-14CB-6171-37B3-BC7001A52C78}"/>
              </a:ext>
            </a:extLst>
          </p:cNvPr>
          <p:cNvSpPr txBox="1"/>
          <p:nvPr/>
        </p:nvSpPr>
        <p:spPr>
          <a:xfrm>
            <a:off x="608873" y="2246161"/>
            <a:ext cx="1841017" cy="369332"/>
          </a:xfrm>
          <a:prstGeom prst="rect">
            <a:avLst/>
          </a:prstGeom>
          <a:noFill/>
        </p:spPr>
        <p:txBody>
          <a:bodyPr wrap="none" rtlCol="0">
            <a:spAutoFit/>
          </a:bodyPr>
          <a:lstStyle/>
          <a:p>
            <a:r>
              <a:rPr lang="en-US" dirty="0"/>
              <a:t>1- @ CMD write :</a:t>
            </a:r>
          </a:p>
        </p:txBody>
      </p:sp>
      <p:sp>
        <p:nvSpPr>
          <p:cNvPr id="12" name="TextBox 11">
            <a:extLst>
              <a:ext uri="{FF2B5EF4-FFF2-40B4-BE49-F238E27FC236}">
                <a16:creationId xmlns:a16="http://schemas.microsoft.com/office/drawing/2014/main" id="{64639255-1073-A190-1836-301FA2B60251}"/>
              </a:ext>
            </a:extLst>
          </p:cNvPr>
          <p:cNvSpPr txBox="1"/>
          <p:nvPr/>
        </p:nvSpPr>
        <p:spPr>
          <a:xfrm>
            <a:off x="608873" y="2720480"/>
            <a:ext cx="2055819" cy="369332"/>
          </a:xfrm>
          <a:prstGeom prst="rect">
            <a:avLst/>
          </a:prstGeom>
          <a:noFill/>
        </p:spPr>
        <p:txBody>
          <a:bodyPr wrap="none" rtlCol="0">
            <a:spAutoFit/>
          </a:bodyPr>
          <a:lstStyle/>
          <a:p>
            <a:r>
              <a:rPr lang="en-US" dirty="0"/>
              <a:t>2- Then click Enter </a:t>
            </a:r>
          </a:p>
        </p:txBody>
      </p:sp>
      <p:sp>
        <p:nvSpPr>
          <p:cNvPr id="14" name="TextBox 13">
            <a:extLst>
              <a:ext uri="{FF2B5EF4-FFF2-40B4-BE49-F238E27FC236}">
                <a16:creationId xmlns:a16="http://schemas.microsoft.com/office/drawing/2014/main" id="{0DA246AA-6B4A-B10D-D3C4-CF9ABCACF92F}"/>
              </a:ext>
            </a:extLst>
          </p:cNvPr>
          <p:cNvSpPr txBox="1"/>
          <p:nvPr/>
        </p:nvSpPr>
        <p:spPr>
          <a:xfrm>
            <a:off x="624840" y="3330882"/>
            <a:ext cx="3941272" cy="369332"/>
          </a:xfrm>
          <a:prstGeom prst="rect">
            <a:avLst/>
          </a:prstGeom>
          <a:noFill/>
        </p:spPr>
        <p:txBody>
          <a:bodyPr wrap="none" rtlCol="0">
            <a:spAutoFit/>
          </a:bodyPr>
          <a:lstStyle/>
          <a:p>
            <a:r>
              <a:rPr lang="en-US" dirty="0"/>
              <a:t>3- Then write any </a:t>
            </a:r>
            <a:r>
              <a:rPr lang="en-US" dirty="0" err="1"/>
              <a:t>uncorrect</a:t>
            </a:r>
            <a:r>
              <a:rPr lang="en-US" dirty="0"/>
              <a:t> password </a:t>
            </a:r>
          </a:p>
        </p:txBody>
      </p:sp>
      <p:sp>
        <p:nvSpPr>
          <p:cNvPr id="15" name="TextBox 14">
            <a:extLst>
              <a:ext uri="{FF2B5EF4-FFF2-40B4-BE49-F238E27FC236}">
                <a16:creationId xmlns:a16="http://schemas.microsoft.com/office/drawing/2014/main" id="{E4B85A1B-3F6A-8431-6EC5-FCE3086A8E96}"/>
              </a:ext>
            </a:extLst>
          </p:cNvPr>
          <p:cNvSpPr txBox="1"/>
          <p:nvPr/>
        </p:nvSpPr>
        <p:spPr>
          <a:xfrm>
            <a:off x="2853045" y="4430885"/>
            <a:ext cx="4645311" cy="369332"/>
          </a:xfrm>
          <a:prstGeom prst="rect">
            <a:avLst/>
          </a:prstGeom>
          <a:noFill/>
        </p:spPr>
        <p:txBody>
          <a:bodyPr wrap="none" rtlCol="0">
            <a:spAutoFit/>
          </a:bodyPr>
          <a:lstStyle/>
          <a:p>
            <a:r>
              <a:rPr lang="en-US" dirty="0" err="1"/>
              <a:t>Repeate</a:t>
            </a:r>
            <a:r>
              <a:rPr lang="en-US" dirty="0"/>
              <a:t> this steps 5 times to trigger the alert </a:t>
            </a:r>
          </a:p>
        </p:txBody>
      </p:sp>
      <p:sp>
        <p:nvSpPr>
          <p:cNvPr id="16" name="TextBox 15">
            <a:extLst>
              <a:ext uri="{FF2B5EF4-FFF2-40B4-BE49-F238E27FC236}">
                <a16:creationId xmlns:a16="http://schemas.microsoft.com/office/drawing/2014/main" id="{25653A6A-5F70-9AAC-9CF1-D778C9705D8B}"/>
              </a:ext>
            </a:extLst>
          </p:cNvPr>
          <p:cNvSpPr txBox="1"/>
          <p:nvPr/>
        </p:nvSpPr>
        <p:spPr>
          <a:xfrm>
            <a:off x="3462636" y="1371076"/>
            <a:ext cx="3426131" cy="400110"/>
          </a:xfrm>
          <a:prstGeom prst="rect">
            <a:avLst/>
          </a:prstGeom>
          <a:noFill/>
        </p:spPr>
        <p:txBody>
          <a:bodyPr wrap="none" rtlCol="0">
            <a:spAutoFit/>
          </a:bodyPr>
          <a:lstStyle/>
          <a:p>
            <a:r>
              <a:rPr lang="en-US" sz="2000" b="1" dirty="0"/>
              <a:t>Simulate Brute force attack </a:t>
            </a:r>
          </a:p>
        </p:txBody>
      </p:sp>
    </p:spTree>
    <p:extLst>
      <p:ext uri="{BB962C8B-B14F-4D97-AF65-F5344CB8AC3E}">
        <p14:creationId xmlns:p14="http://schemas.microsoft.com/office/powerpoint/2010/main" val="37420209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DA7E7-6DA3-4CEA-29BF-C4EBE2003943}"/>
            </a:ext>
          </a:extLst>
        </p:cNvPr>
        <p:cNvGrpSpPr/>
        <p:nvPr/>
      </p:nvGrpSpPr>
      <p:grpSpPr>
        <a:xfrm>
          <a:off x="0" y="0"/>
          <a:ext cx="0" cy="0"/>
          <a:chOff x="0" y="0"/>
          <a:chExt cx="0" cy="0"/>
        </a:xfrm>
      </p:grpSpPr>
      <p:pic>
        <p:nvPicPr>
          <p:cNvPr id="1027" name="Picture 3">
            <a:extLst>
              <a:ext uri="{FF2B5EF4-FFF2-40B4-BE49-F238E27FC236}">
                <a16:creationId xmlns:a16="http://schemas.microsoft.com/office/drawing/2014/main" id="{4F6925D7-93F7-C82C-1419-642445CCB60E}"/>
              </a:ext>
            </a:extLst>
          </p:cNvPr>
          <p:cNvPicPr>
            <a:picLocks noChangeAspect="1" noChangeArrowheads="1"/>
          </p:cNvPicPr>
          <p:nvPr/>
        </p:nvPicPr>
        <p:blipFill>
          <a:blip r:embed="rId2"/>
          <a:srcRect t="-9550" b="9550"/>
          <a:stretch>
            <a:fillRect/>
          </a:stretch>
        </p:blipFill>
        <p:spPr bwMode="auto">
          <a:xfrm>
            <a:off x="-1" y="0"/>
            <a:ext cx="10691814" cy="5932170"/>
          </a:xfrm>
          <a:prstGeom prst="rect">
            <a:avLst/>
          </a:prstGeom>
          <a:noFill/>
        </p:spPr>
      </p:pic>
      <p:sp>
        <p:nvSpPr>
          <p:cNvPr id="3" name="TextBox 2">
            <a:extLst>
              <a:ext uri="{FF2B5EF4-FFF2-40B4-BE49-F238E27FC236}">
                <a16:creationId xmlns:a16="http://schemas.microsoft.com/office/drawing/2014/main" id="{FC1839E9-8743-3C54-50E5-9318FD656BFD}"/>
              </a:ext>
            </a:extLst>
          </p:cNvPr>
          <p:cNvSpPr txBox="1"/>
          <p:nvPr/>
        </p:nvSpPr>
        <p:spPr>
          <a:xfrm>
            <a:off x="877729" y="1744980"/>
            <a:ext cx="5344160" cy="461665"/>
          </a:xfrm>
          <a:prstGeom prst="rect">
            <a:avLst/>
          </a:prstGeom>
          <a:noFill/>
        </p:spPr>
        <p:txBody>
          <a:bodyPr wrap="square">
            <a:spAutoFit/>
          </a:bodyPr>
          <a:lstStyle/>
          <a:p>
            <a:r>
              <a:rPr lang="en-US" sz="2400" dirty="0"/>
              <a:t>Alert Triage</a:t>
            </a:r>
            <a:r>
              <a:rPr lang="ar-EG" sz="2400" dirty="0"/>
              <a:t>: </a:t>
            </a:r>
            <a:endParaRPr lang="en-US" sz="2400" dirty="0"/>
          </a:p>
        </p:txBody>
      </p:sp>
      <p:graphicFrame>
        <p:nvGraphicFramePr>
          <p:cNvPr id="6" name="Table 5">
            <a:extLst>
              <a:ext uri="{FF2B5EF4-FFF2-40B4-BE49-F238E27FC236}">
                <a16:creationId xmlns:a16="http://schemas.microsoft.com/office/drawing/2014/main" id="{0FC57104-2031-5EB5-A369-3E1D9B11A1FD}"/>
              </a:ext>
            </a:extLst>
          </p:cNvPr>
          <p:cNvGraphicFramePr>
            <a:graphicFrameLocks noGrp="1"/>
          </p:cNvGraphicFramePr>
          <p:nvPr/>
        </p:nvGraphicFramePr>
        <p:xfrm>
          <a:off x="877728" y="2713374"/>
          <a:ext cx="8154511" cy="3664675"/>
        </p:xfrm>
        <a:graphic>
          <a:graphicData uri="http://schemas.openxmlformats.org/drawingml/2006/table">
            <a:tbl>
              <a:tblPr bandRow="1">
                <a:tableStyleId>{00A15C55-8517-42AA-B614-E9B94910E393}</a:tableStyleId>
              </a:tblPr>
              <a:tblGrid>
                <a:gridCol w="3014096">
                  <a:extLst>
                    <a:ext uri="{9D8B030D-6E8A-4147-A177-3AD203B41FA5}">
                      <a16:colId xmlns:a16="http://schemas.microsoft.com/office/drawing/2014/main" val="4042349364"/>
                    </a:ext>
                  </a:extLst>
                </a:gridCol>
                <a:gridCol w="5140415">
                  <a:extLst>
                    <a:ext uri="{9D8B030D-6E8A-4147-A177-3AD203B41FA5}">
                      <a16:colId xmlns:a16="http://schemas.microsoft.com/office/drawing/2014/main" val="3664509633"/>
                    </a:ext>
                  </a:extLst>
                </a:gridCol>
              </a:tblGrid>
              <a:tr h="594251">
                <a:tc>
                  <a:txBody>
                    <a:bodyPr/>
                    <a:lstStyle/>
                    <a:p>
                      <a:pPr algn="ctr"/>
                      <a:r>
                        <a:rPr lang="en-US" dirty="0"/>
                        <a:t>Alert Name</a:t>
                      </a:r>
                    </a:p>
                  </a:txBody>
                  <a:tcPr/>
                </a:tc>
                <a:tc>
                  <a:txBody>
                    <a:bodyPr/>
                    <a:lstStyle/>
                    <a:p>
                      <a:pPr marL="0" marR="0" lvl="0" indent="0" algn="l" defTabSz="1003280" rtl="0" eaLnBrk="1" fontAlgn="auto" latinLnBrk="0" hangingPunct="1">
                        <a:lnSpc>
                          <a:spcPct val="100000"/>
                        </a:lnSpc>
                        <a:spcBef>
                          <a:spcPts val="0"/>
                        </a:spcBef>
                        <a:spcAft>
                          <a:spcPts val="0"/>
                        </a:spcAft>
                        <a:buClrTx/>
                        <a:buSzTx/>
                        <a:buFontTx/>
                        <a:buNone/>
                        <a:tabLst/>
                        <a:defRPr/>
                      </a:pPr>
                      <a:r>
                        <a:rPr lang="en-US" dirty="0"/>
                        <a:t>Credential Access – Brute Force Detection</a:t>
                      </a:r>
                    </a:p>
                    <a:p>
                      <a:endParaRPr lang="en-US" dirty="0"/>
                    </a:p>
                  </a:txBody>
                  <a:tcPr/>
                </a:tc>
                <a:extLst>
                  <a:ext uri="{0D108BD9-81ED-4DB2-BD59-A6C34878D82A}">
                    <a16:rowId xmlns:a16="http://schemas.microsoft.com/office/drawing/2014/main" val="3064936987"/>
                  </a:ext>
                </a:extLst>
              </a:tr>
              <a:tr h="594251">
                <a:tc>
                  <a:txBody>
                    <a:bodyPr/>
                    <a:lstStyle/>
                    <a:p>
                      <a:pPr algn="ctr"/>
                      <a:r>
                        <a:rPr lang="en-US" dirty="0"/>
                        <a:t>Severity</a:t>
                      </a:r>
                    </a:p>
                  </a:txBody>
                  <a:tcPr/>
                </a:tc>
                <a:tc>
                  <a:txBody>
                    <a:bodyPr/>
                    <a:lstStyle/>
                    <a:p>
                      <a:r>
                        <a:rPr lang="en-US" dirty="0"/>
                        <a:t>Medium</a:t>
                      </a:r>
                    </a:p>
                  </a:txBody>
                  <a:tcPr/>
                </a:tc>
                <a:extLst>
                  <a:ext uri="{0D108BD9-81ED-4DB2-BD59-A6C34878D82A}">
                    <a16:rowId xmlns:a16="http://schemas.microsoft.com/office/drawing/2014/main" val="3178792509"/>
                  </a:ext>
                </a:extLst>
              </a:tr>
              <a:tr h="594251">
                <a:tc>
                  <a:txBody>
                    <a:bodyPr/>
                    <a:lstStyle/>
                    <a:p>
                      <a:pPr algn="ctr"/>
                      <a:r>
                        <a:rPr lang="en-US" dirty="0"/>
                        <a:t>Host</a:t>
                      </a:r>
                    </a:p>
                  </a:txBody>
                  <a:tcPr/>
                </a:tc>
                <a:tc>
                  <a:txBody>
                    <a:bodyPr/>
                    <a:lstStyle/>
                    <a:p>
                      <a:r>
                        <a:rPr lang="en-US" dirty="0"/>
                        <a:t>Asus</a:t>
                      </a:r>
                    </a:p>
                  </a:txBody>
                  <a:tcPr/>
                </a:tc>
                <a:extLst>
                  <a:ext uri="{0D108BD9-81ED-4DB2-BD59-A6C34878D82A}">
                    <a16:rowId xmlns:a16="http://schemas.microsoft.com/office/drawing/2014/main" val="2880365340"/>
                  </a:ext>
                </a:extLst>
              </a:tr>
              <a:tr h="594251">
                <a:tc>
                  <a:txBody>
                    <a:bodyPr/>
                    <a:lstStyle/>
                    <a:p>
                      <a:pPr algn="ctr"/>
                      <a:r>
                        <a:rPr lang="en-US" dirty="0"/>
                        <a:t>MITRE</a:t>
                      </a:r>
                    </a:p>
                  </a:txBody>
                  <a:tcPr/>
                </a:tc>
                <a:tc>
                  <a:txBody>
                    <a:bodyPr/>
                    <a:lstStyle/>
                    <a:p>
                      <a:r>
                        <a:rPr lang="en-US" dirty="0"/>
                        <a:t>T1110</a:t>
                      </a:r>
                    </a:p>
                  </a:txBody>
                  <a:tcPr/>
                </a:tc>
                <a:extLst>
                  <a:ext uri="{0D108BD9-81ED-4DB2-BD59-A6C34878D82A}">
                    <a16:rowId xmlns:a16="http://schemas.microsoft.com/office/drawing/2014/main" val="3666350517"/>
                  </a:ext>
                </a:extLst>
              </a:tr>
              <a:tr h="594251">
                <a:tc>
                  <a:txBody>
                    <a:bodyPr/>
                    <a:lstStyle/>
                    <a:p>
                      <a:pPr algn="ctr"/>
                      <a:r>
                        <a:rPr lang="en-US" dirty="0"/>
                        <a:t>Status</a:t>
                      </a:r>
                    </a:p>
                  </a:txBody>
                  <a:tcPr/>
                </a:tc>
                <a:tc>
                  <a:txBody>
                    <a:bodyPr/>
                    <a:lstStyle/>
                    <a:p>
                      <a:r>
                        <a:rPr lang="en-US" dirty="0"/>
                        <a:t>True Positive</a:t>
                      </a:r>
                    </a:p>
                  </a:txBody>
                  <a:tcPr/>
                </a:tc>
                <a:extLst>
                  <a:ext uri="{0D108BD9-81ED-4DB2-BD59-A6C34878D82A}">
                    <a16:rowId xmlns:a16="http://schemas.microsoft.com/office/drawing/2014/main" val="1268743883"/>
                  </a:ext>
                </a:extLst>
              </a:tr>
              <a:tr h="594251">
                <a:tc>
                  <a:txBody>
                    <a:bodyPr/>
                    <a:lstStyle/>
                    <a:p>
                      <a:pPr algn="ctr"/>
                      <a:r>
                        <a:rPr lang="en-US" dirty="0"/>
                        <a:t>Analyst Notes</a:t>
                      </a:r>
                    </a:p>
                  </a:txBody>
                  <a:tcPr/>
                </a:tc>
                <a:tc>
                  <a:txBody>
                    <a:bodyPr/>
                    <a:lstStyle/>
                    <a:p>
                      <a:r>
                        <a:rPr lang="en-US" dirty="0"/>
                        <a:t>Multiple failed login attempts detected</a:t>
                      </a:r>
                    </a:p>
                  </a:txBody>
                  <a:tcPr/>
                </a:tc>
                <a:extLst>
                  <a:ext uri="{0D108BD9-81ED-4DB2-BD59-A6C34878D82A}">
                    <a16:rowId xmlns:a16="http://schemas.microsoft.com/office/drawing/2014/main" val="3632913206"/>
                  </a:ext>
                </a:extLst>
              </a:tr>
            </a:tbl>
          </a:graphicData>
        </a:graphic>
      </p:graphicFrame>
    </p:spTree>
    <p:extLst>
      <p:ext uri="{BB962C8B-B14F-4D97-AF65-F5344CB8AC3E}">
        <p14:creationId xmlns:p14="http://schemas.microsoft.com/office/powerpoint/2010/main" val="37698836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E294C-D6C5-790B-BCF7-282DC329B7C3}"/>
            </a:ext>
          </a:extLst>
        </p:cNvPr>
        <p:cNvGrpSpPr/>
        <p:nvPr/>
      </p:nvGrpSpPr>
      <p:grpSpPr>
        <a:xfrm>
          <a:off x="0" y="0"/>
          <a:ext cx="0" cy="0"/>
          <a:chOff x="0" y="0"/>
          <a:chExt cx="0" cy="0"/>
        </a:xfrm>
      </p:grpSpPr>
      <p:pic>
        <p:nvPicPr>
          <p:cNvPr id="1027" name="Picture 3">
            <a:extLst>
              <a:ext uri="{FF2B5EF4-FFF2-40B4-BE49-F238E27FC236}">
                <a16:creationId xmlns:a16="http://schemas.microsoft.com/office/drawing/2014/main" id="{9AC58565-7ACA-308D-9534-772D00D9C32D}"/>
              </a:ext>
            </a:extLst>
          </p:cNvPr>
          <p:cNvPicPr>
            <a:picLocks noChangeAspect="1" noChangeArrowheads="1"/>
          </p:cNvPicPr>
          <p:nvPr/>
        </p:nvPicPr>
        <p:blipFill>
          <a:blip r:embed="rId2"/>
          <a:srcRect t="-9550" b="9550"/>
          <a:stretch>
            <a:fillRect/>
          </a:stretch>
        </p:blipFill>
        <p:spPr bwMode="auto">
          <a:xfrm>
            <a:off x="-1" y="0"/>
            <a:ext cx="10691814" cy="5932170"/>
          </a:xfrm>
          <a:prstGeom prst="rect">
            <a:avLst/>
          </a:prstGeom>
          <a:noFill/>
        </p:spPr>
      </p:pic>
      <p:sp>
        <p:nvSpPr>
          <p:cNvPr id="4" name="TextBox 3">
            <a:extLst>
              <a:ext uri="{FF2B5EF4-FFF2-40B4-BE49-F238E27FC236}">
                <a16:creationId xmlns:a16="http://schemas.microsoft.com/office/drawing/2014/main" id="{4438427E-9828-8D90-71CF-F2571EEDCE3D}"/>
              </a:ext>
            </a:extLst>
          </p:cNvPr>
          <p:cNvSpPr txBox="1"/>
          <p:nvPr/>
        </p:nvSpPr>
        <p:spPr>
          <a:xfrm>
            <a:off x="2633186" y="924858"/>
            <a:ext cx="5425440" cy="461665"/>
          </a:xfrm>
          <a:prstGeom prst="rect">
            <a:avLst/>
          </a:prstGeom>
          <a:noFill/>
        </p:spPr>
        <p:txBody>
          <a:bodyPr wrap="square">
            <a:spAutoFit/>
          </a:bodyPr>
          <a:lstStyle/>
          <a:p>
            <a:r>
              <a:rPr lang="en-US" sz="2400" b="1" dirty="0"/>
              <a:t>Indicators of Compromise (IOCs)</a:t>
            </a:r>
          </a:p>
        </p:txBody>
      </p:sp>
      <p:sp>
        <p:nvSpPr>
          <p:cNvPr id="9" name="TextBox 8">
            <a:extLst>
              <a:ext uri="{FF2B5EF4-FFF2-40B4-BE49-F238E27FC236}">
                <a16:creationId xmlns:a16="http://schemas.microsoft.com/office/drawing/2014/main" id="{C7444D39-06F5-474B-8EF5-8E01A5FB4CED}"/>
              </a:ext>
            </a:extLst>
          </p:cNvPr>
          <p:cNvSpPr txBox="1"/>
          <p:nvPr/>
        </p:nvSpPr>
        <p:spPr>
          <a:xfrm>
            <a:off x="731520" y="2482334"/>
            <a:ext cx="5344160" cy="369332"/>
          </a:xfrm>
          <a:prstGeom prst="rect">
            <a:avLst/>
          </a:prstGeom>
          <a:noFill/>
        </p:spPr>
        <p:txBody>
          <a:bodyPr wrap="square">
            <a:spAutoFit/>
          </a:bodyPr>
          <a:lstStyle/>
          <a:p>
            <a:r>
              <a:rPr lang="en-US" sz="1800" b="1" dirty="0">
                <a:solidFill>
                  <a:srgbClr val="FF0000"/>
                </a:solidFill>
              </a:rPr>
              <a:t>Use Case 1: </a:t>
            </a:r>
            <a:r>
              <a:rPr lang="en-US" sz="1800" b="1" dirty="0"/>
              <a:t>Create account attack </a:t>
            </a:r>
          </a:p>
        </p:txBody>
      </p:sp>
      <p:pic>
        <p:nvPicPr>
          <p:cNvPr id="11" name="Picture 10">
            <a:extLst>
              <a:ext uri="{FF2B5EF4-FFF2-40B4-BE49-F238E27FC236}">
                <a16:creationId xmlns:a16="http://schemas.microsoft.com/office/drawing/2014/main" id="{B64613C1-2102-C4CD-A214-85831FF06CB6}"/>
              </a:ext>
            </a:extLst>
          </p:cNvPr>
          <p:cNvPicPr>
            <a:picLocks noChangeAspect="1"/>
          </p:cNvPicPr>
          <p:nvPr/>
        </p:nvPicPr>
        <p:blipFill>
          <a:blip r:embed="rId3"/>
          <a:stretch>
            <a:fillRect/>
          </a:stretch>
        </p:blipFill>
        <p:spPr>
          <a:xfrm>
            <a:off x="5098190" y="2311380"/>
            <a:ext cx="2382652" cy="711240"/>
          </a:xfrm>
          <a:prstGeom prst="rect">
            <a:avLst/>
          </a:prstGeom>
        </p:spPr>
      </p:pic>
      <p:sp>
        <p:nvSpPr>
          <p:cNvPr id="13" name="TextBox 12">
            <a:extLst>
              <a:ext uri="{FF2B5EF4-FFF2-40B4-BE49-F238E27FC236}">
                <a16:creationId xmlns:a16="http://schemas.microsoft.com/office/drawing/2014/main" id="{B4DB404E-7754-1955-147B-92DEBEDBBD82}"/>
              </a:ext>
            </a:extLst>
          </p:cNvPr>
          <p:cNvSpPr txBox="1"/>
          <p:nvPr/>
        </p:nvSpPr>
        <p:spPr>
          <a:xfrm>
            <a:off x="690880" y="3781117"/>
            <a:ext cx="5425440" cy="369332"/>
          </a:xfrm>
          <a:prstGeom prst="rect">
            <a:avLst/>
          </a:prstGeom>
          <a:noFill/>
        </p:spPr>
        <p:txBody>
          <a:bodyPr wrap="square">
            <a:spAutoFit/>
          </a:bodyPr>
          <a:lstStyle/>
          <a:p>
            <a:r>
              <a:rPr lang="en-US" sz="1800" b="1" dirty="0">
                <a:solidFill>
                  <a:srgbClr val="FF0000"/>
                </a:solidFill>
              </a:rPr>
              <a:t>Use Case 2: </a:t>
            </a:r>
            <a:r>
              <a:rPr lang="en-US" sz="1800" b="1" dirty="0"/>
              <a:t>Privilege Escalation attack </a:t>
            </a:r>
          </a:p>
        </p:txBody>
      </p:sp>
      <p:pic>
        <p:nvPicPr>
          <p:cNvPr id="15" name="Picture 14">
            <a:extLst>
              <a:ext uri="{FF2B5EF4-FFF2-40B4-BE49-F238E27FC236}">
                <a16:creationId xmlns:a16="http://schemas.microsoft.com/office/drawing/2014/main" id="{C5231A6B-787D-9E09-E3B9-62262CB12416}"/>
              </a:ext>
            </a:extLst>
          </p:cNvPr>
          <p:cNvPicPr>
            <a:picLocks noChangeAspect="1"/>
          </p:cNvPicPr>
          <p:nvPr/>
        </p:nvPicPr>
        <p:blipFill>
          <a:blip r:embed="rId4"/>
          <a:stretch>
            <a:fillRect/>
          </a:stretch>
        </p:blipFill>
        <p:spPr>
          <a:xfrm>
            <a:off x="5098190" y="3610163"/>
            <a:ext cx="2785688" cy="711240"/>
          </a:xfrm>
          <a:prstGeom prst="rect">
            <a:avLst/>
          </a:prstGeom>
        </p:spPr>
      </p:pic>
      <p:sp>
        <p:nvSpPr>
          <p:cNvPr id="17" name="TextBox 16">
            <a:extLst>
              <a:ext uri="{FF2B5EF4-FFF2-40B4-BE49-F238E27FC236}">
                <a16:creationId xmlns:a16="http://schemas.microsoft.com/office/drawing/2014/main" id="{14EC423C-DA47-327B-070E-8390CCA1F7D4}"/>
              </a:ext>
            </a:extLst>
          </p:cNvPr>
          <p:cNvSpPr txBox="1"/>
          <p:nvPr/>
        </p:nvSpPr>
        <p:spPr>
          <a:xfrm>
            <a:off x="690880" y="5211643"/>
            <a:ext cx="5344160" cy="369332"/>
          </a:xfrm>
          <a:prstGeom prst="rect">
            <a:avLst/>
          </a:prstGeom>
          <a:noFill/>
        </p:spPr>
        <p:txBody>
          <a:bodyPr wrap="square">
            <a:spAutoFit/>
          </a:bodyPr>
          <a:lstStyle/>
          <a:p>
            <a:r>
              <a:rPr lang="en-US" sz="1800" b="1" dirty="0">
                <a:solidFill>
                  <a:srgbClr val="FF0000"/>
                </a:solidFill>
              </a:rPr>
              <a:t>Use Case 3:</a:t>
            </a:r>
            <a:r>
              <a:rPr lang="en-US" sz="1800" b="1" dirty="0"/>
              <a:t> Brute Force attack</a:t>
            </a:r>
          </a:p>
        </p:txBody>
      </p:sp>
      <p:pic>
        <p:nvPicPr>
          <p:cNvPr id="19" name="Picture 18">
            <a:extLst>
              <a:ext uri="{FF2B5EF4-FFF2-40B4-BE49-F238E27FC236}">
                <a16:creationId xmlns:a16="http://schemas.microsoft.com/office/drawing/2014/main" id="{40FB4861-426A-E439-1433-F7FBD018D9AA}"/>
              </a:ext>
            </a:extLst>
          </p:cNvPr>
          <p:cNvPicPr>
            <a:picLocks noChangeAspect="1"/>
          </p:cNvPicPr>
          <p:nvPr/>
        </p:nvPicPr>
        <p:blipFill>
          <a:blip r:embed="rId5"/>
          <a:stretch>
            <a:fillRect/>
          </a:stretch>
        </p:blipFill>
        <p:spPr>
          <a:xfrm>
            <a:off x="5098190" y="5077297"/>
            <a:ext cx="2402232" cy="640595"/>
          </a:xfrm>
          <a:prstGeom prst="rect">
            <a:avLst/>
          </a:prstGeom>
        </p:spPr>
      </p:pic>
      <p:sp>
        <p:nvSpPr>
          <p:cNvPr id="21" name="TextBox 20">
            <a:extLst>
              <a:ext uri="{FF2B5EF4-FFF2-40B4-BE49-F238E27FC236}">
                <a16:creationId xmlns:a16="http://schemas.microsoft.com/office/drawing/2014/main" id="{11177554-A4D5-AEBC-545E-68D5C5F303EC}"/>
              </a:ext>
            </a:extLst>
          </p:cNvPr>
          <p:cNvSpPr txBox="1"/>
          <p:nvPr/>
        </p:nvSpPr>
        <p:spPr>
          <a:xfrm>
            <a:off x="487680" y="2498649"/>
            <a:ext cx="5344160" cy="369332"/>
          </a:xfrm>
          <a:prstGeom prst="rect">
            <a:avLst/>
          </a:prstGeom>
          <a:noFill/>
        </p:spPr>
        <p:txBody>
          <a:bodyPr wrap="square">
            <a:spAutoFit/>
          </a:bodyPr>
          <a:lstStyle/>
          <a:p>
            <a:r>
              <a:rPr lang="en-US" dirty="0"/>
              <a:t>•</a:t>
            </a:r>
          </a:p>
        </p:txBody>
      </p:sp>
      <p:sp>
        <p:nvSpPr>
          <p:cNvPr id="23" name="TextBox 22">
            <a:extLst>
              <a:ext uri="{FF2B5EF4-FFF2-40B4-BE49-F238E27FC236}">
                <a16:creationId xmlns:a16="http://schemas.microsoft.com/office/drawing/2014/main" id="{CE3E58F9-0125-2383-A525-C3AAC280DBC8}"/>
              </a:ext>
            </a:extLst>
          </p:cNvPr>
          <p:cNvSpPr txBox="1"/>
          <p:nvPr/>
        </p:nvSpPr>
        <p:spPr>
          <a:xfrm>
            <a:off x="487680" y="3762811"/>
            <a:ext cx="5344160" cy="369332"/>
          </a:xfrm>
          <a:prstGeom prst="rect">
            <a:avLst/>
          </a:prstGeom>
          <a:noFill/>
        </p:spPr>
        <p:txBody>
          <a:bodyPr wrap="square">
            <a:spAutoFit/>
          </a:bodyPr>
          <a:lstStyle/>
          <a:p>
            <a:r>
              <a:rPr lang="en-US" dirty="0"/>
              <a:t>•</a:t>
            </a:r>
          </a:p>
        </p:txBody>
      </p:sp>
      <p:sp>
        <p:nvSpPr>
          <p:cNvPr id="25" name="TextBox 24">
            <a:extLst>
              <a:ext uri="{FF2B5EF4-FFF2-40B4-BE49-F238E27FC236}">
                <a16:creationId xmlns:a16="http://schemas.microsoft.com/office/drawing/2014/main" id="{EEA47B63-1F2B-4675-F5E8-CE94D793FAB9}"/>
              </a:ext>
            </a:extLst>
          </p:cNvPr>
          <p:cNvSpPr txBox="1"/>
          <p:nvPr/>
        </p:nvSpPr>
        <p:spPr>
          <a:xfrm>
            <a:off x="487680" y="5246260"/>
            <a:ext cx="5344160" cy="369332"/>
          </a:xfrm>
          <a:prstGeom prst="rect">
            <a:avLst/>
          </a:prstGeom>
          <a:noFill/>
        </p:spPr>
        <p:txBody>
          <a:bodyPr wrap="square">
            <a:spAutoFit/>
          </a:bodyPr>
          <a:lstStyle/>
          <a:p>
            <a:r>
              <a:rPr lang="en-US" dirty="0"/>
              <a:t>•</a:t>
            </a:r>
          </a:p>
        </p:txBody>
      </p:sp>
    </p:spTree>
    <p:extLst>
      <p:ext uri="{BB962C8B-B14F-4D97-AF65-F5344CB8AC3E}">
        <p14:creationId xmlns:p14="http://schemas.microsoft.com/office/powerpoint/2010/main" val="416925086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E91AB-83E3-195C-B60D-8F9097A8246C}"/>
            </a:ext>
          </a:extLst>
        </p:cNvPr>
        <p:cNvGrpSpPr/>
        <p:nvPr/>
      </p:nvGrpSpPr>
      <p:grpSpPr>
        <a:xfrm>
          <a:off x="0" y="0"/>
          <a:ext cx="0" cy="0"/>
          <a:chOff x="0" y="0"/>
          <a:chExt cx="0" cy="0"/>
        </a:xfrm>
      </p:grpSpPr>
      <p:pic>
        <p:nvPicPr>
          <p:cNvPr id="1027" name="Picture 3">
            <a:extLst>
              <a:ext uri="{FF2B5EF4-FFF2-40B4-BE49-F238E27FC236}">
                <a16:creationId xmlns:a16="http://schemas.microsoft.com/office/drawing/2014/main" id="{B0E496DE-E330-5344-12DD-39F1FB4C0D7A}"/>
              </a:ext>
            </a:extLst>
          </p:cNvPr>
          <p:cNvPicPr>
            <a:picLocks noChangeAspect="1" noChangeArrowheads="1"/>
          </p:cNvPicPr>
          <p:nvPr/>
        </p:nvPicPr>
        <p:blipFill>
          <a:blip r:embed="rId2"/>
          <a:srcRect t="-9550" b="9550"/>
          <a:stretch>
            <a:fillRect/>
          </a:stretch>
        </p:blipFill>
        <p:spPr bwMode="auto">
          <a:xfrm>
            <a:off x="-2" y="-111760"/>
            <a:ext cx="10691814" cy="5932170"/>
          </a:xfrm>
          <a:prstGeom prst="rect">
            <a:avLst/>
          </a:prstGeom>
          <a:noFill/>
        </p:spPr>
      </p:pic>
      <p:sp>
        <p:nvSpPr>
          <p:cNvPr id="4" name="TextBox 3">
            <a:extLst>
              <a:ext uri="{FF2B5EF4-FFF2-40B4-BE49-F238E27FC236}">
                <a16:creationId xmlns:a16="http://schemas.microsoft.com/office/drawing/2014/main" id="{68FC5ABD-1558-61A6-C1BD-2038D1696680}"/>
              </a:ext>
            </a:extLst>
          </p:cNvPr>
          <p:cNvSpPr txBox="1"/>
          <p:nvPr/>
        </p:nvSpPr>
        <p:spPr>
          <a:xfrm>
            <a:off x="2377440" y="995105"/>
            <a:ext cx="6156960" cy="461665"/>
          </a:xfrm>
          <a:prstGeom prst="rect">
            <a:avLst/>
          </a:prstGeom>
          <a:noFill/>
        </p:spPr>
        <p:txBody>
          <a:bodyPr wrap="square">
            <a:spAutoFit/>
          </a:bodyPr>
          <a:lstStyle/>
          <a:p>
            <a:r>
              <a:rPr lang="en-US" sz="2400" b="1" dirty="0"/>
              <a:t>Incident Response Recommendations</a:t>
            </a:r>
          </a:p>
        </p:txBody>
      </p:sp>
      <p:sp>
        <p:nvSpPr>
          <p:cNvPr id="5" name="TextBox 4">
            <a:extLst>
              <a:ext uri="{FF2B5EF4-FFF2-40B4-BE49-F238E27FC236}">
                <a16:creationId xmlns:a16="http://schemas.microsoft.com/office/drawing/2014/main" id="{C5548741-7BD5-4A84-5D41-ECB9927D675F}"/>
              </a:ext>
            </a:extLst>
          </p:cNvPr>
          <p:cNvSpPr txBox="1"/>
          <p:nvPr/>
        </p:nvSpPr>
        <p:spPr>
          <a:xfrm>
            <a:off x="955183" y="1514048"/>
            <a:ext cx="8781443" cy="369332"/>
          </a:xfrm>
          <a:prstGeom prst="rect">
            <a:avLst/>
          </a:prstGeom>
          <a:noFill/>
        </p:spPr>
        <p:txBody>
          <a:bodyPr wrap="none" rtlCol="0">
            <a:spAutoFit/>
          </a:bodyPr>
          <a:lstStyle/>
          <a:p>
            <a:r>
              <a:rPr lang="en-US" dirty="0"/>
              <a:t>Guidance notes and recommended actions to mitigate and resolve the detected attack</a:t>
            </a:r>
          </a:p>
        </p:txBody>
      </p:sp>
      <p:sp>
        <p:nvSpPr>
          <p:cNvPr id="8" name="TextBox 7">
            <a:extLst>
              <a:ext uri="{FF2B5EF4-FFF2-40B4-BE49-F238E27FC236}">
                <a16:creationId xmlns:a16="http://schemas.microsoft.com/office/drawing/2014/main" id="{849F1321-B653-7F6B-F020-584C8BCEF467}"/>
              </a:ext>
            </a:extLst>
          </p:cNvPr>
          <p:cNvSpPr txBox="1"/>
          <p:nvPr/>
        </p:nvSpPr>
        <p:spPr>
          <a:xfrm>
            <a:off x="406400" y="2282199"/>
            <a:ext cx="5344160" cy="369332"/>
          </a:xfrm>
          <a:prstGeom prst="rect">
            <a:avLst/>
          </a:prstGeom>
          <a:noFill/>
        </p:spPr>
        <p:txBody>
          <a:bodyPr wrap="square">
            <a:spAutoFit/>
          </a:bodyPr>
          <a:lstStyle/>
          <a:p>
            <a:r>
              <a:rPr lang="en-US" dirty="0"/>
              <a:t>• </a:t>
            </a:r>
            <a:r>
              <a:rPr lang="en-US" b="1" dirty="0"/>
              <a:t>Create Account</a:t>
            </a:r>
          </a:p>
        </p:txBody>
      </p:sp>
      <p:sp>
        <p:nvSpPr>
          <p:cNvPr id="10" name="TextBox 9">
            <a:extLst>
              <a:ext uri="{FF2B5EF4-FFF2-40B4-BE49-F238E27FC236}">
                <a16:creationId xmlns:a16="http://schemas.microsoft.com/office/drawing/2014/main" id="{DCEE9EE0-B118-E0FB-9EE1-651F1F3CCFB8}"/>
              </a:ext>
            </a:extLst>
          </p:cNvPr>
          <p:cNvSpPr txBox="1"/>
          <p:nvPr/>
        </p:nvSpPr>
        <p:spPr>
          <a:xfrm>
            <a:off x="406400" y="4092673"/>
            <a:ext cx="5344160" cy="369332"/>
          </a:xfrm>
          <a:prstGeom prst="rect">
            <a:avLst/>
          </a:prstGeom>
          <a:noFill/>
        </p:spPr>
        <p:txBody>
          <a:bodyPr wrap="square">
            <a:spAutoFit/>
          </a:bodyPr>
          <a:lstStyle/>
          <a:p>
            <a:r>
              <a:rPr lang="en-US" dirty="0"/>
              <a:t>• </a:t>
            </a:r>
            <a:r>
              <a:rPr lang="en-US" b="1" dirty="0"/>
              <a:t>Privilege Escalation</a:t>
            </a:r>
          </a:p>
        </p:txBody>
      </p:sp>
      <p:sp>
        <p:nvSpPr>
          <p:cNvPr id="12" name="TextBox 11">
            <a:extLst>
              <a:ext uri="{FF2B5EF4-FFF2-40B4-BE49-F238E27FC236}">
                <a16:creationId xmlns:a16="http://schemas.microsoft.com/office/drawing/2014/main" id="{8B572C07-B3DA-6532-0D6A-D035650A0812}"/>
              </a:ext>
            </a:extLst>
          </p:cNvPr>
          <p:cNvSpPr txBox="1"/>
          <p:nvPr/>
        </p:nvSpPr>
        <p:spPr>
          <a:xfrm>
            <a:off x="406400" y="5641370"/>
            <a:ext cx="5344160" cy="369332"/>
          </a:xfrm>
          <a:prstGeom prst="rect">
            <a:avLst/>
          </a:prstGeom>
          <a:noFill/>
        </p:spPr>
        <p:txBody>
          <a:bodyPr wrap="square">
            <a:spAutoFit/>
          </a:bodyPr>
          <a:lstStyle/>
          <a:p>
            <a:r>
              <a:rPr lang="en-US" dirty="0"/>
              <a:t>•  </a:t>
            </a:r>
            <a:r>
              <a:rPr lang="en-US" b="1" dirty="0"/>
              <a:t>Brute Force</a:t>
            </a:r>
          </a:p>
        </p:txBody>
      </p:sp>
      <p:sp>
        <p:nvSpPr>
          <p:cNvPr id="14" name="TextBox 13">
            <a:extLst>
              <a:ext uri="{FF2B5EF4-FFF2-40B4-BE49-F238E27FC236}">
                <a16:creationId xmlns:a16="http://schemas.microsoft.com/office/drawing/2014/main" id="{F927117F-434F-871E-BB26-E1A356A6FE68}"/>
              </a:ext>
            </a:extLst>
          </p:cNvPr>
          <p:cNvSpPr txBox="1"/>
          <p:nvPr/>
        </p:nvSpPr>
        <p:spPr>
          <a:xfrm>
            <a:off x="812802" y="2651531"/>
            <a:ext cx="5344160" cy="923330"/>
          </a:xfrm>
          <a:prstGeom prst="rect">
            <a:avLst/>
          </a:prstGeom>
          <a:noFill/>
        </p:spPr>
        <p:txBody>
          <a:bodyPr wrap="square">
            <a:spAutoFit/>
          </a:bodyPr>
          <a:lstStyle/>
          <a:p>
            <a:r>
              <a:rPr lang="en-US" dirty="0"/>
              <a:t>Disable suspicious account.</a:t>
            </a:r>
            <a:br>
              <a:rPr lang="en-US" dirty="0"/>
            </a:br>
            <a:r>
              <a:rPr lang="en-US" dirty="0"/>
              <a:t>Review local users.</a:t>
            </a:r>
            <a:br>
              <a:rPr lang="en-US" dirty="0"/>
            </a:br>
            <a:r>
              <a:rPr lang="en-US" dirty="0"/>
              <a:t>Audit account creation activities.</a:t>
            </a:r>
          </a:p>
        </p:txBody>
      </p:sp>
      <p:sp>
        <p:nvSpPr>
          <p:cNvPr id="16" name="TextBox 15">
            <a:extLst>
              <a:ext uri="{FF2B5EF4-FFF2-40B4-BE49-F238E27FC236}">
                <a16:creationId xmlns:a16="http://schemas.microsoft.com/office/drawing/2014/main" id="{026EF77A-AD6C-06F5-C10A-3F2B21F53FD5}"/>
              </a:ext>
            </a:extLst>
          </p:cNvPr>
          <p:cNvSpPr txBox="1"/>
          <p:nvPr/>
        </p:nvSpPr>
        <p:spPr>
          <a:xfrm>
            <a:off x="812802" y="4518152"/>
            <a:ext cx="5344160" cy="923330"/>
          </a:xfrm>
          <a:prstGeom prst="rect">
            <a:avLst/>
          </a:prstGeom>
          <a:noFill/>
        </p:spPr>
        <p:txBody>
          <a:bodyPr wrap="square">
            <a:spAutoFit/>
          </a:bodyPr>
          <a:lstStyle/>
          <a:p>
            <a:r>
              <a:rPr lang="en-US" dirty="0"/>
              <a:t>Remove unauthorized administrator.</a:t>
            </a:r>
            <a:br>
              <a:rPr lang="en-US" dirty="0"/>
            </a:br>
            <a:r>
              <a:rPr lang="en-US" dirty="0"/>
              <a:t>Review privilege assignments.</a:t>
            </a:r>
            <a:br>
              <a:rPr lang="en-US" dirty="0"/>
            </a:br>
            <a:r>
              <a:rPr lang="en-US" dirty="0"/>
              <a:t>Reset affected credentials.</a:t>
            </a:r>
          </a:p>
        </p:txBody>
      </p:sp>
      <p:sp>
        <p:nvSpPr>
          <p:cNvPr id="18" name="TextBox 17">
            <a:extLst>
              <a:ext uri="{FF2B5EF4-FFF2-40B4-BE49-F238E27FC236}">
                <a16:creationId xmlns:a16="http://schemas.microsoft.com/office/drawing/2014/main" id="{4B9FE3FF-27D4-22F1-69D4-308FAD46280A}"/>
              </a:ext>
            </a:extLst>
          </p:cNvPr>
          <p:cNvSpPr txBox="1"/>
          <p:nvPr/>
        </p:nvSpPr>
        <p:spPr>
          <a:xfrm>
            <a:off x="812802" y="6199338"/>
            <a:ext cx="5344160" cy="923330"/>
          </a:xfrm>
          <a:prstGeom prst="rect">
            <a:avLst/>
          </a:prstGeom>
          <a:noFill/>
        </p:spPr>
        <p:txBody>
          <a:bodyPr wrap="square">
            <a:spAutoFit/>
          </a:bodyPr>
          <a:lstStyle/>
          <a:p>
            <a:r>
              <a:rPr lang="en-US" dirty="0"/>
              <a:t>Enable account lockout policy.</a:t>
            </a:r>
            <a:br>
              <a:rPr lang="en-US" dirty="0"/>
            </a:br>
            <a:r>
              <a:rPr lang="en-US" dirty="0"/>
              <a:t>Change password.</a:t>
            </a:r>
            <a:br>
              <a:rPr lang="en-US" dirty="0"/>
            </a:br>
            <a:r>
              <a:rPr lang="en-US" dirty="0"/>
              <a:t>Enable MFA  (</a:t>
            </a:r>
            <a:r>
              <a:rPr lang="en-US" b="1" dirty="0"/>
              <a:t>Multi-Factor Authentication</a:t>
            </a:r>
            <a:r>
              <a:rPr lang="en-US" dirty="0"/>
              <a:t>).</a:t>
            </a:r>
          </a:p>
        </p:txBody>
      </p:sp>
    </p:spTree>
    <p:extLst>
      <p:ext uri="{BB962C8B-B14F-4D97-AF65-F5344CB8AC3E}">
        <p14:creationId xmlns:p14="http://schemas.microsoft.com/office/powerpoint/2010/main" val="403670708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1999FB-493E-BF5C-13E6-3E352DD2DA0A}"/>
            </a:ext>
          </a:extLst>
        </p:cNvPr>
        <p:cNvGrpSpPr/>
        <p:nvPr/>
      </p:nvGrpSpPr>
      <p:grpSpPr>
        <a:xfrm>
          <a:off x="0" y="0"/>
          <a:ext cx="0" cy="0"/>
          <a:chOff x="0" y="0"/>
          <a:chExt cx="0" cy="0"/>
        </a:xfrm>
      </p:grpSpPr>
      <p:pic>
        <p:nvPicPr>
          <p:cNvPr id="1027" name="Picture 3">
            <a:extLst>
              <a:ext uri="{FF2B5EF4-FFF2-40B4-BE49-F238E27FC236}">
                <a16:creationId xmlns:a16="http://schemas.microsoft.com/office/drawing/2014/main" id="{5B5D595D-799D-B3B4-72DF-E2336BE5BF99}"/>
              </a:ext>
            </a:extLst>
          </p:cNvPr>
          <p:cNvPicPr>
            <a:picLocks noChangeAspect="1" noChangeArrowheads="1"/>
          </p:cNvPicPr>
          <p:nvPr/>
        </p:nvPicPr>
        <p:blipFill>
          <a:blip r:embed="rId2"/>
          <a:srcRect t="-9550" b="9550"/>
          <a:stretch>
            <a:fillRect/>
          </a:stretch>
        </p:blipFill>
        <p:spPr bwMode="auto">
          <a:xfrm>
            <a:off x="-1" y="-31950"/>
            <a:ext cx="10691814" cy="5932170"/>
          </a:xfrm>
          <a:prstGeom prst="rect">
            <a:avLst/>
          </a:prstGeom>
          <a:noFill/>
        </p:spPr>
      </p:pic>
      <p:sp>
        <p:nvSpPr>
          <p:cNvPr id="3" name="TextBox 2">
            <a:extLst>
              <a:ext uri="{FF2B5EF4-FFF2-40B4-BE49-F238E27FC236}">
                <a16:creationId xmlns:a16="http://schemas.microsoft.com/office/drawing/2014/main" id="{51437B3A-D130-3E04-EF82-AFE2FBFA74D6}"/>
              </a:ext>
            </a:extLst>
          </p:cNvPr>
          <p:cNvSpPr txBox="1"/>
          <p:nvPr/>
        </p:nvSpPr>
        <p:spPr>
          <a:xfrm>
            <a:off x="1998186" y="1161795"/>
            <a:ext cx="6695440" cy="461665"/>
          </a:xfrm>
          <a:prstGeom prst="rect">
            <a:avLst/>
          </a:prstGeom>
          <a:noFill/>
        </p:spPr>
        <p:txBody>
          <a:bodyPr wrap="square">
            <a:spAutoFit/>
          </a:bodyPr>
          <a:lstStyle/>
          <a:p>
            <a:r>
              <a:rPr lang="en-US" sz="2400" b="1" dirty="0"/>
              <a:t>SIEM Rule Deployment &amp; Triggering Workflow:</a:t>
            </a:r>
          </a:p>
        </p:txBody>
      </p:sp>
      <p:sp>
        <p:nvSpPr>
          <p:cNvPr id="5" name="TextBox 4">
            <a:extLst>
              <a:ext uri="{FF2B5EF4-FFF2-40B4-BE49-F238E27FC236}">
                <a16:creationId xmlns:a16="http://schemas.microsoft.com/office/drawing/2014/main" id="{13549383-8C41-000C-16A8-1057DA430CC0}"/>
              </a:ext>
            </a:extLst>
          </p:cNvPr>
          <p:cNvSpPr txBox="1"/>
          <p:nvPr/>
        </p:nvSpPr>
        <p:spPr>
          <a:xfrm>
            <a:off x="731520" y="2430044"/>
            <a:ext cx="9316720" cy="2862322"/>
          </a:xfrm>
          <a:prstGeom prst="rect">
            <a:avLst/>
          </a:prstGeom>
          <a:noFill/>
        </p:spPr>
        <p:txBody>
          <a:bodyPr wrap="square">
            <a:spAutoFit/>
          </a:bodyPr>
          <a:lstStyle/>
          <a:p>
            <a:r>
              <a:rPr lang="en-US" b="1" dirty="0"/>
              <a:t>Rule Configuration:</a:t>
            </a:r>
            <a:r>
              <a:rPr lang="en-US" dirty="0"/>
              <a:t> Custom detection rules are built within Kibana to continuously  analyze incoming log streams from monitored endpoints.</a:t>
            </a:r>
          </a:p>
          <a:p>
            <a:endParaRPr lang="en-US" dirty="0"/>
          </a:p>
          <a:p>
            <a:r>
              <a:rPr lang="en-US" b="1" dirty="0"/>
              <a:t>Detection Logic:</a:t>
            </a:r>
            <a:r>
              <a:rPr lang="en-US" dirty="0"/>
              <a:t> Each rule is precisely defined using KQL (Kibana Query Language) to target the specific Windows Event ID that represents a particular attack technique or suspicious activity.</a:t>
            </a:r>
          </a:p>
          <a:p>
            <a:endParaRPr lang="en-US" dirty="0"/>
          </a:p>
          <a:p>
            <a:r>
              <a:rPr lang="en-US" b="1" dirty="0"/>
              <a:t>Alert Triggering:</a:t>
            </a:r>
            <a:r>
              <a:rPr lang="en-US" dirty="0"/>
              <a:t> When an ingested event matches the predefined Event ID and rule conditions, the SIEM automatically generates and escalates an alert to the security dashboard for analyst review.</a:t>
            </a:r>
          </a:p>
        </p:txBody>
      </p:sp>
      <p:sp>
        <p:nvSpPr>
          <p:cNvPr id="8" name="TextBox 7">
            <a:extLst>
              <a:ext uri="{FF2B5EF4-FFF2-40B4-BE49-F238E27FC236}">
                <a16:creationId xmlns:a16="http://schemas.microsoft.com/office/drawing/2014/main" id="{0ACC5C50-B483-53C7-F8F2-EE304DB7C41B}"/>
              </a:ext>
            </a:extLst>
          </p:cNvPr>
          <p:cNvSpPr txBox="1"/>
          <p:nvPr/>
        </p:nvSpPr>
        <p:spPr>
          <a:xfrm>
            <a:off x="558800" y="2430044"/>
            <a:ext cx="5344160" cy="369332"/>
          </a:xfrm>
          <a:prstGeom prst="rect">
            <a:avLst/>
          </a:prstGeom>
          <a:noFill/>
        </p:spPr>
        <p:txBody>
          <a:bodyPr wrap="square">
            <a:spAutoFit/>
          </a:bodyPr>
          <a:lstStyle/>
          <a:p>
            <a:r>
              <a:rPr lang="en-US" dirty="0"/>
              <a:t>•</a:t>
            </a:r>
          </a:p>
        </p:txBody>
      </p:sp>
      <p:sp>
        <p:nvSpPr>
          <p:cNvPr id="11" name="TextBox 10">
            <a:extLst>
              <a:ext uri="{FF2B5EF4-FFF2-40B4-BE49-F238E27FC236}">
                <a16:creationId xmlns:a16="http://schemas.microsoft.com/office/drawing/2014/main" id="{B0D7F9FE-FEA3-7768-212A-6D1A934D9A50}"/>
              </a:ext>
            </a:extLst>
          </p:cNvPr>
          <p:cNvSpPr txBox="1"/>
          <p:nvPr/>
        </p:nvSpPr>
        <p:spPr>
          <a:xfrm>
            <a:off x="558800" y="3281010"/>
            <a:ext cx="5344160" cy="369332"/>
          </a:xfrm>
          <a:prstGeom prst="rect">
            <a:avLst/>
          </a:prstGeom>
          <a:noFill/>
        </p:spPr>
        <p:txBody>
          <a:bodyPr wrap="square">
            <a:spAutoFit/>
          </a:bodyPr>
          <a:lstStyle/>
          <a:p>
            <a:r>
              <a:rPr lang="en-US" dirty="0"/>
              <a:t>•</a:t>
            </a:r>
          </a:p>
        </p:txBody>
      </p:sp>
      <p:sp>
        <p:nvSpPr>
          <p:cNvPr id="17" name="TextBox 16">
            <a:extLst>
              <a:ext uri="{FF2B5EF4-FFF2-40B4-BE49-F238E27FC236}">
                <a16:creationId xmlns:a16="http://schemas.microsoft.com/office/drawing/2014/main" id="{EE37FB15-2E67-5F99-F728-EFFAF7BB54BB}"/>
              </a:ext>
            </a:extLst>
          </p:cNvPr>
          <p:cNvSpPr txBox="1"/>
          <p:nvPr/>
        </p:nvSpPr>
        <p:spPr>
          <a:xfrm>
            <a:off x="558800" y="4399585"/>
            <a:ext cx="5344160" cy="369332"/>
          </a:xfrm>
          <a:prstGeom prst="rect">
            <a:avLst/>
          </a:prstGeom>
          <a:noFill/>
        </p:spPr>
        <p:txBody>
          <a:bodyPr wrap="square">
            <a:spAutoFit/>
          </a:bodyPr>
          <a:lstStyle/>
          <a:p>
            <a:r>
              <a:rPr lang="en-US" dirty="0"/>
              <a:t>•</a:t>
            </a:r>
          </a:p>
        </p:txBody>
      </p:sp>
    </p:spTree>
    <p:extLst>
      <p:ext uri="{BB962C8B-B14F-4D97-AF65-F5344CB8AC3E}">
        <p14:creationId xmlns:p14="http://schemas.microsoft.com/office/powerpoint/2010/main" val="100011539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53ABC6-7A12-A8D3-8AC4-198A4E3C0B69}"/>
            </a:ext>
          </a:extLst>
        </p:cNvPr>
        <p:cNvGrpSpPr/>
        <p:nvPr/>
      </p:nvGrpSpPr>
      <p:grpSpPr>
        <a:xfrm>
          <a:off x="0" y="0"/>
          <a:ext cx="0" cy="0"/>
          <a:chOff x="0" y="0"/>
          <a:chExt cx="0" cy="0"/>
        </a:xfrm>
      </p:grpSpPr>
      <p:pic>
        <p:nvPicPr>
          <p:cNvPr id="3" name="Picture 3">
            <a:extLst>
              <a:ext uri="{FF2B5EF4-FFF2-40B4-BE49-F238E27FC236}">
                <a16:creationId xmlns:a16="http://schemas.microsoft.com/office/drawing/2014/main" id="{8153AFBD-AED5-CFB3-F19D-0E628E952537}"/>
              </a:ext>
            </a:extLst>
          </p:cNvPr>
          <p:cNvPicPr>
            <a:picLocks noChangeAspect="1" noChangeArrowheads="1"/>
          </p:cNvPicPr>
          <p:nvPr/>
        </p:nvPicPr>
        <p:blipFill>
          <a:blip r:embed="rId2"/>
          <a:srcRect t="-9550" b="9550"/>
          <a:stretch>
            <a:fillRect/>
          </a:stretch>
        </p:blipFill>
        <p:spPr bwMode="auto">
          <a:xfrm>
            <a:off x="0" y="0"/>
            <a:ext cx="10691814" cy="5932170"/>
          </a:xfrm>
          <a:prstGeom prst="rect">
            <a:avLst/>
          </a:prstGeom>
          <a:noFill/>
        </p:spPr>
      </p:pic>
      <p:sp>
        <p:nvSpPr>
          <p:cNvPr id="9" name="TextBox 8">
            <a:extLst>
              <a:ext uri="{FF2B5EF4-FFF2-40B4-BE49-F238E27FC236}">
                <a16:creationId xmlns:a16="http://schemas.microsoft.com/office/drawing/2014/main" id="{5D7C0243-DC36-40C4-5EBA-7646996C7AD5}"/>
              </a:ext>
            </a:extLst>
          </p:cNvPr>
          <p:cNvSpPr txBox="1"/>
          <p:nvPr/>
        </p:nvSpPr>
        <p:spPr>
          <a:xfrm>
            <a:off x="2248349" y="2700546"/>
            <a:ext cx="6863381" cy="1938992"/>
          </a:xfrm>
          <a:prstGeom prst="rect">
            <a:avLst/>
          </a:prstGeom>
          <a:noFill/>
        </p:spPr>
        <p:txBody>
          <a:bodyPr wrap="square">
            <a:spAutoFit/>
          </a:bodyPr>
          <a:lstStyle/>
          <a:p>
            <a:r>
              <a:rPr lang="en-US" sz="6000" b="1" dirty="0"/>
              <a:t>KPI Dashboard &amp; Security Metrics</a:t>
            </a:r>
          </a:p>
        </p:txBody>
      </p:sp>
      <p:sp>
        <p:nvSpPr>
          <p:cNvPr id="4" name="TextBox 3">
            <a:extLst>
              <a:ext uri="{FF2B5EF4-FFF2-40B4-BE49-F238E27FC236}">
                <a16:creationId xmlns:a16="http://schemas.microsoft.com/office/drawing/2014/main" id="{F7834260-6E3D-1DDD-48E1-5B84DE7195FE}"/>
              </a:ext>
            </a:extLst>
          </p:cNvPr>
          <p:cNvSpPr txBox="1"/>
          <p:nvPr/>
        </p:nvSpPr>
        <p:spPr>
          <a:xfrm>
            <a:off x="4138361" y="1238637"/>
            <a:ext cx="2415090" cy="707886"/>
          </a:xfrm>
          <a:prstGeom prst="rect">
            <a:avLst/>
          </a:prstGeom>
          <a:noFill/>
        </p:spPr>
        <p:txBody>
          <a:bodyPr wrap="square">
            <a:spAutoFit/>
          </a:bodyPr>
          <a:lstStyle/>
          <a:p>
            <a:r>
              <a:rPr lang="en-US" sz="4000" b="1" dirty="0"/>
              <a:t>Week 4</a:t>
            </a:r>
          </a:p>
        </p:txBody>
      </p:sp>
    </p:spTree>
    <p:extLst>
      <p:ext uri="{BB962C8B-B14F-4D97-AF65-F5344CB8AC3E}">
        <p14:creationId xmlns:p14="http://schemas.microsoft.com/office/powerpoint/2010/main" val="15928325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7FF0DA-1EF4-E6FD-7F66-B24CD4F2C9FF}"/>
            </a:ext>
          </a:extLst>
        </p:cNvPr>
        <p:cNvGrpSpPr/>
        <p:nvPr/>
      </p:nvGrpSpPr>
      <p:grpSpPr>
        <a:xfrm>
          <a:off x="0" y="0"/>
          <a:ext cx="0" cy="0"/>
          <a:chOff x="0" y="0"/>
          <a:chExt cx="0" cy="0"/>
        </a:xfrm>
      </p:grpSpPr>
      <p:pic>
        <p:nvPicPr>
          <p:cNvPr id="3" name="Picture 3">
            <a:extLst>
              <a:ext uri="{FF2B5EF4-FFF2-40B4-BE49-F238E27FC236}">
                <a16:creationId xmlns:a16="http://schemas.microsoft.com/office/drawing/2014/main" id="{3E2C129C-2462-45D0-71DC-659C8C8B54F4}"/>
              </a:ext>
            </a:extLst>
          </p:cNvPr>
          <p:cNvPicPr>
            <a:picLocks noChangeAspect="1" noChangeArrowheads="1"/>
          </p:cNvPicPr>
          <p:nvPr/>
        </p:nvPicPr>
        <p:blipFill>
          <a:blip r:embed="rId2"/>
          <a:srcRect t="-9550" b="9550"/>
          <a:stretch>
            <a:fillRect/>
          </a:stretch>
        </p:blipFill>
        <p:spPr bwMode="auto">
          <a:xfrm>
            <a:off x="-4" y="0"/>
            <a:ext cx="10691814" cy="5932170"/>
          </a:xfrm>
          <a:prstGeom prst="rect">
            <a:avLst/>
          </a:prstGeom>
          <a:noFill/>
        </p:spPr>
      </p:pic>
      <p:sp>
        <p:nvSpPr>
          <p:cNvPr id="6" name="TextBox 5">
            <a:extLst>
              <a:ext uri="{FF2B5EF4-FFF2-40B4-BE49-F238E27FC236}">
                <a16:creationId xmlns:a16="http://schemas.microsoft.com/office/drawing/2014/main" id="{0D0A4C4E-39B8-D1A2-2CA0-140B503CE6F4}"/>
              </a:ext>
            </a:extLst>
          </p:cNvPr>
          <p:cNvSpPr txBox="1"/>
          <p:nvPr/>
        </p:nvSpPr>
        <p:spPr>
          <a:xfrm>
            <a:off x="2470921" y="1115275"/>
            <a:ext cx="5749963" cy="584775"/>
          </a:xfrm>
          <a:prstGeom prst="rect">
            <a:avLst/>
          </a:prstGeom>
          <a:noFill/>
        </p:spPr>
        <p:txBody>
          <a:bodyPr wrap="square">
            <a:spAutoFit/>
          </a:bodyPr>
          <a:lstStyle/>
          <a:p>
            <a:r>
              <a:rPr lang="en-US" sz="3200" b="1" dirty="0"/>
              <a:t>Mini SOC Security Dashboard</a:t>
            </a:r>
          </a:p>
        </p:txBody>
      </p:sp>
      <p:pic>
        <p:nvPicPr>
          <p:cNvPr id="8" name="Picture 7">
            <a:extLst>
              <a:ext uri="{FF2B5EF4-FFF2-40B4-BE49-F238E27FC236}">
                <a16:creationId xmlns:a16="http://schemas.microsoft.com/office/drawing/2014/main" id="{F1637847-D351-3B96-4FF8-B47FE4FC715A}"/>
              </a:ext>
            </a:extLst>
          </p:cNvPr>
          <p:cNvPicPr>
            <a:picLocks noChangeAspect="1"/>
          </p:cNvPicPr>
          <p:nvPr/>
        </p:nvPicPr>
        <p:blipFill>
          <a:blip r:embed="rId3"/>
          <a:stretch>
            <a:fillRect/>
          </a:stretch>
        </p:blipFill>
        <p:spPr>
          <a:xfrm>
            <a:off x="0" y="1884812"/>
            <a:ext cx="10691813" cy="5500089"/>
          </a:xfrm>
          <a:prstGeom prst="rect">
            <a:avLst/>
          </a:prstGeom>
        </p:spPr>
      </p:pic>
    </p:spTree>
    <p:extLst>
      <p:ext uri="{BB962C8B-B14F-4D97-AF65-F5344CB8AC3E}">
        <p14:creationId xmlns:p14="http://schemas.microsoft.com/office/powerpoint/2010/main" val="160106047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F9B5D0-A40E-23F7-2803-B5DA818D2CB5}"/>
            </a:ext>
          </a:extLst>
        </p:cNvPr>
        <p:cNvGrpSpPr/>
        <p:nvPr/>
      </p:nvGrpSpPr>
      <p:grpSpPr>
        <a:xfrm>
          <a:off x="0" y="0"/>
          <a:ext cx="0" cy="0"/>
          <a:chOff x="0" y="0"/>
          <a:chExt cx="0" cy="0"/>
        </a:xfrm>
      </p:grpSpPr>
      <p:pic>
        <p:nvPicPr>
          <p:cNvPr id="3" name="Picture 3">
            <a:extLst>
              <a:ext uri="{FF2B5EF4-FFF2-40B4-BE49-F238E27FC236}">
                <a16:creationId xmlns:a16="http://schemas.microsoft.com/office/drawing/2014/main" id="{8097AE7B-E365-9E32-7F3A-3EEB9AB9842D}"/>
              </a:ext>
            </a:extLst>
          </p:cNvPr>
          <p:cNvPicPr>
            <a:picLocks noChangeAspect="1" noChangeArrowheads="1"/>
          </p:cNvPicPr>
          <p:nvPr/>
        </p:nvPicPr>
        <p:blipFill>
          <a:blip r:embed="rId2"/>
          <a:srcRect t="-9550" b="9550"/>
          <a:stretch>
            <a:fillRect/>
          </a:stretch>
        </p:blipFill>
        <p:spPr bwMode="auto">
          <a:xfrm>
            <a:off x="0" y="0"/>
            <a:ext cx="10691814" cy="5932170"/>
          </a:xfrm>
          <a:prstGeom prst="rect">
            <a:avLst/>
          </a:prstGeom>
          <a:noFill/>
        </p:spPr>
      </p:pic>
      <p:pic>
        <p:nvPicPr>
          <p:cNvPr id="6" name="Picture 5">
            <a:extLst>
              <a:ext uri="{FF2B5EF4-FFF2-40B4-BE49-F238E27FC236}">
                <a16:creationId xmlns:a16="http://schemas.microsoft.com/office/drawing/2014/main" id="{F55E104B-5F33-0888-8A73-F90015E0C930}"/>
              </a:ext>
            </a:extLst>
          </p:cNvPr>
          <p:cNvPicPr>
            <a:picLocks noChangeAspect="1"/>
          </p:cNvPicPr>
          <p:nvPr/>
        </p:nvPicPr>
        <p:blipFill>
          <a:blip r:embed="rId3"/>
          <a:stretch>
            <a:fillRect/>
          </a:stretch>
        </p:blipFill>
        <p:spPr>
          <a:xfrm>
            <a:off x="3635081" y="2211570"/>
            <a:ext cx="7056732" cy="3101609"/>
          </a:xfrm>
          <a:prstGeom prst="rect">
            <a:avLst/>
          </a:prstGeom>
        </p:spPr>
      </p:pic>
      <p:sp>
        <p:nvSpPr>
          <p:cNvPr id="8" name="TextBox 7">
            <a:extLst>
              <a:ext uri="{FF2B5EF4-FFF2-40B4-BE49-F238E27FC236}">
                <a16:creationId xmlns:a16="http://schemas.microsoft.com/office/drawing/2014/main" id="{20A6B677-45AA-A63E-EBBB-F7480324FC7E}"/>
              </a:ext>
            </a:extLst>
          </p:cNvPr>
          <p:cNvSpPr txBox="1"/>
          <p:nvPr/>
        </p:nvSpPr>
        <p:spPr>
          <a:xfrm>
            <a:off x="392654" y="1933351"/>
            <a:ext cx="5346550" cy="461665"/>
          </a:xfrm>
          <a:prstGeom prst="rect">
            <a:avLst/>
          </a:prstGeom>
          <a:noFill/>
        </p:spPr>
        <p:txBody>
          <a:bodyPr wrap="square">
            <a:spAutoFit/>
          </a:bodyPr>
          <a:lstStyle/>
          <a:p>
            <a:r>
              <a:rPr lang="en-US" sz="2400" b="1" dirty="0"/>
              <a:t>Total Events</a:t>
            </a:r>
          </a:p>
        </p:txBody>
      </p:sp>
      <p:sp>
        <p:nvSpPr>
          <p:cNvPr id="9" name="TextBox 8">
            <a:extLst>
              <a:ext uri="{FF2B5EF4-FFF2-40B4-BE49-F238E27FC236}">
                <a16:creationId xmlns:a16="http://schemas.microsoft.com/office/drawing/2014/main" id="{DBB969ED-4054-06E4-7153-1699A3F07653}"/>
              </a:ext>
            </a:extLst>
          </p:cNvPr>
          <p:cNvSpPr txBox="1"/>
          <p:nvPr/>
        </p:nvSpPr>
        <p:spPr>
          <a:xfrm>
            <a:off x="349864" y="2596753"/>
            <a:ext cx="2716065" cy="369332"/>
          </a:xfrm>
          <a:prstGeom prst="rect">
            <a:avLst/>
          </a:prstGeom>
          <a:noFill/>
        </p:spPr>
        <p:txBody>
          <a:bodyPr wrap="none" rtlCol="0">
            <a:spAutoFit/>
          </a:bodyPr>
          <a:lstStyle/>
          <a:p>
            <a:r>
              <a:rPr lang="en-US" dirty="0"/>
              <a:t>Counts all system events </a:t>
            </a:r>
          </a:p>
        </p:txBody>
      </p:sp>
    </p:spTree>
    <p:extLst>
      <p:ext uri="{BB962C8B-B14F-4D97-AF65-F5344CB8AC3E}">
        <p14:creationId xmlns:p14="http://schemas.microsoft.com/office/powerpoint/2010/main" val="181425267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507D50-5788-22C0-4548-B6CF1B51FEB5}"/>
            </a:ext>
          </a:extLst>
        </p:cNvPr>
        <p:cNvGrpSpPr/>
        <p:nvPr/>
      </p:nvGrpSpPr>
      <p:grpSpPr>
        <a:xfrm>
          <a:off x="0" y="0"/>
          <a:ext cx="0" cy="0"/>
          <a:chOff x="0" y="0"/>
          <a:chExt cx="0" cy="0"/>
        </a:xfrm>
      </p:grpSpPr>
      <p:pic>
        <p:nvPicPr>
          <p:cNvPr id="3" name="Picture 3">
            <a:extLst>
              <a:ext uri="{FF2B5EF4-FFF2-40B4-BE49-F238E27FC236}">
                <a16:creationId xmlns:a16="http://schemas.microsoft.com/office/drawing/2014/main" id="{1B2185F2-8782-27EC-2DDC-2FD3962CC5E0}"/>
              </a:ext>
            </a:extLst>
          </p:cNvPr>
          <p:cNvPicPr>
            <a:picLocks noChangeAspect="1" noChangeArrowheads="1"/>
          </p:cNvPicPr>
          <p:nvPr/>
        </p:nvPicPr>
        <p:blipFill>
          <a:blip r:embed="rId2"/>
          <a:srcRect t="-9550" b="9550"/>
          <a:stretch>
            <a:fillRect/>
          </a:stretch>
        </p:blipFill>
        <p:spPr bwMode="auto">
          <a:xfrm>
            <a:off x="0" y="-86061"/>
            <a:ext cx="10691814" cy="5932170"/>
          </a:xfrm>
          <a:prstGeom prst="rect">
            <a:avLst/>
          </a:prstGeom>
          <a:noFill/>
        </p:spPr>
      </p:pic>
      <p:pic>
        <p:nvPicPr>
          <p:cNvPr id="6" name="Picture 5">
            <a:extLst>
              <a:ext uri="{FF2B5EF4-FFF2-40B4-BE49-F238E27FC236}">
                <a16:creationId xmlns:a16="http://schemas.microsoft.com/office/drawing/2014/main" id="{43D64EE5-2387-DCA9-EEAF-4085E0F9229C}"/>
              </a:ext>
            </a:extLst>
          </p:cNvPr>
          <p:cNvPicPr>
            <a:picLocks noChangeAspect="1"/>
          </p:cNvPicPr>
          <p:nvPr/>
        </p:nvPicPr>
        <p:blipFill>
          <a:blip r:embed="rId3"/>
          <a:srcRect l="23000" t="289" r="19238" b="-289"/>
          <a:stretch>
            <a:fillRect/>
          </a:stretch>
        </p:blipFill>
        <p:spPr>
          <a:xfrm>
            <a:off x="4948517" y="1796591"/>
            <a:ext cx="5635720" cy="4305029"/>
          </a:xfrm>
          <a:prstGeom prst="rect">
            <a:avLst/>
          </a:prstGeom>
        </p:spPr>
      </p:pic>
      <p:sp>
        <p:nvSpPr>
          <p:cNvPr id="8" name="TextBox 7">
            <a:extLst>
              <a:ext uri="{FF2B5EF4-FFF2-40B4-BE49-F238E27FC236}">
                <a16:creationId xmlns:a16="http://schemas.microsoft.com/office/drawing/2014/main" id="{E9DBABC3-D137-8859-2868-77268DFC556B}"/>
              </a:ext>
            </a:extLst>
          </p:cNvPr>
          <p:cNvSpPr txBox="1"/>
          <p:nvPr/>
        </p:nvSpPr>
        <p:spPr>
          <a:xfrm>
            <a:off x="332533" y="2177951"/>
            <a:ext cx="5346550" cy="523220"/>
          </a:xfrm>
          <a:prstGeom prst="rect">
            <a:avLst/>
          </a:prstGeom>
          <a:noFill/>
        </p:spPr>
        <p:txBody>
          <a:bodyPr wrap="square">
            <a:spAutoFit/>
          </a:bodyPr>
          <a:lstStyle/>
          <a:p>
            <a:r>
              <a:rPr lang="en-US" sz="2800" b="1" dirty="0"/>
              <a:t>Hosts Distribution</a:t>
            </a:r>
          </a:p>
        </p:txBody>
      </p:sp>
      <p:sp>
        <p:nvSpPr>
          <p:cNvPr id="9" name="TextBox 8">
            <a:extLst>
              <a:ext uri="{FF2B5EF4-FFF2-40B4-BE49-F238E27FC236}">
                <a16:creationId xmlns:a16="http://schemas.microsoft.com/office/drawing/2014/main" id="{AB4E30D0-D530-56DD-621F-208AD192035A}"/>
              </a:ext>
            </a:extLst>
          </p:cNvPr>
          <p:cNvSpPr txBox="1"/>
          <p:nvPr/>
        </p:nvSpPr>
        <p:spPr>
          <a:xfrm>
            <a:off x="332533" y="3228653"/>
            <a:ext cx="5005858" cy="369332"/>
          </a:xfrm>
          <a:prstGeom prst="rect">
            <a:avLst/>
          </a:prstGeom>
          <a:noFill/>
        </p:spPr>
        <p:txBody>
          <a:bodyPr wrap="none" rtlCol="0">
            <a:spAutoFit/>
          </a:bodyPr>
          <a:lstStyle/>
          <a:p>
            <a:r>
              <a:rPr lang="en-US" dirty="0"/>
              <a:t>Display system-monitored endpoints distribution</a:t>
            </a:r>
          </a:p>
        </p:txBody>
      </p:sp>
    </p:spTree>
    <p:extLst>
      <p:ext uri="{BB962C8B-B14F-4D97-AF65-F5344CB8AC3E}">
        <p14:creationId xmlns:p14="http://schemas.microsoft.com/office/powerpoint/2010/main" val="19757078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735BC0-DFA5-894F-C667-2C658BE52312}"/>
            </a:ext>
          </a:extLst>
        </p:cNvPr>
        <p:cNvGrpSpPr/>
        <p:nvPr/>
      </p:nvGrpSpPr>
      <p:grpSpPr>
        <a:xfrm>
          <a:off x="0" y="0"/>
          <a:ext cx="0" cy="0"/>
          <a:chOff x="0" y="0"/>
          <a:chExt cx="0" cy="0"/>
        </a:xfrm>
      </p:grpSpPr>
      <p:pic>
        <p:nvPicPr>
          <p:cNvPr id="3" name="Picture 3">
            <a:extLst>
              <a:ext uri="{FF2B5EF4-FFF2-40B4-BE49-F238E27FC236}">
                <a16:creationId xmlns:a16="http://schemas.microsoft.com/office/drawing/2014/main" id="{875562A6-5CD5-F6DF-E4E9-D0BC89A6937A}"/>
              </a:ext>
            </a:extLst>
          </p:cNvPr>
          <p:cNvPicPr>
            <a:picLocks noChangeAspect="1" noChangeArrowheads="1"/>
          </p:cNvPicPr>
          <p:nvPr/>
        </p:nvPicPr>
        <p:blipFill>
          <a:blip r:embed="rId2"/>
          <a:srcRect t="-9550" b="9550"/>
          <a:stretch>
            <a:fillRect/>
          </a:stretch>
        </p:blipFill>
        <p:spPr bwMode="auto">
          <a:xfrm>
            <a:off x="0" y="0"/>
            <a:ext cx="10691814" cy="5932170"/>
          </a:xfrm>
          <a:prstGeom prst="rect">
            <a:avLst/>
          </a:prstGeom>
          <a:noFill/>
        </p:spPr>
      </p:pic>
      <p:pic>
        <p:nvPicPr>
          <p:cNvPr id="6" name="Picture 5">
            <a:extLst>
              <a:ext uri="{FF2B5EF4-FFF2-40B4-BE49-F238E27FC236}">
                <a16:creationId xmlns:a16="http://schemas.microsoft.com/office/drawing/2014/main" id="{F96C29A4-AB45-7115-0002-F06F08742A7B}"/>
              </a:ext>
            </a:extLst>
          </p:cNvPr>
          <p:cNvPicPr>
            <a:picLocks noChangeAspect="1"/>
          </p:cNvPicPr>
          <p:nvPr/>
        </p:nvPicPr>
        <p:blipFill>
          <a:blip r:embed="rId3"/>
          <a:stretch>
            <a:fillRect/>
          </a:stretch>
        </p:blipFill>
        <p:spPr>
          <a:xfrm>
            <a:off x="3470408" y="2394894"/>
            <a:ext cx="7064352" cy="3208298"/>
          </a:xfrm>
          <a:prstGeom prst="rect">
            <a:avLst/>
          </a:prstGeom>
        </p:spPr>
      </p:pic>
      <p:sp>
        <p:nvSpPr>
          <p:cNvPr id="8" name="TextBox 7">
            <a:extLst>
              <a:ext uri="{FF2B5EF4-FFF2-40B4-BE49-F238E27FC236}">
                <a16:creationId xmlns:a16="http://schemas.microsoft.com/office/drawing/2014/main" id="{8C8163E9-AEE0-CF47-EC98-7596B5BC712B}"/>
              </a:ext>
            </a:extLst>
          </p:cNvPr>
          <p:cNvSpPr txBox="1"/>
          <p:nvPr/>
        </p:nvSpPr>
        <p:spPr>
          <a:xfrm>
            <a:off x="295835" y="1935039"/>
            <a:ext cx="5346550" cy="523220"/>
          </a:xfrm>
          <a:prstGeom prst="rect">
            <a:avLst/>
          </a:prstGeom>
          <a:noFill/>
        </p:spPr>
        <p:txBody>
          <a:bodyPr wrap="square">
            <a:spAutoFit/>
          </a:bodyPr>
          <a:lstStyle/>
          <a:p>
            <a:r>
              <a:rPr lang="en-US" sz="2800" b="1" dirty="0"/>
              <a:t>Detected  Events</a:t>
            </a:r>
          </a:p>
        </p:txBody>
      </p:sp>
      <p:sp>
        <p:nvSpPr>
          <p:cNvPr id="9" name="TextBox 8">
            <a:extLst>
              <a:ext uri="{FF2B5EF4-FFF2-40B4-BE49-F238E27FC236}">
                <a16:creationId xmlns:a16="http://schemas.microsoft.com/office/drawing/2014/main" id="{CB401F4B-6000-1CE3-34C5-492DCF4DEB17}"/>
              </a:ext>
            </a:extLst>
          </p:cNvPr>
          <p:cNvSpPr txBox="1"/>
          <p:nvPr/>
        </p:nvSpPr>
        <p:spPr>
          <a:xfrm>
            <a:off x="295835" y="2861534"/>
            <a:ext cx="2487476" cy="369332"/>
          </a:xfrm>
          <a:prstGeom prst="rect">
            <a:avLst/>
          </a:prstGeom>
          <a:noFill/>
        </p:spPr>
        <p:txBody>
          <a:bodyPr wrap="none" rtlCol="0">
            <a:spAutoFit/>
          </a:bodyPr>
          <a:lstStyle/>
          <a:p>
            <a:r>
              <a:rPr lang="en-US" dirty="0"/>
              <a:t>Display system events  </a:t>
            </a:r>
          </a:p>
        </p:txBody>
      </p:sp>
    </p:spTree>
    <p:extLst>
      <p:ext uri="{BB962C8B-B14F-4D97-AF65-F5344CB8AC3E}">
        <p14:creationId xmlns:p14="http://schemas.microsoft.com/office/powerpoint/2010/main" val="386410387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9B5808-FC9A-AF45-C78A-851FEAB77556}"/>
            </a:ext>
          </a:extLst>
        </p:cNvPr>
        <p:cNvGrpSpPr/>
        <p:nvPr/>
      </p:nvGrpSpPr>
      <p:grpSpPr>
        <a:xfrm>
          <a:off x="0" y="0"/>
          <a:ext cx="0" cy="0"/>
          <a:chOff x="0" y="0"/>
          <a:chExt cx="0" cy="0"/>
        </a:xfrm>
      </p:grpSpPr>
      <p:pic>
        <p:nvPicPr>
          <p:cNvPr id="3" name="Picture 3">
            <a:extLst>
              <a:ext uri="{FF2B5EF4-FFF2-40B4-BE49-F238E27FC236}">
                <a16:creationId xmlns:a16="http://schemas.microsoft.com/office/drawing/2014/main" id="{81BCF416-EDF3-DF28-1612-4F433A907F64}"/>
              </a:ext>
            </a:extLst>
          </p:cNvPr>
          <p:cNvPicPr>
            <a:picLocks noChangeAspect="1" noChangeArrowheads="1"/>
          </p:cNvPicPr>
          <p:nvPr/>
        </p:nvPicPr>
        <p:blipFill>
          <a:blip r:embed="rId2"/>
          <a:srcRect t="-9550" b="9550"/>
          <a:stretch>
            <a:fillRect/>
          </a:stretch>
        </p:blipFill>
        <p:spPr bwMode="auto">
          <a:xfrm>
            <a:off x="-1" y="-102139"/>
            <a:ext cx="10691814" cy="5932170"/>
          </a:xfrm>
          <a:prstGeom prst="rect">
            <a:avLst/>
          </a:prstGeom>
          <a:noFill/>
        </p:spPr>
      </p:pic>
      <p:pic>
        <p:nvPicPr>
          <p:cNvPr id="4" name="Picture 3">
            <a:extLst>
              <a:ext uri="{FF2B5EF4-FFF2-40B4-BE49-F238E27FC236}">
                <a16:creationId xmlns:a16="http://schemas.microsoft.com/office/drawing/2014/main" id="{450D483D-134A-02B0-3655-EBBA3D0448CA}"/>
              </a:ext>
            </a:extLst>
          </p:cNvPr>
          <p:cNvPicPr>
            <a:picLocks noChangeAspect="1"/>
          </p:cNvPicPr>
          <p:nvPr/>
        </p:nvPicPr>
        <p:blipFill>
          <a:blip r:embed="rId3"/>
          <a:srcRect r="8572"/>
          <a:stretch>
            <a:fillRect/>
          </a:stretch>
        </p:blipFill>
        <p:spPr>
          <a:xfrm>
            <a:off x="3600146" y="2069744"/>
            <a:ext cx="7047791" cy="3385262"/>
          </a:xfrm>
          <a:prstGeom prst="rect">
            <a:avLst/>
          </a:prstGeom>
        </p:spPr>
      </p:pic>
      <p:sp>
        <p:nvSpPr>
          <p:cNvPr id="6" name="TextBox 5">
            <a:extLst>
              <a:ext uri="{FF2B5EF4-FFF2-40B4-BE49-F238E27FC236}">
                <a16:creationId xmlns:a16="http://schemas.microsoft.com/office/drawing/2014/main" id="{7E6D2925-7C34-DB67-58FD-2251D3C83720}"/>
              </a:ext>
            </a:extLst>
          </p:cNvPr>
          <p:cNvSpPr txBox="1"/>
          <p:nvPr/>
        </p:nvSpPr>
        <p:spPr>
          <a:xfrm>
            <a:off x="370495" y="2069744"/>
            <a:ext cx="5346550" cy="523220"/>
          </a:xfrm>
          <a:prstGeom prst="rect">
            <a:avLst/>
          </a:prstGeom>
          <a:noFill/>
        </p:spPr>
        <p:txBody>
          <a:bodyPr wrap="square">
            <a:spAutoFit/>
          </a:bodyPr>
          <a:lstStyle/>
          <a:p>
            <a:r>
              <a:rPr lang="en-US" sz="2800" dirty="0"/>
              <a:t>Top Alerts</a:t>
            </a:r>
          </a:p>
        </p:txBody>
      </p:sp>
      <p:sp>
        <p:nvSpPr>
          <p:cNvPr id="7" name="TextBox 6">
            <a:extLst>
              <a:ext uri="{FF2B5EF4-FFF2-40B4-BE49-F238E27FC236}">
                <a16:creationId xmlns:a16="http://schemas.microsoft.com/office/drawing/2014/main" id="{0C46A591-AF24-D0A0-FBEE-C7B43D7E8345}"/>
              </a:ext>
            </a:extLst>
          </p:cNvPr>
          <p:cNvSpPr txBox="1"/>
          <p:nvPr/>
        </p:nvSpPr>
        <p:spPr>
          <a:xfrm>
            <a:off x="43876" y="3195020"/>
            <a:ext cx="3567772" cy="369332"/>
          </a:xfrm>
          <a:prstGeom prst="rect">
            <a:avLst/>
          </a:prstGeom>
          <a:noFill/>
        </p:spPr>
        <p:txBody>
          <a:bodyPr wrap="none" rtlCol="0">
            <a:spAutoFit/>
          </a:bodyPr>
          <a:lstStyle/>
          <a:p>
            <a:r>
              <a:rPr lang="en-US" dirty="0"/>
              <a:t>Display Alerts if there is an attack  </a:t>
            </a:r>
          </a:p>
        </p:txBody>
      </p:sp>
    </p:spTree>
    <p:extLst>
      <p:ext uri="{BB962C8B-B14F-4D97-AF65-F5344CB8AC3E}">
        <p14:creationId xmlns:p14="http://schemas.microsoft.com/office/powerpoint/2010/main" val="362193904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26B9BA-24ED-917A-DC9F-BB039120E06C}"/>
            </a:ext>
          </a:extLst>
        </p:cNvPr>
        <p:cNvGrpSpPr/>
        <p:nvPr/>
      </p:nvGrpSpPr>
      <p:grpSpPr>
        <a:xfrm>
          <a:off x="0" y="0"/>
          <a:ext cx="0" cy="0"/>
          <a:chOff x="0" y="0"/>
          <a:chExt cx="0" cy="0"/>
        </a:xfrm>
      </p:grpSpPr>
      <p:pic>
        <p:nvPicPr>
          <p:cNvPr id="3" name="Picture 3">
            <a:extLst>
              <a:ext uri="{FF2B5EF4-FFF2-40B4-BE49-F238E27FC236}">
                <a16:creationId xmlns:a16="http://schemas.microsoft.com/office/drawing/2014/main" id="{AC708045-F575-62E6-17B0-26057F9332F7}"/>
              </a:ext>
            </a:extLst>
          </p:cNvPr>
          <p:cNvPicPr>
            <a:picLocks noChangeAspect="1" noChangeArrowheads="1"/>
          </p:cNvPicPr>
          <p:nvPr/>
        </p:nvPicPr>
        <p:blipFill>
          <a:blip r:embed="rId2"/>
          <a:srcRect t="-9550" b="9550"/>
          <a:stretch>
            <a:fillRect/>
          </a:stretch>
        </p:blipFill>
        <p:spPr bwMode="auto">
          <a:xfrm>
            <a:off x="-1" y="0"/>
            <a:ext cx="10691814" cy="5932170"/>
          </a:xfrm>
          <a:prstGeom prst="rect">
            <a:avLst/>
          </a:prstGeom>
          <a:noFill/>
        </p:spPr>
      </p:pic>
      <p:sp>
        <p:nvSpPr>
          <p:cNvPr id="4" name="TextBox 3">
            <a:extLst>
              <a:ext uri="{FF2B5EF4-FFF2-40B4-BE49-F238E27FC236}">
                <a16:creationId xmlns:a16="http://schemas.microsoft.com/office/drawing/2014/main" id="{7E179216-7691-7879-A1E8-DE6C83077592}"/>
              </a:ext>
            </a:extLst>
          </p:cNvPr>
          <p:cNvSpPr txBox="1"/>
          <p:nvPr/>
        </p:nvSpPr>
        <p:spPr>
          <a:xfrm>
            <a:off x="4007223" y="1465054"/>
            <a:ext cx="3313354" cy="400110"/>
          </a:xfrm>
          <a:prstGeom prst="rect">
            <a:avLst/>
          </a:prstGeom>
          <a:noFill/>
        </p:spPr>
        <p:txBody>
          <a:bodyPr wrap="square">
            <a:spAutoFit/>
          </a:bodyPr>
          <a:lstStyle/>
          <a:p>
            <a:r>
              <a:rPr lang="en-US" sz="2000" b="1" dirty="0"/>
              <a:t>Root Cause Analysis</a:t>
            </a:r>
          </a:p>
        </p:txBody>
      </p:sp>
      <p:sp>
        <p:nvSpPr>
          <p:cNvPr id="6" name="TextBox 5">
            <a:extLst>
              <a:ext uri="{FF2B5EF4-FFF2-40B4-BE49-F238E27FC236}">
                <a16:creationId xmlns:a16="http://schemas.microsoft.com/office/drawing/2014/main" id="{288FCBD9-35E1-3ED2-5D1D-E00F7F13E6D0}"/>
              </a:ext>
            </a:extLst>
          </p:cNvPr>
          <p:cNvSpPr txBox="1"/>
          <p:nvPr/>
        </p:nvSpPr>
        <p:spPr>
          <a:xfrm>
            <a:off x="2326340" y="968219"/>
            <a:ext cx="6416936" cy="400110"/>
          </a:xfrm>
          <a:prstGeom prst="rect">
            <a:avLst/>
          </a:prstGeom>
          <a:noFill/>
        </p:spPr>
        <p:txBody>
          <a:bodyPr wrap="square">
            <a:spAutoFit/>
          </a:bodyPr>
          <a:lstStyle/>
          <a:p>
            <a:r>
              <a:rPr lang="en-US" sz="2000" b="1" dirty="0"/>
              <a:t>Perform root cause analysis for a selected incident </a:t>
            </a:r>
          </a:p>
        </p:txBody>
      </p:sp>
      <p:sp>
        <p:nvSpPr>
          <p:cNvPr id="8" name="TextBox 7">
            <a:extLst>
              <a:ext uri="{FF2B5EF4-FFF2-40B4-BE49-F238E27FC236}">
                <a16:creationId xmlns:a16="http://schemas.microsoft.com/office/drawing/2014/main" id="{D5363A81-2490-FFE2-CBFD-77C069033B51}"/>
              </a:ext>
            </a:extLst>
          </p:cNvPr>
          <p:cNvSpPr txBox="1"/>
          <p:nvPr/>
        </p:nvSpPr>
        <p:spPr>
          <a:xfrm>
            <a:off x="2563008" y="2240991"/>
            <a:ext cx="5346550" cy="369332"/>
          </a:xfrm>
          <a:prstGeom prst="rect">
            <a:avLst/>
          </a:prstGeom>
          <a:noFill/>
        </p:spPr>
        <p:txBody>
          <a:bodyPr wrap="square">
            <a:spAutoFit/>
          </a:bodyPr>
          <a:lstStyle/>
          <a:p>
            <a:r>
              <a:rPr lang="en-US" b="1" dirty="0">
                <a:solidFill>
                  <a:srgbClr val="FF0000"/>
                </a:solidFill>
              </a:rPr>
              <a:t>Brute Force Attack</a:t>
            </a:r>
          </a:p>
        </p:txBody>
      </p:sp>
      <p:sp>
        <p:nvSpPr>
          <p:cNvPr id="10" name="TextBox 9">
            <a:extLst>
              <a:ext uri="{FF2B5EF4-FFF2-40B4-BE49-F238E27FC236}">
                <a16:creationId xmlns:a16="http://schemas.microsoft.com/office/drawing/2014/main" id="{8A073DA1-9AF8-3A26-D9D8-08228945BF6E}"/>
              </a:ext>
            </a:extLst>
          </p:cNvPr>
          <p:cNvSpPr txBox="1"/>
          <p:nvPr/>
        </p:nvSpPr>
        <p:spPr>
          <a:xfrm>
            <a:off x="188259" y="2240991"/>
            <a:ext cx="1409251" cy="367683"/>
          </a:xfrm>
          <a:prstGeom prst="rect">
            <a:avLst/>
          </a:prstGeom>
          <a:noFill/>
        </p:spPr>
        <p:txBody>
          <a:bodyPr wrap="square">
            <a:spAutoFit/>
          </a:bodyPr>
          <a:lstStyle/>
          <a:p>
            <a:r>
              <a:rPr lang="en-US" b="1" dirty="0"/>
              <a:t>Incident</a:t>
            </a:r>
          </a:p>
        </p:txBody>
      </p:sp>
      <p:sp>
        <p:nvSpPr>
          <p:cNvPr id="12" name="TextBox 11">
            <a:extLst>
              <a:ext uri="{FF2B5EF4-FFF2-40B4-BE49-F238E27FC236}">
                <a16:creationId xmlns:a16="http://schemas.microsoft.com/office/drawing/2014/main" id="{D7DBDE1B-6E83-5C7E-5446-BE696F68B60F}"/>
              </a:ext>
            </a:extLst>
          </p:cNvPr>
          <p:cNvSpPr txBox="1"/>
          <p:nvPr/>
        </p:nvSpPr>
        <p:spPr>
          <a:xfrm>
            <a:off x="188258" y="2981304"/>
            <a:ext cx="5346550" cy="369332"/>
          </a:xfrm>
          <a:prstGeom prst="rect">
            <a:avLst/>
          </a:prstGeom>
          <a:noFill/>
        </p:spPr>
        <p:txBody>
          <a:bodyPr wrap="square">
            <a:spAutoFit/>
          </a:bodyPr>
          <a:lstStyle/>
          <a:p>
            <a:r>
              <a:rPr lang="en-US" b="1" dirty="0"/>
              <a:t>Detection</a:t>
            </a:r>
          </a:p>
        </p:txBody>
      </p:sp>
      <p:sp>
        <p:nvSpPr>
          <p:cNvPr id="14" name="TextBox 13">
            <a:extLst>
              <a:ext uri="{FF2B5EF4-FFF2-40B4-BE49-F238E27FC236}">
                <a16:creationId xmlns:a16="http://schemas.microsoft.com/office/drawing/2014/main" id="{B51D7101-F831-AEA0-6AAB-FC61F540AD8D}"/>
              </a:ext>
            </a:extLst>
          </p:cNvPr>
          <p:cNvSpPr txBox="1"/>
          <p:nvPr/>
        </p:nvSpPr>
        <p:spPr>
          <a:xfrm>
            <a:off x="2563008" y="3013090"/>
            <a:ext cx="5346550" cy="646331"/>
          </a:xfrm>
          <a:prstGeom prst="rect">
            <a:avLst/>
          </a:prstGeom>
          <a:noFill/>
        </p:spPr>
        <p:txBody>
          <a:bodyPr wrap="square">
            <a:spAutoFit/>
          </a:bodyPr>
          <a:lstStyle/>
          <a:p>
            <a:r>
              <a:rPr lang="en-US" dirty="0"/>
              <a:t>Event ID 4625</a:t>
            </a:r>
          </a:p>
          <a:p>
            <a:r>
              <a:rPr lang="en-US" dirty="0"/>
              <a:t>Multiple Failed Login Attempts</a:t>
            </a:r>
          </a:p>
        </p:txBody>
      </p:sp>
      <p:sp>
        <p:nvSpPr>
          <p:cNvPr id="16" name="TextBox 15">
            <a:extLst>
              <a:ext uri="{FF2B5EF4-FFF2-40B4-BE49-F238E27FC236}">
                <a16:creationId xmlns:a16="http://schemas.microsoft.com/office/drawing/2014/main" id="{813CA413-86AE-ACA5-AE6B-EF80B8AEF65E}"/>
              </a:ext>
            </a:extLst>
          </p:cNvPr>
          <p:cNvSpPr txBox="1"/>
          <p:nvPr/>
        </p:nvSpPr>
        <p:spPr>
          <a:xfrm>
            <a:off x="188258" y="3936420"/>
            <a:ext cx="5346550" cy="369332"/>
          </a:xfrm>
          <a:prstGeom prst="rect">
            <a:avLst/>
          </a:prstGeom>
          <a:noFill/>
        </p:spPr>
        <p:txBody>
          <a:bodyPr wrap="square">
            <a:spAutoFit/>
          </a:bodyPr>
          <a:lstStyle/>
          <a:p>
            <a:pPr>
              <a:buNone/>
            </a:pPr>
            <a:r>
              <a:rPr lang="en-US" b="1" dirty="0"/>
              <a:t>Root Cause</a:t>
            </a:r>
          </a:p>
        </p:txBody>
      </p:sp>
      <p:sp>
        <p:nvSpPr>
          <p:cNvPr id="18" name="TextBox 17">
            <a:extLst>
              <a:ext uri="{FF2B5EF4-FFF2-40B4-BE49-F238E27FC236}">
                <a16:creationId xmlns:a16="http://schemas.microsoft.com/office/drawing/2014/main" id="{21795F31-2F85-C891-F473-4FBF7D1580AD}"/>
              </a:ext>
            </a:extLst>
          </p:cNvPr>
          <p:cNvSpPr txBox="1"/>
          <p:nvPr/>
        </p:nvSpPr>
        <p:spPr>
          <a:xfrm>
            <a:off x="2563008" y="3917408"/>
            <a:ext cx="8525437" cy="646331"/>
          </a:xfrm>
          <a:prstGeom prst="rect">
            <a:avLst/>
          </a:prstGeom>
          <a:noFill/>
        </p:spPr>
        <p:txBody>
          <a:bodyPr wrap="square">
            <a:spAutoFit/>
          </a:bodyPr>
          <a:lstStyle/>
          <a:p>
            <a:r>
              <a:rPr lang="en-US" dirty="0"/>
              <a:t>Weak password policy and repeated authentication attempts allowed the attacker to perform password guessing attacks.</a:t>
            </a:r>
          </a:p>
        </p:txBody>
      </p:sp>
      <p:sp>
        <p:nvSpPr>
          <p:cNvPr id="20" name="TextBox 19">
            <a:extLst>
              <a:ext uri="{FF2B5EF4-FFF2-40B4-BE49-F238E27FC236}">
                <a16:creationId xmlns:a16="http://schemas.microsoft.com/office/drawing/2014/main" id="{49C822C3-ABB1-0590-69FA-C70EC9EF0534}"/>
              </a:ext>
            </a:extLst>
          </p:cNvPr>
          <p:cNvSpPr txBox="1"/>
          <p:nvPr/>
        </p:nvSpPr>
        <p:spPr>
          <a:xfrm>
            <a:off x="188258" y="4888128"/>
            <a:ext cx="5346550" cy="369332"/>
          </a:xfrm>
          <a:prstGeom prst="rect">
            <a:avLst/>
          </a:prstGeom>
          <a:noFill/>
        </p:spPr>
        <p:txBody>
          <a:bodyPr wrap="square">
            <a:spAutoFit/>
          </a:bodyPr>
          <a:lstStyle/>
          <a:p>
            <a:r>
              <a:rPr lang="en-US" b="1" dirty="0"/>
              <a:t>Impact</a:t>
            </a:r>
          </a:p>
        </p:txBody>
      </p:sp>
      <p:sp>
        <p:nvSpPr>
          <p:cNvPr id="22" name="TextBox 21">
            <a:extLst>
              <a:ext uri="{FF2B5EF4-FFF2-40B4-BE49-F238E27FC236}">
                <a16:creationId xmlns:a16="http://schemas.microsoft.com/office/drawing/2014/main" id="{7E070D90-D69D-A1AF-EA77-41BCB7B1BE25}"/>
              </a:ext>
            </a:extLst>
          </p:cNvPr>
          <p:cNvSpPr txBox="1"/>
          <p:nvPr/>
        </p:nvSpPr>
        <p:spPr>
          <a:xfrm>
            <a:off x="2563008" y="4915284"/>
            <a:ext cx="5346550" cy="369332"/>
          </a:xfrm>
          <a:prstGeom prst="rect">
            <a:avLst/>
          </a:prstGeom>
          <a:noFill/>
        </p:spPr>
        <p:txBody>
          <a:bodyPr wrap="square">
            <a:spAutoFit/>
          </a:bodyPr>
          <a:lstStyle/>
          <a:p>
            <a:r>
              <a:rPr lang="en-US" dirty="0"/>
              <a:t>Potential unauthorized access to user accounts.</a:t>
            </a:r>
          </a:p>
        </p:txBody>
      </p:sp>
      <p:sp>
        <p:nvSpPr>
          <p:cNvPr id="24" name="TextBox 23">
            <a:extLst>
              <a:ext uri="{FF2B5EF4-FFF2-40B4-BE49-F238E27FC236}">
                <a16:creationId xmlns:a16="http://schemas.microsoft.com/office/drawing/2014/main" id="{E48537BF-D7C6-7A0B-7031-40A6DC31016E}"/>
              </a:ext>
            </a:extLst>
          </p:cNvPr>
          <p:cNvSpPr txBox="1"/>
          <p:nvPr/>
        </p:nvSpPr>
        <p:spPr>
          <a:xfrm>
            <a:off x="188258" y="5839836"/>
            <a:ext cx="5346550" cy="369332"/>
          </a:xfrm>
          <a:prstGeom prst="rect">
            <a:avLst/>
          </a:prstGeom>
          <a:noFill/>
        </p:spPr>
        <p:txBody>
          <a:bodyPr wrap="square">
            <a:spAutoFit/>
          </a:bodyPr>
          <a:lstStyle/>
          <a:p>
            <a:r>
              <a:rPr lang="en-US" b="1" dirty="0"/>
              <a:t>Recommendations</a:t>
            </a:r>
          </a:p>
        </p:txBody>
      </p:sp>
      <p:sp>
        <p:nvSpPr>
          <p:cNvPr id="26" name="TextBox 25">
            <a:extLst>
              <a:ext uri="{FF2B5EF4-FFF2-40B4-BE49-F238E27FC236}">
                <a16:creationId xmlns:a16="http://schemas.microsoft.com/office/drawing/2014/main" id="{E7DA943C-7597-D437-82E0-606BCEF9B3A7}"/>
              </a:ext>
            </a:extLst>
          </p:cNvPr>
          <p:cNvSpPr txBox="1"/>
          <p:nvPr/>
        </p:nvSpPr>
        <p:spPr>
          <a:xfrm>
            <a:off x="2565055" y="5800725"/>
            <a:ext cx="5561702" cy="1200329"/>
          </a:xfrm>
          <a:prstGeom prst="rect">
            <a:avLst/>
          </a:prstGeom>
          <a:noFill/>
        </p:spPr>
        <p:txBody>
          <a:bodyPr wrap="square">
            <a:spAutoFit/>
          </a:bodyPr>
          <a:lstStyle/>
          <a:p>
            <a:r>
              <a:rPr lang="en-US" dirty="0"/>
              <a:t>- Enable MFA.</a:t>
            </a:r>
          </a:p>
          <a:p>
            <a:r>
              <a:rPr lang="en-US" dirty="0"/>
              <a:t>- Implement account lockout policies.</a:t>
            </a:r>
          </a:p>
          <a:p>
            <a:r>
              <a:rPr lang="en-US" dirty="0"/>
              <a:t>- Use strong passwords.</a:t>
            </a:r>
          </a:p>
          <a:p>
            <a:r>
              <a:rPr lang="en-US" dirty="0"/>
              <a:t>- Monitor Event ID 4625.</a:t>
            </a:r>
          </a:p>
        </p:txBody>
      </p:sp>
    </p:spTree>
    <p:extLst>
      <p:ext uri="{BB962C8B-B14F-4D97-AF65-F5344CB8AC3E}">
        <p14:creationId xmlns:p14="http://schemas.microsoft.com/office/powerpoint/2010/main" val="11192801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1F786B-55B7-DC38-28BF-3FF072844A2B}"/>
            </a:ext>
          </a:extLst>
        </p:cNvPr>
        <p:cNvGrpSpPr/>
        <p:nvPr/>
      </p:nvGrpSpPr>
      <p:grpSpPr>
        <a:xfrm>
          <a:off x="0" y="0"/>
          <a:ext cx="0" cy="0"/>
          <a:chOff x="0" y="0"/>
          <a:chExt cx="0" cy="0"/>
        </a:xfrm>
      </p:grpSpPr>
      <p:pic>
        <p:nvPicPr>
          <p:cNvPr id="3" name="Picture 3">
            <a:extLst>
              <a:ext uri="{FF2B5EF4-FFF2-40B4-BE49-F238E27FC236}">
                <a16:creationId xmlns:a16="http://schemas.microsoft.com/office/drawing/2014/main" id="{50F46753-49AC-DFB9-BFC0-4AC7A189D655}"/>
              </a:ext>
            </a:extLst>
          </p:cNvPr>
          <p:cNvPicPr>
            <a:picLocks noChangeAspect="1" noChangeArrowheads="1"/>
          </p:cNvPicPr>
          <p:nvPr/>
        </p:nvPicPr>
        <p:blipFill>
          <a:blip r:embed="rId2"/>
          <a:srcRect t="-9550" b="9550"/>
          <a:stretch>
            <a:fillRect/>
          </a:stretch>
        </p:blipFill>
        <p:spPr bwMode="auto">
          <a:xfrm>
            <a:off x="-1" y="0"/>
            <a:ext cx="10691814" cy="5932170"/>
          </a:xfrm>
          <a:prstGeom prst="rect">
            <a:avLst/>
          </a:prstGeom>
          <a:noFill/>
        </p:spPr>
      </p:pic>
      <p:sp>
        <p:nvSpPr>
          <p:cNvPr id="2" name="TextBox 1">
            <a:extLst>
              <a:ext uri="{FF2B5EF4-FFF2-40B4-BE49-F238E27FC236}">
                <a16:creationId xmlns:a16="http://schemas.microsoft.com/office/drawing/2014/main" id="{C31E437C-5AED-4F17-E9CB-FC89C6B92D4E}"/>
              </a:ext>
            </a:extLst>
          </p:cNvPr>
          <p:cNvSpPr txBox="1"/>
          <p:nvPr/>
        </p:nvSpPr>
        <p:spPr>
          <a:xfrm>
            <a:off x="305304" y="2808267"/>
            <a:ext cx="10081204" cy="1908215"/>
          </a:xfrm>
          <a:prstGeom prst="rect">
            <a:avLst/>
          </a:prstGeom>
          <a:noFill/>
        </p:spPr>
        <p:txBody>
          <a:bodyPr wrap="square" rtlCol="0">
            <a:spAutoFit/>
          </a:bodyPr>
          <a:lstStyle/>
          <a:p>
            <a:r>
              <a:rPr lang="en-US" sz="2000" b="1" dirty="0"/>
              <a:t>From the Dashboards section, a new dashboard was created and customized with multiple visualizations to present security KPIs, event statistics, and monitored endpoints. The dashboard serves as a centralized monitoring interface for the SOC team, enabling analysts to quickly detect anomalies, track security incidents, analyze attack patterns, and make informed decisions during incident response activities.</a:t>
            </a:r>
            <a:endParaRPr lang="en-US" sz="2000" dirty="0"/>
          </a:p>
          <a:p>
            <a:endParaRPr lang="en-US" dirty="0"/>
          </a:p>
        </p:txBody>
      </p:sp>
    </p:spTree>
    <p:extLst>
      <p:ext uri="{BB962C8B-B14F-4D97-AF65-F5344CB8AC3E}">
        <p14:creationId xmlns:p14="http://schemas.microsoft.com/office/powerpoint/2010/main" val="227347957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FC3D1-34F0-8490-E474-D29EA6CCFBAC}"/>
            </a:ext>
          </a:extLst>
        </p:cNvPr>
        <p:cNvGrpSpPr/>
        <p:nvPr/>
      </p:nvGrpSpPr>
      <p:grpSpPr>
        <a:xfrm>
          <a:off x="0" y="0"/>
          <a:ext cx="0" cy="0"/>
          <a:chOff x="0" y="0"/>
          <a:chExt cx="0" cy="0"/>
        </a:xfrm>
      </p:grpSpPr>
      <p:sp>
        <p:nvSpPr>
          <p:cNvPr id="4" name="Freeform 3">
            <a:extLst>
              <a:ext uri="{FF2B5EF4-FFF2-40B4-BE49-F238E27FC236}">
                <a16:creationId xmlns:a16="http://schemas.microsoft.com/office/drawing/2014/main" id="{3C4BFF21-7A66-B44C-25A3-E3B34EF8A4DE}"/>
              </a:ext>
            </a:extLst>
          </p:cNvPr>
          <p:cNvSpPr/>
          <p:nvPr/>
        </p:nvSpPr>
        <p:spPr>
          <a:xfrm>
            <a:off x="429248" y="929418"/>
            <a:ext cx="10133623" cy="5699440"/>
          </a:xfrm>
          <a:custGeom>
            <a:avLst/>
            <a:gdLst>
              <a:gd name="connsiteX0" fmla="*/ 0 w 10692384"/>
              <a:gd name="connsiteY0" fmla="*/ 0 h 6013703"/>
              <a:gd name="connsiteX1" fmla="*/ 10692384 w 10692384"/>
              <a:gd name="connsiteY1" fmla="*/ 0 h 6013703"/>
              <a:gd name="connsiteX2" fmla="*/ 10692384 w 10692384"/>
              <a:gd name="connsiteY2" fmla="*/ 6013703 h 6013703"/>
              <a:gd name="connsiteX3" fmla="*/ 0 w 10692384"/>
              <a:gd name="connsiteY3" fmla="*/ 6013703 h 6013703"/>
              <a:gd name="connsiteX4" fmla="*/ 0 w 10692384"/>
              <a:gd name="connsiteY4" fmla="*/ 0 h 6013703"/>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92384" h="6013703">
                <a:moveTo>
                  <a:pt x="0" y="0"/>
                </a:moveTo>
                <a:lnTo>
                  <a:pt x="10692384" y="0"/>
                </a:lnTo>
                <a:lnTo>
                  <a:pt x="10692384" y="6013703"/>
                </a:lnTo>
                <a:lnTo>
                  <a:pt x="0" y="6013703"/>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92"/>
              <a:t>Project 1: Building and Operating a Mini Security Operations Center (SOC) </a:t>
            </a:r>
            <a:endParaRPr lang="zh-CN" altLang="en-US" sz="1707"/>
          </a:p>
        </p:txBody>
      </p:sp>
      <p:pic>
        <p:nvPicPr>
          <p:cNvPr id="1027" name="Picture 3">
            <a:extLst>
              <a:ext uri="{FF2B5EF4-FFF2-40B4-BE49-F238E27FC236}">
                <a16:creationId xmlns:a16="http://schemas.microsoft.com/office/drawing/2014/main" id="{643D5AD7-F3F3-F513-9D23-400A8B670188}"/>
              </a:ext>
            </a:extLst>
          </p:cNvPr>
          <p:cNvPicPr>
            <a:picLocks noChangeAspect="1" noChangeArrowheads="1"/>
          </p:cNvPicPr>
          <p:nvPr/>
        </p:nvPicPr>
        <p:blipFill>
          <a:blip r:embed="rId2"/>
          <a:srcRect t="-9550" b="9550"/>
          <a:stretch>
            <a:fillRect/>
          </a:stretch>
        </p:blipFill>
        <p:spPr bwMode="auto">
          <a:xfrm>
            <a:off x="25815" y="-198227"/>
            <a:ext cx="10640183" cy="5717255"/>
          </a:xfrm>
          <a:prstGeom prst="rect">
            <a:avLst/>
          </a:prstGeom>
          <a:noFill/>
        </p:spPr>
      </p:pic>
      <p:pic>
        <p:nvPicPr>
          <p:cNvPr id="3" name="Picture 2">
            <a:extLst>
              <a:ext uri="{FF2B5EF4-FFF2-40B4-BE49-F238E27FC236}">
                <a16:creationId xmlns:a16="http://schemas.microsoft.com/office/drawing/2014/main" id="{013BD860-4BC1-F82F-4568-C7B4811FBCC2}"/>
              </a:ext>
            </a:extLst>
          </p:cNvPr>
          <p:cNvPicPr>
            <a:picLocks noChangeAspect="1"/>
          </p:cNvPicPr>
          <p:nvPr/>
        </p:nvPicPr>
        <p:blipFill>
          <a:blip r:embed="rId3">
            <a:extLst>
              <a:ext uri="{28A0092B-C50C-407E-A947-70E740481C1C}">
                <a14:useLocalDpi xmlns:a14="http://schemas.microsoft.com/office/drawing/2010/main" val="0"/>
              </a:ext>
            </a:extLst>
          </a:blip>
          <a:srcRect t="16258" b="598"/>
          <a:stretch>
            <a:fillRect/>
          </a:stretch>
        </p:blipFill>
        <p:spPr>
          <a:xfrm>
            <a:off x="4693500" y="1273979"/>
            <a:ext cx="5357559" cy="5620517"/>
          </a:xfrm>
          <a:prstGeom prst="rect">
            <a:avLst/>
          </a:prstGeom>
        </p:spPr>
      </p:pic>
      <p:sp>
        <p:nvSpPr>
          <p:cNvPr id="5" name="TextBox 4">
            <a:extLst>
              <a:ext uri="{FF2B5EF4-FFF2-40B4-BE49-F238E27FC236}">
                <a16:creationId xmlns:a16="http://schemas.microsoft.com/office/drawing/2014/main" id="{3EDAE4DA-EC7E-81BB-359D-BDC9E0A7BF4B}"/>
              </a:ext>
            </a:extLst>
          </p:cNvPr>
          <p:cNvSpPr txBox="1"/>
          <p:nvPr/>
        </p:nvSpPr>
        <p:spPr>
          <a:xfrm>
            <a:off x="1127555" y="1285913"/>
            <a:ext cx="2076359" cy="520693"/>
          </a:xfrm>
          <a:prstGeom prst="rect">
            <a:avLst/>
          </a:prstGeom>
          <a:noFill/>
        </p:spPr>
        <p:txBody>
          <a:bodyPr wrap="square" rtlCol="0">
            <a:spAutoFit/>
          </a:bodyPr>
          <a:lstStyle/>
          <a:p>
            <a:r>
              <a:rPr lang="en-US" sz="2787" b="1" dirty="0"/>
              <a:t>Alert triage</a:t>
            </a:r>
          </a:p>
        </p:txBody>
      </p:sp>
      <p:sp>
        <p:nvSpPr>
          <p:cNvPr id="6" name="TextBox 5">
            <a:extLst>
              <a:ext uri="{FF2B5EF4-FFF2-40B4-BE49-F238E27FC236}">
                <a16:creationId xmlns:a16="http://schemas.microsoft.com/office/drawing/2014/main" id="{11A9EC1E-E034-F9B0-EC7C-E0F6616054EE}"/>
              </a:ext>
            </a:extLst>
          </p:cNvPr>
          <p:cNvSpPr txBox="1"/>
          <p:nvPr/>
        </p:nvSpPr>
        <p:spPr>
          <a:xfrm>
            <a:off x="960514" y="3468466"/>
            <a:ext cx="2368838" cy="398178"/>
          </a:xfrm>
          <a:prstGeom prst="rect">
            <a:avLst/>
          </a:prstGeom>
          <a:noFill/>
        </p:spPr>
        <p:txBody>
          <a:bodyPr wrap="none" rtlCol="0">
            <a:spAutoFit/>
          </a:bodyPr>
          <a:lstStyle/>
          <a:p>
            <a:r>
              <a:rPr lang="en-US" sz="1990" b="1" dirty="0">
                <a:solidFill>
                  <a:srgbClr val="FF0000"/>
                </a:solidFill>
              </a:rPr>
              <a:t>EX: </a:t>
            </a:r>
            <a:r>
              <a:rPr lang="en-US" sz="1990" b="1" dirty="0"/>
              <a:t>False   positive </a:t>
            </a:r>
          </a:p>
        </p:txBody>
      </p:sp>
      <p:cxnSp>
        <p:nvCxnSpPr>
          <p:cNvPr id="8" name="Straight Arrow Connector 7">
            <a:extLst>
              <a:ext uri="{FF2B5EF4-FFF2-40B4-BE49-F238E27FC236}">
                <a16:creationId xmlns:a16="http://schemas.microsoft.com/office/drawing/2014/main" id="{888BF2F0-C33F-B6FE-D10A-E3803C3B9A9D}"/>
              </a:ext>
            </a:extLst>
          </p:cNvPr>
          <p:cNvCxnSpPr>
            <a:cxnSpLocks/>
          </p:cNvCxnSpPr>
          <p:nvPr/>
        </p:nvCxnSpPr>
        <p:spPr>
          <a:xfrm>
            <a:off x="2603491" y="3827326"/>
            <a:ext cx="715390" cy="1172237"/>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8F1BF681-0FD2-2ADE-8ABF-A184E68CF469}"/>
              </a:ext>
            </a:extLst>
          </p:cNvPr>
          <p:cNvCxnSpPr>
            <a:cxnSpLocks/>
          </p:cNvCxnSpPr>
          <p:nvPr/>
        </p:nvCxnSpPr>
        <p:spPr>
          <a:xfrm flipH="1">
            <a:off x="1342616" y="3827326"/>
            <a:ext cx="506829" cy="1172237"/>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B66462C6-D67C-DB68-B527-EA0B20908AD6}"/>
              </a:ext>
            </a:extLst>
          </p:cNvPr>
          <p:cNvSpPr txBox="1"/>
          <p:nvPr/>
        </p:nvSpPr>
        <p:spPr>
          <a:xfrm>
            <a:off x="894518" y="4999563"/>
            <a:ext cx="1156501" cy="367549"/>
          </a:xfrm>
          <a:prstGeom prst="rect">
            <a:avLst/>
          </a:prstGeom>
          <a:noFill/>
        </p:spPr>
        <p:txBody>
          <a:bodyPr wrap="none" rtlCol="0">
            <a:spAutoFit/>
          </a:bodyPr>
          <a:lstStyle/>
          <a:p>
            <a:r>
              <a:rPr lang="en-US" sz="1791" dirty="0"/>
              <a:t>No threat </a:t>
            </a:r>
          </a:p>
        </p:txBody>
      </p:sp>
      <p:sp>
        <p:nvSpPr>
          <p:cNvPr id="13" name="TextBox 12">
            <a:extLst>
              <a:ext uri="{FF2B5EF4-FFF2-40B4-BE49-F238E27FC236}">
                <a16:creationId xmlns:a16="http://schemas.microsoft.com/office/drawing/2014/main" id="{7213760F-64AB-C825-0A35-70D6AE9660FC}"/>
              </a:ext>
            </a:extLst>
          </p:cNvPr>
          <p:cNvSpPr txBox="1"/>
          <p:nvPr/>
        </p:nvSpPr>
        <p:spPr>
          <a:xfrm>
            <a:off x="2603491" y="4988856"/>
            <a:ext cx="1790267" cy="367549"/>
          </a:xfrm>
          <a:prstGeom prst="rect">
            <a:avLst/>
          </a:prstGeom>
          <a:noFill/>
        </p:spPr>
        <p:txBody>
          <a:bodyPr wrap="none" rtlCol="0">
            <a:spAutoFit/>
          </a:bodyPr>
          <a:lstStyle/>
          <a:p>
            <a:r>
              <a:rPr lang="en-US" sz="1791" dirty="0"/>
              <a:t>There is an alert </a:t>
            </a:r>
          </a:p>
        </p:txBody>
      </p:sp>
      <p:cxnSp>
        <p:nvCxnSpPr>
          <p:cNvPr id="17" name="Straight Connector 16">
            <a:extLst>
              <a:ext uri="{FF2B5EF4-FFF2-40B4-BE49-F238E27FC236}">
                <a16:creationId xmlns:a16="http://schemas.microsoft.com/office/drawing/2014/main" id="{63B4C53D-3C4C-D14C-6B20-0891130332DE}"/>
              </a:ext>
            </a:extLst>
          </p:cNvPr>
          <p:cNvCxnSpPr/>
          <p:nvPr/>
        </p:nvCxnSpPr>
        <p:spPr>
          <a:xfrm>
            <a:off x="2165734" y="3072537"/>
            <a:ext cx="0" cy="299759"/>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61600D64-1917-AEFF-2929-3C96255CA363}"/>
              </a:ext>
            </a:extLst>
          </p:cNvPr>
          <p:cNvCxnSpPr>
            <a:cxnSpLocks/>
          </p:cNvCxnSpPr>
          <p:nvPr/>
        </p:nvCxnSpPr>
        <p:spPr>
          <a:xfrm>
            <a:off x="2165734" y="3468466"/>
            <a:ext cx="0" cy="398178"/>
          </a:xfrm>
          <a:prstGeom prst="line">
            <a:avLst/>
          </a:prstGeom>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3D0468C1-7773-79BB-A466-5A43CFC51558}"/>
              </a:ext>
            </a:extLst>
          </p:cNvPr>
          <p:cNvCxnSpPr/>
          <p:nvPr/>
        </p:nvCxnSpPr>
        <p:spPr>
          <a:xfrm>
            <a:off x="2165734" y="3961109"/>
            <a:ext cx="0" cy="374700"/>
          </a:xfrm>
          <a:prstGeom prst="line">
            <a:avLst/>
          </a:prstGeom>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04AB07E9-2CA8-8C5C-B30E-C5780C6F516B}"/>
              </a:ext>
            </a:extLst>
          </p:cNvPr>
          <p:cNvSpPr txBox="1"/>
          <p:nvPr/>
        </p:nvSpPr>
        <p:spPr>
          <a:xfrm>
            <a:off x="1373656" y="2938295"/>
            <a:ext cx="1542555" cy="367549"/>
          </a:xfrm>
          <a:prstGeom prst="rect">
            <a:avLst/>
          </a:prstGeom>
          <a:noFill/>
        </p:spPr>
        <p:txBody>
          <a:bodyPr wrap="none" rtlCol="0">
            <a:spAutoFit/>
          </a:bodyPr>
          <a:lstStyle/>
          <a:p>
            <a:r>
              <a:rPr lang="en-US" sz="1791" dirty="0"/>
              <a:t>Threat     alert </a:t>
            </a:r>
          </a:p>
        </p:txBody>
      </p:sp>
    </p:spTree>
    <p:extLst>
      <p:ext uri="{BB962C8B-B14F-4D97-AF65-F5344CB8AC3E}">
        <p14:creationId xmlns:p14="http://schemas.microsoft.com/office/powerpoint/2010/main" val="395955364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CCC5F-92DF-6D79-CC54-6BD04A729F02}"/>
            </a:ext>
          </a:extLst>
        </p:cNvPr>
        <p:cNvGrpSpPr/>
        <p:nvPr/>
      </p:nvGrpSpPr>
      <p:grpSpPr>
        <a:xfrm>
          <a:off x="0" y="0"/>
          <a:ext cx="0" cy="0"/>
          <a:chOff x="0" y="0"/>
          <a:chExt cx="0" cy="0"/>
        </a:xfrm>
      </p:grpSpPr>
      <p:pic>
        <p:nvPicPr>
          <p:cNvPr id="3" name="Picture 3">
            <a:extLst>
              <a:ext uri="{FF2B5EF4-FFF2-40B4-BE49-F238E27FC236}">
                <a16:creationId xmlns:a16="http://schemas.microsoft.com/office/drawing/2014/main" id="{44F6ACBC-D90B-36E3-795C-9EF147E0B3C6}"/>
              </a:ext>
            </a:extLst>
          </p:cNvPr>
          <p:cNvPicPr>
            <a:picLocks noChangeAspect="1" noChangeArrowheads="1"/>
          </p:cNvPicPr>
          <p:nvPr/>
        </p:nvPicPr>
        <p:blipFill>
          <a:blip r:embed="rId2"/>
          <a:srcRect t="-9550" b="9550"/>
          <a:stretch>
            <a:fillRect/>
          </a:stretch>
        </p:blipFill>
        <p:spPr bwMode="auto">
          <a:xfrm>
            <a:off x="-1" y="0"/>
            <a:ext cx="10691814" cy="5932170"/>
          </a:xfrm>
          <a:prstGeom prst="rect">
            <a:avLst/>
          </a:prstGeom>
          <a:noFill/>
        </p:spPr>
      </p:pic>
      <p:sp>
        <p:nvSpPr>
          <p:cNvPr id="5" name="TextBox 4">
            <a:extLst>
              <a:ext uri="{FF2B5EF4-FFF2-40B4-BE49-F238E27FC236}">
                <a16:creationId xmlns:a16="http://schemas.microsoft.com/office/drawing/2014/main" id="{F875BD5C-6F8D-485B-3695-519966F3B8E0}"/>
              </a:ext>
            </a:extLst>
          </p:cNvPr>
          <p:cNvSpPr txBox="1"/>
          <p:nvPr/>
        </p:nvSpPr>
        <p:spPr>
          <a:xfrm>
            <a:off x="489472" y="2444313"/>
            <a:ext cx="7643309" cy="3139321"/>
          </a:xfrm>
          <a:prstGeom prst="rect">
            <a:avLst/>
          </a:prstGeom>
          <a:noFill/>
        </p:spPr>
        <p:txBody>
          <a:bodyPr wrap="square">
            <a:spAutoFit/>
          </a:bodyPr>
          <a:lstStyle/>
          <a:p>
            <a:r>
              <a:rPr lang="en-US" dirty="0"/>
              <a:t>• Successfully deployed a Mini SOC using the Elastic Stack.</a:t>
            </a:r>
          </a:p>
          <a:p>
            <a:endParaRPr lang="en-US" dirty="0"/>
          </a:p>
          <a:p>
            <a:r>
              <a:rPr lang="en-US" dirty="0"/>
              <a:t>• Collected and centralized logs from Windows and Linux endpoints.</a:t>
            </a:r>
          </a:p>
          <a:p>
            <a:endParaRPr lang="en-US" dirty="0"/>
          </a:p>
          <a:p>
            <a:r>
              <a:rPr lang="en-US" dirty="0"/>
              <a:t>• Implemented detection rules for multiple attack scenarios.</a:t>
            </a:r>
          </a:p>
          <a:p>
            <a:endParaRPr lang="en-US" dirty="0"/>
          </a:p>
          <a:p>
            <a:r>
              <a:rPr lang="en-US" dirty="0"/>
              <a:t>• Generated and analyzed security alerts.</a:t>
            </a:r>
          </a:p>
          <a:p>
            <a:endParaRPr lang="en-US" dirty="0"/>
          </a:p>
          <a:p>
            <a:r>
              <a:rPr lang="en-US" dirty="0"/>
              <a:t>• Applied MITRE ATT&amp;CK mapping for attack classification.</a:t>
            </a:r>
          </a:p>
          <a:p>
            <a:endParaRPr lang="en-US" dirty="0"/>
          </a:p>
          <a:p>
            <a:r>
              <a:rPr lang="en-US" dirty="0"/>
              <a:t>• Built a KPI dashboard for security monitoring and visibility.</a:t>
            </a:r>
          </a:p>
        </p:txBody>
      </p:sp>
      <p:sp>
        <p:nvSpPr>
          <p:cNvPr id="7" name="TextBox 6">
            <a:extLst>
              <a:ext uri="{FF2B5EF4-FFF2-40B4-BE49-F238E27FC236}">
                <a16:creationId xmlns:a16="http://schemas.microsoft.com/office/drawing/2014/main" id="{D93A13A4-A96C-7DE8-5341-A1820B5FECDA}"/>
              </a:ext>
            </a:extLst>
          </p:cNvPr>
          <p:cNvSpPr txBox="1"/>
          <p:nvPr/>
        </p:nvSpPr>
        <p:spPr>
          <a:xfrm>
            <a:off x="3713432" y="1223248"/>
            <a:ext cx="3264947" cy="461665"/>
          </a:xfrm>
          <a:prstGeom prst="rect">
            <a:avLst/>
          </a:prstGeom>
          <a:noFill/>
        </p:spPr>
        <p:txBody>
          <a:bodyPr wrap="square">
            <a:spAutoFit/>
          </a:bodyPr>
          <a:lstStyle/>
          <a:p>
            <a:r>
              <a:rPr lang="en-US" sz="2400" b="1" dirty="0"/>
              <a:t>Project Summary</a:t>
            </a:r>
          </a:p>
        </p:txBody>
      </p:sp>
    </p:spTree>
    <p:extLst>
      <p:ext uri="{BB962C8B-B14F-4D97-AF65-F5344CB8AC3E}">
        <p14:creationId xmlns:p14="http://schemas.microsoft.com/office/powerpoint/2010/main" val="252139810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0DB69-13D2-137B-F824-A2DBFF96CBC2}"/>
            </a:ext>
          </a:extLst>
        </p:cNvPr>
        <p:cNvGrpSpPr/>
        <p:nvPr/>
      </p:nvGrpSpPr>
      <p:grpSpPr>
        <a:xfrm>
          <a:off x="0" y="0"/>
          <a:ext cx="0" cy="0"/>
          <a:chOff x="0" y="0"/>
          <a:chExt cx="0" cy="0"/>
        </a:xfrm>
      </p:grpSpPr>
      <p:pic>
        <p:nvPicPr>
          <p:cNvPr id="3" name="Picture 3">
            <a:extLst>
              <a:ext uri="{FF2B5EF4-FFF2-40B4-BE49-F238E27FC236}">
                <a16:creationId xmlns:a16="http://schemas.microsoft.com/office/drawing/2014/main" id="{3AD1F810-5E4A-8C49-205E-1B2AEE35388C}"/>
              </a:ext>
            </a:extLst>
          </p:cNvPr>
          <p:cNvPicPr>
            <a:picLocks noChangeAspect="1" noChangeArrowheads="1"/>
          </p:cNvPicPr>
          <p:nvPr/>
        </p:nvPicPr>
        <p:blipFill>
          <a:blip r:embed="rId2"/>
          <a:srcRect t="-9550" b="9550"/>
          <a:stretch>
            <a:fillRect/>
          </a:stretch>
        </p:blipFill>
        <p:spPr bwMode="auto">
          <a:xfrm>
            <a:off x="-1" y="0"/>
            <a:ext cx="10691814" cy="5932170"/>
          </a:xfrm>
          <a:prstGeom prst="rect">
            <a:avLst/>
          </a:prstGeom>
          <a:noFill/>
        </p:spPr>
      </p:pic>
      <p:sp>
        <p:nvSpPr>
          <p:cNvPr id="4" name="TextBox 3">
            <a:extLst>
              <a:ext uri="{FF2B5EF4-FFF2-40B4-BE49-F238E27FC236}">
                <a16:creationId xmlns:a16="http://schemas.microsoft.com/office/drawing/2014/main" id="{F86E7767-5975-06BA-E494-9BE2B608E650}"/>
              </a:ext>
            </a:extLst>
          </p:cNvPr>
          <p:cNvSpPr txBox="1"/>
          <p:nvPr/>
        </p:nvSpPr>
        <p:spPr>
          <a:xfrm>
            <a:off x="2547607" y="3039100"/>
            <a:ext cx="5596597" cy="1446550"/>
          </a:xfrm>
          <a:prstGeom prst="rect">
            <a:avLst/>
          </a:prstGeom>
          <a:noFill/>
        </p:spPr>
        <p:txBody>
          <a:bodyPr wrap="none" rtlCol="0">
            <a:spAutoFit/>
          </a:bodyPr>
          <a:lstStyle/>
          <a:p>
            <a:r>
              <a:rPr lang="en-US" sz="8800" b="1" dirty="0"/>
              <a:t>Thank you </a:t>
            </a:r>
          </a:p>
        </p:txBody>
      </p:sp>
    </p:spTree>
    <p:extLst>
      <p:ext uri="{BB962C8B-B14F-4D97-AF65-F5344CB8AC3E}">
        <p14:creationId xmlns:p14="http://schemas.microsoft.com/office/powerpoint/2010/main" val="83128595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130</TotalTime>
  <Words>1924</Words>
  <Application>Microsoft Office PowerPoint</Application>
  <PresentationFormat>Custom</PresentationFormat>
  <Paragraphs>296</Paragraphs>
  <Slides>54</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54</vt:i4>
      </vt:variant>
    </vt:vector>
  </HeadingPairs>
  <TitlesOfParts>
    <vt:vector size="62" baseType="lpstr">
      <vt:lpstr>Aptos</vt:lpstr>
      <vt:lpstr>Aptos Display</vt:lpstr>
      <vt:lpstr>Arial</vt:lpstr>
      <vt:lpstr>Courier New</vt:lpstr>
      <vt:lpstr>quote-cjk-patch</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200025319-Mohamed  Moustafa Elsaid  Elhoot</dc:creator>
  <cp:lastModifiedBy>200025319-Mohamed  Moustafa Elsaid  Elhoot</cp:lastModifiedBy>
  <cp:revision>5</cp:revision>
  <dcterms:created xsi:type="dcterms:W3CDTF">2026-04-22T22:28:22Z</dcterms:created>
  <dcterms:modified xsi:type="dcterms:W3CDTF">2026-06-21T01:02:18Z</dcterms:modified>
</cp:coreProperties>
</file>