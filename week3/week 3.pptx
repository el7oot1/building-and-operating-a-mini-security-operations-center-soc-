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68" r:id="rId3"/>
    <p:sldId id="265" r:id="rId4"/>
    <p:sldId id="266" r:id="rId5"/>
    <p:sldId id="272" r:id="rId6"/>
    <p:sldId id="270" r:id="rId7"/>
  </p:sldIdLst>
  <p:sldSz cx="10691813" cy="75247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14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1482"/>
            <a:ext cx="9088041" cy="2619728"/>
          </a:xfrm>
        </p:spPr>
        <p:txBody>
          <a:bodyPr anchor="b"/>
          <a:lstStyle>
            <a:lvl1pPr algn="ctr">
              <a:defRPr sz="6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52236"/>
            <a:ext cx="8018860" cy="1816739"/>
          </a:xfrm>
        </p:spPr>
        <p:txBody>
          <a:bodyPr/>
          <a:lstStyle>
            <a:lvl1pPr marL="0" indent="0" algn="ctr">
              <a:buNone/>
              <a:defRPr sz="2633"/>
            </a:lvl1pPr>
            <a:lvl2pPr marL="501640" indent="0" algn="ctr">
              <a:buNone/>
              <a:defRPr sz="2194"/>
            </a:lvl2pPr>
            <a:lvl3pPr marL="1003280" indent="0" algn="ctr">
              <a:buNone/>
              <a:defRPr sz="1975"/>
            </a:lvl3pPr>
            <a:lvl4pPr marL="1504920" indent="0" algn="ctr">
              <a:buNone/>
              <a:defRPr sz="1756"/>
            </a:lvl4pPr>
            <a:lvl5pPr marL="2006559" indent="0" algn="ctr">
              <a:buNone/>
              <a:defRPr sz="1756"/>
            </a:lvl5pPr>
            <a:lvl6pPr marL="2508199" indent="0" algn="ctr">
              <a:buNone/>
              <a:defRPr sz="1756"/>
            </a:lvl6pPr>
            <a:lvl7pPr marL="3009839" indent="0" algn="ctr">
              <a:buNone/>
              <a:defRPr sz="1756"/>
            </a:lvl7pPr>
            <a:lvl8pPr marL="3511479" indent="0" algn="ctr">
              <a:buNone/>
              <a:defRPr sz="1756"/>
            </a:lvl8pPr>
            <a:lvl9pPr marL="4013119" indent="0" algn="ctr">
              <a:buNone/>
              <a:defRPr sz="175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870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929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75964"/>
            <a:ext cx="9221689" cy="3130086"/>
          </a:xfrm>
        </p:spPr>
        <p:txBody>
          <a:bodyPr anchor="b"/>
          <a:lstStyle>
            <a:lvl1pPr>
              <a:defRPr sz="6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35662"/>
            <a:ext cx="9221689" cy="1646039"/>
          </a:xfrm>
        </p:spPr>
        <p:txBody>
          <a:bodyPr/>
          <a:lstStyle>
            <a:lvl1pPr marL="0" indent="0">
              <a:buNone/>
              <a:defRPr sz="2633">
                <a:solidFill>
                  <a:schemeClr val="tx1">
                    <a:tint val="82000"/>
                  </a:schemeClr>
                </a:solidFill>
              </a:defRPr>
            </a:lvl1pPr>
            <a:lvl2pPr marL="501640" indent="0">
              <a:buNone/>
              <a:defRPr sz="2194">
                <a:solidFill>
                  <a:schemeClr val="tx1">
                    <a:tint val="82000"/>
                  </a:schemeClr>
                </a:solidFill>
              </a:defRPr>
            </a:lvl2pPr>
            <a:lvl3pPr marL="1003280" indent="0">
              <a:buNone/>
              <a:defRPr sz="1975">
                <a:solidFill>
                  <a:schemeClr val="tx1">
                    <a:tint val="82000"/>
                  </a:schemeClr>
                </a:solidFill>
              </a:defRPr>
            </a:lvl3pPr>
            <a:lvl4pPr marL="1504920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4pPr>
            <a:lvl5pPr marL="200655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5pPr>
            <a:lvl6pPr marL="250819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6pPr>
            <a:lvl7pPr marL="300983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7pPr>
            <a:lvl8pPr marL="351147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8pPr>
            <a:lvl9pPr marL="401311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50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03116"/>
            <a:ext cx="4544021" cy="47743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03116"/>
            <a:ext cx="4544021" cy="47743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9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0625"/>
            <a:ext cx="9221689" cy="14544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44609"/>
            <a:ext cx="4523137" cy="904015"/>
          </a:xfrm>
        </p:spPr>
        <p:txBody>
          <a:bodyPr anchor="b"/>
          <a:lstStyle>
            <a:lvl1pPr marL="0" indent="0">
              <a:buNone/>
              <a:defRPr sz="2633" b="1"/>
            </a:lvl1pPr>
            <a:lvl2pPr marL="501640" indent="0">
              <a:buNone/>
              <a:defRPr sz="2194" b="1"/>
            </a:lvl2pPr>
            <a:lvl3pPr marL="1003280" indent="0">
              <a:buNone/>
              <a:defRPr sz="1975" b="1"/>
            </a:lvl3pPr>
            <a:lvl4pPr marL="1504920" indent="0">
              <a:buNone/>
              <a:defRPr sz="1756" b="1"/>
            </a:lvl4pPr>
            <a:lvl5pPr marL="2006559" indent="0">
              <a:buNone/>
              <a:defRPr sz="1756" b="1"/>
            </a:lvl5pPr>
            <a:lvl6pPr marL="2508199" indent="0">
              <a:buNone/>
              <a:defRPr sz="1756" b="1"/>
            </a:lvl6pPr>
            <a:lvl7pPr marL="3009839" indent="0">
              <a:buNone/>
              <a:defRPr sz="1756" b="1"/>
            </a:lvl7pPr>
            <a:lvl8pPr marL="3511479" indent="0">
              <a:buNone/>
              <a:defRPr sz="1756" b="1"/>
            </a:lvl8pPr>
            <a:lvl9pPr marL="4013119" indent="0">
              <a:buNone/>
              <a:defRPr sz="1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48624"/>
            <a:ext cx="4523137" cy="4042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44609"/>
            <a:ext cx="4545413" cy="904015"/>
          </a:xfrm>
        </p:spPr>
        <p:txBody>
          <a:bodyPr anchor="b"/>
          <a:lstStyle>
            <a:lvl1pPr marL="0" indent="0">
              <a:buNone/>
              <a:defRPr sz="2633" b="1"/>
            </a:lvl1pPr>
            <a:lvl2pPr marL="501640" indent="0">
              <a:buNone/>
              <a:defRPr sz="2194" b="1"/>
            </a:lvl2pPr>
            <a:lvl3pPr marL="1003280" indent="0">
              <a:buNone/>
              <a:defRPr sz="1975" b="1"/>
            </a:lvl3pPr>
            <a:lvl4pPr marL="1504920" indent="0">
              <a:buNone/>
              <a:defRPr sz="1756" b="1"/>
            </a:lvl4pPr>
            <a:lvl5pPr marL="2006559" indent="0">
              <a:buNone/>
              <a:defRPr sz="1756" b="1"/>
            </a:lvl5pPr>
            <a:lvl6pPr marL="2508199" indent="0">
              <a:buNone/>
              <a:defRPr sz="1756" b="1"/>
            </a:lvl6pPr>
            <a:lvl7pPr marL="3009839" indent="0">
              <a:buNone/>
              <a:defRPr sz="1756" b="1"/>
            </a:lvl7pPr>
            <a:lvl8pPr marL="3511479" indent="0">
              <a:buNone/>
              <a:defRPr sz="1756" b="1"/>
            </a:lvl8pPr>
            <a:lvl9pPr marL="4013119" indent="0">
              <a:buNone/>
              <a:defRPr sz="1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48624"/>
            <a:ext cx="4545413" cy="4042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994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38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86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1650"/>
            <a:ext cx="3448388" cy="1755775"/>
          </a:xfrm>
        </p:spPr>
        <p:txBody>
          <a:bodyPr anchor="b"/>
          <a:lstStyle>
            <a:lvl1pPr>
              <a:defRPr sz="351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3426"/>
            <a:ext cx="5412730" cy="5347450"/>
          </a:xfrm>
        </p:spPr>
        <p:txBody>
          <a:bodyPr/>
          <a:lstStyle>
            <a:lvl1pPr>
              <a:defRPr sz="3511"/>
            </a:lvl1pPr>
            <a:lvl2pPr>
              <a:defRPr sz="3072"/>
            </a:lvl2pPr>
            <a:lvl3pPr>
              <a:defRPr sz="2633"/>
            </a:lvl3pPr>
            <a:lvl4pPr>
              <a:defRPr sz="2194"/>
            </a:lvl4pPr>
            <a:lvl5pPr>
              <a:defRPr sz="2194"/>
            </a:lvl5pPr>
            <a:lvl6pPr>
              <a:defRPr sz="2194"/>
            </a:lvl6pPr>
            <a:lvl7pPr>
              <a:defRPr sz="2194"/>
            </a:lvl7pPr>
            <a:lvl8pPr>
              <a:defRPr sz="2194"/>
            </a:lvl8pPr>
            <a:lvl9pPr>
              <a:defRPr sz="21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57425"/>
            <a:ext cx="3448388" cy="4182159"/>
          </a:xfrm>
        </p:spPr>
        <p:txBody>
          <a:bodyPr/>
          <a:lstStyle>
            <a:lvl1pPr marL="0" indent="0">
              <a:buNone/>
              <a:defRPr sz="1756"/>
            </a:lvl1pPr>
            <a:lvl2pPr marL="501640" indent="0">
              <a:buNone/>
              <a:defRPr sz="1536"/>
            </a:lvl2pPr>
            <a:lvl3pPr marL="1003280" indent="0">
              <a:buNone/>
              <a:defRPr sz="1317"/>
            </a:lvl3pPr>
            <a:lvl4pPr marL="1504920" indent="0">
              <a:buNone/>
              <a:defRPr sz="1097"/>
            </a:lvl4pPr>
            <a:lvl5pPr marL="2006559" indent="0">
              <a:buNone/>
              <a:defRPr sz="1097"/>
            </a:lvl5pPr>
            <a:lvl6pPr marL="2508199" indent="0">
              <a:buNone/>
              <a:defRPr sz="1097"/>
            </a:lvl6pPr>
            <a:lvl7pPr marL="3009839" indent="0">
              <a:buNone/>
              <a:defRPr sz="1097"/>
            </a:lvl7pPr>
            <a:lvl8pPr marL="3511479" indent="0">
              <a:buNone/>
              <a:defRPr sz="1097"/>
            </a:lvl8pPr>
            <a:lvl9pPr marL="4013119" indent="0">
              <a:buNone/>
              <a:defRPr sz="10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44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1650"/>
            <a:ext cx="3448388" cy="1755775"/>
          </a:xfrm>
        </p:spPr>
        <p:txBody>
          <a:bodyPr anchor="b"/>
          <a:lstStyle>
            <a:lvl1pPr>
              <a:defRPr sz="351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3426"/>
            <a:ext cx="5412730" cy="5347450"/>
          </a:xfrm>
        </p:spPr>
        <p:txBody>
          <a:bodyPr anchor="t"/>
          <a:lstStyle>
            <a:lvl1pPr marL="0" indent="0">
              <a:buNone/>
              <a:defRPr sz="3511"/>
            </a:lvl1pPr>
            <a:lvl2pPr marL="501640" indent="0">
              <a:buNone/>
              <a:defRPr sz="3072"/>
            </a:lvl2pPr>
            <a:lvl3pPr marL="1003280" indent="0">
              <a:buNone/>
              <a:defRPr sz="2633"/>
            </a:lvl3pPr>
            <a:lvl4pPr marL="1504920" indent="0">
              <a:buNone/>
              <a:defRPr sz="2194"/>
            </a:lvl4pPr>
            <a:lvl5pPr marL="2006559" indent="0">
              <a:buNone/>
              <a:defRPr sz="2194"/>
            </a:lvl5pPr>
            <a:lvl6pPr marL="2508199" indent="0">
              <a:buNone/>
              <a:defRPr sz="2194"/>
            </a:lvl6pPr>
            <a:lvl7pPr marL="3009839" indent="0">
              <a:buNone/>
              <a:defRPr sz="2194"/>
            </a:lvl7pPr>
            <a:lvl8pPr marL="3511479" indent="0">
              <a:buNone/>
              <a:defRPr sz="2194"/>
            </a:lvl8pPr>
            <a:lvl9pPr marL="4013119" indent="0">
              <a:buNone/>
              <a:defRPr sz="219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57425"/>
            <a:ext cx="3448388" cy="4182159"/>
          </a:xfrm>
        </p:spPr>
        <p:txBody>
          <a:bodyPr/>
          <a:lstStyle>
            <a:lvl1pPr marL="0" indent="0">
              <a:buNone/>
              <a:defRPr sz="1756"/>
            </a:lvl1pPr>
            <a:lvl2pPr marL="501640" indent="0">
              <a:buNone/>
              <a:defRPr sz="1536"/>
            </a:lvl2pPr>
            <a:lvl3pPr marL="1003280" indent="0">
              <a:buNone/>
              <a:defRPr sz="1317"/>
            </a:lvl3pPr>
            <a:lvl4pPr marL="1504920" indent="0">
              <a:buNone/>
              <a:defRPr sz="1097"/>
            </a:lvl4pPr>
            <a:lvl5pPr marL="2006559" indent="0">
              <a:buNone/>
              <a:defRPr sz="1097"/>
            </a:lvl5pPr>
            <a:lvl6pPr marL="2508199" indent="0">
              <a:buNone/>
              <a:defRPr sz="1097"/>
            </a:lvl6pPr>
            <a:lvl7pPr marL="3009839" indent="0">
              <a:buNone/>
              <a:defRPr sz="1097"/>
            </a:lvl7pPr>
            <a:lvl8pPr marL="3511479" indent="0">
              <a:buNone/>
              <a:defRPr sz="1097"/>
            </a:lvl8pPr>
            <a:lvl9pPr marL="4013119" indent="0">
              <a:buNone/>
              <a:defRPr sz="10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18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21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0623"/>
            <a:ext cx="2305422" cy="63768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0623"/>
            <a:ext cx="6782619" cy="63768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5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0625"/>
            <a:ext cx="9221689" cy="1454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03116"/>
            <a:ext cx="9221689" cy="4774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6974330"/>
            <a:ext cx="2405658" cy="4006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2DE49F-9FDB-4298-94B8-612B81C5EAC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6974330"/>
            <a:ext cx="3608487" cy="4006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6974330"/>
            <a:ext cx="2405658" cy="4006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27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3280" rtl="0" eaLnBrk="1" latinLnBrk="0" hangingPunct="1">
        <a:lnSpc>
          <a:spcPct val="90000"/>
        </a:lnSpc>
        <a:spcBef>
          <a:spcPct val="0"/>
        </a:spcBef>
        <a:buNone/>
        <a:defRPr sz="48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0820" indent="-250820" algn="l" defTabSz="1003280" rtl="0" eaLnBrk="1" latinLnBrk="0" hangingPunct="1">
        <a:lnSpc>
          <a:spcPct val="90000"/>
        </a:lnSpc>
        <a:spcBef>
          <a:spcPts val="1097"/>
        </a:spcBef>
        <a:buFont typeface="Arial" panose="020B0604020202020204" pitchFamily="34" charset="0"/>
        <a:buChar char="•"/>
        <a:defRPr sz="3072" kern="1200">
          <a:solidFill>
            <a:schemeClr val="tx1"/>
          </a:solidFill>
          <a:latin typeface="+mn-lt"/>
          <a:ea typeface="+mn-ea"/>
          <a:cs typeface="+mn-cs"/>
        </a:defRPr>
      </a:lvl1pPr>
      <a:lvl2pPr marL="752460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2633" kern="1200">
          <a:solidFill>
            <a:schemeClr val="tx1"/>
          </a:solidFill>
          <a:latin typeface="+mn-lt"/>
          <a:ea typeface="+mn-ea"/>
          <a:cs typeface="+mn-cs"/>
        </a:defRPr>
      </a:lvl2pPr>
      <a:lvl3pPr marL="1254100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3pPr>
      <a:lvl4pPr marL="175573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4pPr>
      <a:lvl5pPr marL="225737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5pPr>
      <a:lvl6pPr marL="275901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6pPr>
      <a:lvl7pPr marL="326065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7pPr>
      <a:lvl8pPr marL="376229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8pPr>
      <a:lvl9pPr marL="426393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1pPr>
      <a:lvl2pPr marL="50164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2pPr>
      <a:lvl3pPr marL="100328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3pPr>
      <a:lvl4pPr marL="150492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4pPr>
      <a:lvl5pPr marL="200655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5pPr>
      <a:lvl6pPr marL="250819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6pPr>
      <a:lvl7pPr marL="300983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7pPr>
      <a:lvl8pPr marL="351147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8pPr>
      <a:lvl9pPr marL="401311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1B774-260A-4679-7787-481505301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2A835A53-7FCE-3AFE-8851-C995DE3D5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-225088"/>
            <a:ext cx="10691814" cy="5932170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885D34-62B5-2DD9-3363-C5D917BF0205}"/>
              </a:ext>
            </a:extLst>
          </p:cNvPr>
          <p:cNvSpPr txBox="1"/>
          <p:nvPr/>
        </p:nvSpPr>
        <p:spPr>
          <a:xfrm>
            <a:off x="2540000" y="699185"/>
            <a:ext cx="5425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Attack &amp; Detection Documentation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1553FE-2C25-C330-E598-AA5BC3A7EAA2}"/>
              </a:ext>
            </a:extLst>
          </p:cNvPr>
          <p:cNvSpPr txBox="1"/>
          <p:nvPr/>
        </p:nvSpPr>
        <p:spPr>
          <a:xfrm>
            <a:off x="751840" y="1983742"/>
            <a:ext cx="646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</a:t>
            </a:r>
            <a:r>
              <a:rPr lang="en-US" b="1" dirty="0"/>
              <a:t>Target Machine (Victim):</a:t>
            </a:r>
            <a:r>
              <a:rPr lang="en-US" dirty="0"/>
              <a:t> Windows 11 VM (Host Name: </a:t>
            </a:r>
            <a:r>
              <a:rPr lang="en-US" dirty="0" err="1">
                <a:latin typeface="Courier New" panose="02070309020205020404" pitchFamily="49" charset="0"/>
              </a:rPr>
              <a:t>asus</a:t>
            </a:r>
            <a:r>
              <a:rPr lang="en-US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0DAFA9-70EA-F945-09DB-FB0594A18484}"/>
              </a:ext>
            </a:extLst>
          </p:cNvPr>
          <p:cNvSpPr txBox="1"/>
          <p:nvPr/>
        </p:nvSpPr>
        <p:spPr>
          <a:xfrm>
            <a:off x="751840" y="1669624"/>
            <a:ext cx="542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</a:t>
            </a:r>
            <a:r>
              <a:rPr lang="en-US" b="1" dirty="0"/>
              <a:t>Tool Used:</a:t>
            </a:r>
            <a:r>
              <a:rPr lang="en-US" dirty="0"/>
              <a:t> Atomic Red Team (ART)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E2A5FC-6FA1-6949-AF5C-F7E005B46AE2}"/>
              </a:ext>
            </a:extLst>
          </p:cNvPr>
          <p:cNvSpPr txBox="1"/>
          <p:nvPr/>
        </p:nvSpPr>
        <p:spPr>
          <a:xfrm>
            <a:off x="751840" y="2364569"/>
            <a:ext cx="542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</a:t>
            </a:r>
            <a:r>
              <a:rPr lang="en-US" b="1" dirty="0"/>
              <a:t>MITRE ATT&amp;CK Tactic:</a:t>
            </a:r>
            <a:r>
              <a:rPr lang="en-US" dirty="0"/>
              <a:t> </a:t>
            </a:r>
            <a:r>
              <a:rPr lang="en-US" b="1" dirty="0"/>
              <a:t>Persistence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674873-0D4A-0ED7-DE5E-CC1AC9DF842E}"/>
              </a:ext>
            </a:extLst>
          </p:cNvPr>
          <p:cNvSpPr txBox="1"/>
          <p:nvPr/>
        </p:nvSpPr>
        <p:spPr>
          <a:xfrm>
            <a:off x="751840" y="2690181"/>
            <a:ext cx="7589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</a:t>
            </a:r>
            <a:r>
              <a:rPr lang="en-US" b="1" dirty="0"/>
              <a:t>MITRE ATT&amp;CK Technique:</a:t>
            </a:r>
            <a:r>
              <a:rPr lang="en-US" dirty="0"/>
              <a:t> </a:t>
            </a:r>
            <a:r>
              <a:rPr lang="en-US" b="1" dirty="0"/>
              <a:t>Create Account: Local Account (T1136.001)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5FBC4D-A952-CF61-4CFE-123D3C57A344}"/>
              </a:ext>
            </a:extLst>
          </p:cNvPr>
          <p:cNvSpPr txBox="1"/>
          <p:nvPr/>
        </p:nvSpPr>
        <p:spPr>
          <a:xfrm>
            <a:off x="751840" y="3059513"/>
            <a:ext cx="77251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</a:t>
            </a:r>
            <a:r>
              <a:rPr lang="en-US" b="1" dirty="0"/>
              <a:t>Simulation Mechanism:</a:t>
            </a:r>
            <a:r>
              <a:rPr lang="en-US" dirty="0"/>
              <a:t> Self-Simulation (The host executes the technique locally to simulate a compromised scenario).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1F6BAC-D03C-C8CE-E721-5B576D65D0F2}"/>
              </a:ext>
            </a:extLst>
          </p:cNvPr>
          <p:cNvSpPr txBox="1"/>
          <p:nvPr/>
        </p:nvSpPr>
        <p:spPr>
          <a:xfrm>
            <a:off x="518160" y="3882405"/>
            <a:ext cx="99466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Attack Scenario Description</a:t>
            </a:r>
          </a:p>
          <a:p>
            <a:pPr>
              <a:buNone/>
            </a:pPr>
            <a:r>
              <a:rPr lang="en-US" dirty="0"/>
              <a:t>This test simulates exploitation tactic where an attacker creates a new local user account and escalates its privileges by adding it to the local </a:t>
            </a:r>
            <a:r>
              <a:rPr lang="en-US" dirty="0">
                <a:latin typeface="Courier New" panose="02070309020205020404" pitchFamily="49" charset="0"/>
              </a:rPr>
              <a:t>Administrators</a:t>
            </a:r>
            <a:r>
              <a:rPr lang="en-US" dirty="0"/>
              <a:t> group. This ensures the attacker maintains a "backdoor" for persistent access to the victim's environment, even if the primary vulnerability is patched.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182CDF-8255-A0D0-0B2C-EC41DF411A3F}"/>
              </a:ext>
            </a:extLst>
          </p:cNvPr>
          <p:cNvSpPr txBox="1"/>
          <p:nvPr/>
        </p:nvSpPr>
        <p:spPr>
          <a:xfrm>
            <a:off x="518160" y="5707082"/>
            <a:ext cx="809752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SIEM Rule Deployment</a:t>
            </a:r>
            <a:endParaRPr lang="ar-EG" sz="2000" b="1" dirty="0"/>
          </a:p>
          <a:p>
            <a:endParaRPr lang="ar-EG" dirty="0"/>
          </a:p>
          <a:p>
            <a:r>
              <a:rPr lang="en-US" dirty="0"/>
              <a:t>• </a:t>
            </a:r>
            <a:r>
              <a:rPr lang="en-US" b="1" dirty="0"/>
              <a:t>Rule Name:</a:t>
            </a:r>
            <a:r>
              <a:rPr lang="en-US" dirty="0"/>
              <a:t> Persistence - Unauthorized Local Admin Account Created</a:t>
            </a:r>
            <a:endParaRPr lang="ar-EG" dirty="0"/>
          </a:p>
          <a:p>
            <a:r>
              <a:rPr lang="en-US" dirty="0"/>
              <a:t>• </a:t>
            </a:r>
            <a:r>
              <a:rPr lang="en-US" b="1" dirty="0"/>
              <a:t>Severity:</a:t>
            </a:r>
            <a:r>
              <a:rPr lang="en-US" dirty="0"/>
              <a:t> High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E3A588-5DC1-F7AF-F778-ECC46C2C3A00}"/>
              </a:ext>
            </a:extLst>
          </p:cNvPr>
          <p:cNvSpPr txBox="1"/>
          <p:nvPr/>
        </p:nvSpPr>
        <p:spPr>
          <a:xfrm>
            <a:off x="518160" y="1306763"/>
            <a:ext cx="4148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Use Case 1:</a:t>
            </a:r>
            <a:r>
              <a:rPr lang="en-US" sz="2000" b="1" dirty="0"/>
              <a:t>Create account attack</a:t>
            </a:r>
          </a:p>
        </p:txBody>
      </p:sp>
    </p:spTree>
    <p:extLst>
      <p:ext uri="{BB962C8B-B14F-4D97-AF65-F5344CB8AC3E}">
        <p14:creationId xmlns:p14="http://schemas.microsoft.com/office/powerpoint/2010/main" val="2553643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7D450-9059-BFBB-8B21-E2ECE26BD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7B799FAA-DD56-142F-7637-E555D485B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93007"/>
            <a:ext cx="10691814" cy="5932170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63C5BE-6A3D-0F64-733F-0C1B080DAA18}"/>
              </a:ext>
            </a:extLst>
          </p:cNvPr>
          <p:cNvSpPr txBox="1"/>
          <p:nvPr/>
        </p:nvSpPr>
        <p:spPr>
          <a:xfrm>
            <a:off x="314960" y="1652761"/>
            <a:ext cx="64623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Technical Execution Steps  on atomic red team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B065F9-161C-38C4-154A-B344B803E01C}"/>
              </a:ext>
            </a:extLst>
          </p:cNvPr>
          <p:cNvSpPr txBox="1"/>
          <p:nvPr/>
        </p:nvSpPr>
        <p:spPr>
          <a:xfrm>
            <a:off x="314960" y="2483639"/>
            <a:ext cx="5344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1: Import the Atomic Red Team Module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06AA7B-5413-5364-7210-15F12C20E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20" y="2883468"/>
            <a:ext cx="7849280" cy="6325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421839-4A34-BDAC-A9D4-1FF1A65CEA79}"/>
              </a:ext>
            </a:extLst>
          </p:cNvPr>
          <p:cNvSpPr txBox="1"/>
          <p:nvPr/>
        </p:nvSpPr>
        <p:spPr>
          <a:xfrm>
            <a:off x="314960" y="4254408"/>
            <a:ext cx="5344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2: Execute the Specific Attack Test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5846C-5424-FADF-4EC4-FC05C1288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20" y="4813874"/>
            <a:ext cx="2880610" cy="5105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BE6857-C215-55B3-B3FE-6722DCAD8652}"/>
              </a:ext>
            </a:extLst>
          </p:cNvPr>
          <p:cNvSpPr txBox="1"/>
          <p:nvPr/>
        </p:nvSpPr>
        <p:spPr>
          <a:xfrm>
            <a:off x="2520392" y="6424887"/>
            <a:ext cx="6162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Depend on </a:t>
            </a:r>
            <a:r>
              <a:rPr lang="en-US" b="1" dirty="0"/>
              <a:t>MITRE ATT&amp;CK ID </a:t>
            </a:r>
            <a:r>
              <a:rPr lang="en-US" dirty="0"/>
              <a:t>to simulate a specific attack 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1F267F-FC2B-EB16-79A1-BDBD5CAD30F4}"/>
              </a:ext>
            </a:extLst>
          </p:cNvPr>
          <p:cNvCxnSpPr/>
          <p:nvPr/>
        </p:nvCxnSpPr>
        <p:spPr>
          <a:xfrm flipH="1" flipV="1">
            <a:off x="3108960" y="5198515"/>
            <a:ext cx="817581" cy="12263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8086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FC3D1-34F0-8490-E474-D29EA6CCF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643D5AD7-F3F3-F513-9D23-400A8B670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-155027"/>
            <a:ext cx="10691814" cy="5932170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337BBD-54E1-3B74-2DFD-D25D65BFD6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1"/>
          <a:stretch>
            <a:fillRect/>
          </a:stretch>
        </p:blipFill>
        <p:spPr>
          <a:xfrm>
            <a:off x="0" y="2291924"/>
            <a:ext cx="10691813" cy="39813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94190F-3452-497F-D66D-4ACFD4A70FB5}"/>
              </a:ext>
            </a:extLst>
          </p:cNvPr>
          <p:cNvSpPr txBox="1"/>
          <p:nvPr/>
        </p:nvSpPr>
        <p:spPr>
          <a:xfrm>
            <a:off x="1052116" y="893617"/>
            <a:ext cx="47220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Simulate attack using atomic red team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726EF2-05EF-FB68-9F23-AE1B7D93F701}"/>
              </a:ext>
            </a:extLst>
          </p:cNvPr>
          <p:cNvSpPr txBox="1"/>
          <p:nvPr/>
        </p:nvSpPr>
        <p:spPr>
          <a:xfrm>
            <a:off x="3102098" y="1564704"/>
            <a:ext cx="5344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Created a new local user named </a:t>
            </a:r>
            <a:r>
              <a:rPr lang="en-US" b="1" dirty="0" err="1">
                <a:latin typeface="Courier New" panose="02070309020205020404" pitchFamily="49" charset="0"/>
              </a:rPr>
              <a:t>NewLocalUser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B8E007-B062-1E51-3B10-0B58E4DD87E7}"/>
              </a:ext>
            </a:extLst>
          </p:cNvPr>
          <p:cNvCxnSpPr>
            <a:cxnSpLocks/>
          </p:cNvCxnSpPr>
          <p:nvPr/>
        </p:nvCxnSpPr>
        <p:spPr>
          <a:xfrm>
            <a:off x="5943600" y="1934036"/>
            <a:ext cx="1452880" cy="17540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4DB76A2-B9B7-1E41-7C6D-A044921343B2}"/>
              </a:ext>
            </a:extLst>
          </p:cNvPr>
          <p:cNvSpPr txBox="1"/>
          <p:nvPr/>
        </p:nvSpPr>
        <p:spPr>
          <a:xfrm>
            <a:off x="1488440" y="6631133"/>
            <a:ext cx="676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Successfully added the user to the </a:t>
            </a:r>
            <a:r>
              <a:rPr lang="en-US" b="1" dirty="0">
                <a:latin typeface="Courier New" panose="02070309020205020404" pitchFamily="49" charset="0"/>
              </a:rPr>
              <a:t>Administrators</a:t>
            </a:r>
            <a:r>
              <a:rPr lang="en-US" dirty="0"/>
              <a:t> group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84F8AF7-7CC8-DEF7-A263-58566E0EF1B6}"/>
              </a:ext>
            </a:extLst>
          </p:cNvPr>
          <p:cNvCxnSpPr>
            <a:cxnSpLocks/>
          </p:cNvCxnSpPr>
          <p:nvPr/>
        </p:nvCxnSpPr>
        <p:spPr>
          <a:xfrm flipH="1" flipV="1">
            <a:off x="3586480" y="4015333"/>
            <a:ext cx="1127760" cy="26158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A606791-C4A5-2153-3335-48427F0A9D15}"/>
              </a:ext>
            </a:extLst>
          </p:cNvPr>
          <p:cNvSpPr txBox="1"/>
          <p:nvPr/>
        </p:nvSpPr>
        <p:spPr>
          <a:xfrm>
            <a:off x="5265868" y="7000465"/>
            <a:ext cx="236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dirty="0"/>
              <a:t>)</a:t>
            </a:r>
            <a:r>
              <a:rPr lang="en-US" dirty="0"/>
              <a:t>Privilege Escalation</a:t>
            </a:r>
            <a:r>
              <a:rPr lang="ar-EG" dirty="0"/>
              <a:t>(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578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7EC70-C082-6DFB-12AB-3976B2DC0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74CFEAA2-E18E-FD4E-ED94-AC6138644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-1" y="-272753"/>
            <a:ext cx="10691814" cy="5932170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65DF34-717E-7C8E-071C-74338A8E4D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66" b="16273"/>
          <a:stretch>
            <a:fillRect/>
          </a:stretch>
        </p:blipFill>
        <p:spPr>
          <a:xfrm>
            <a:off x="-2" y="2121260"/>
            <a:ext cx="4886960" cy="1920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8F7C42-1E2B-23BD-E1D7-371C62869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60885"/>
            <a:ext cx="10691813" cy="5719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5191BA-44E8-10A0-FC84-72D3F85D96A1}"/>
              </a:ext>
            </a:extLst>
          </p:cNvPr>
          <p:cNvSpPr txBox="1"/>
          <p:nvPr/>
        </p:nvSpPr>
        <p:spPr>
          <a:xfrm>
            <a:off x="3312160" y="1051141"/>
            <a:ext cx="5344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</a:rPr>
              <a:t>event_id</a:t>
            </a:r>
            <a:r>
              <a:rPr lang="en-US" dirty="0">
                <a:latin typeface="Courier New" panose="02070309020205020404" pitchFamily="49" charset="0"/>
              </a:rPr>
              <a:t>: 4720</a:t>
            </a:r>
            <a:r>
              <a:rPr lang="en-US" dirty="0"/>
              <a:t> (</a:t>
            </a:r>
            <a:r>
              <a:rPr lang="en-US" dirty="0" err="1"/>
              <a:t>إنشاء</a:t>
            </a:r>
            <a:r>
              <a:rPr lang="en-US" dirty="0"/>
              <a:t> </a:t>
            </a:r>
            <a:r>
              <a:rPr lang="en-US" dirty="0" err="1"/>
              <a:t>الحساب</a:t>
            </a:r>
            <a:r>
              <a:rPr lang="en-US" dirty="0"/>
              <a:t>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5CE457-05E1-996B-F2DC-EF89C51D2A9F}"/>
              </a:ext>
            </a:extLst>
          </p:cNvPr>
          <p:cNvSpPr txBox="1"/>
          <p:nvPr/>
        </p:nvSpPr>
        <p:spPr>
          <a:xfrm>
            <a:off x="3312160" y="4740648"/>
            <a:ext cx="5344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</a:rPr>
              <a:t>event_id</a:t>
            </a:r>
            <a:r>
              <a:rPr lang="en-US" dirty="0">
                <a:latin typeface="Courier New" panose="02070309020205020404" pitchFamily="49" charset="0"/>
              </a:rPr>
              <a:t>: 4732</a:t>
            </a:r>
            <a:r>
              <a:rPr lang="en-US" dirty="0"/>
              <a:t> (</a:t>
            </a:r>
            <a:r>
              <a:rPr lang="en-US" dirty="0" err="1"/>
              <a:t>إضافته</a:t>
            </a:r>
            <a:r>
              <a:rPr lang="en-US" dirty="0"/>
              <a:t> </a:t>
            </a:r>
            <a:r>
              <a:rPr lang="en-US" dirty="0" err="1"/>
              <a:t>للأدمن</a:t>
            </a:r>
            <a:r>
              <a:rPr lang="en-US" dirty="0"/>
              <a:t>).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9419EE-83E2-2CC3-9289-145E630F8F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7500"/>
            <a:ext cx="10691813" cy="6025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59E6E6-64C2-4CE6-7941-594C09B99DA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6538" b="15709"/>
          <a:stretch>
            <a:fillRect/>
          </a:stretch>
        </p:blipFill>
        <p:spPr>
          <a:xfrm>
            <a:off x="91122" y="5804653"/>
            <a:ext cx="4704712" cy="15884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7249B4-072F-AD24-07BE-2B226EFC05FE}"/>
              </a:ext>
            </a:extLst>
          </p:cNvPr>
          <p:cNvSpPr txBox="1"/>
          <p:nvPr/>
        </p:nvSpPr>
        <p:spPr>
          <a:xfrm>
            <a:off x="346039" y="4214635"/>
            <a:ext cx="53465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&gt;&gt;Privilege Escalation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82B3A-963F-81D2-FF4E-EA21AA425819}"/>
              </a:ext>
            </a:extLst>
          </p:cNvPr>
          <p:cNvSpPr txBox="1"/>
          <p:nvPr/>
        </p:nvSpPr>
        <p:spPr>
          <a:xfrm>
            <a:off x="638885" y="4534102"/>
            <a:ext cx="5346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Severity: </a:t>
            </a:r>
            <a:r>
              <a:rPr lang="en-US" dirty="0"/>
              <a:t>Critical</a:t>
            </a:r>
          </a:p>
        </p:txBody>
      </p:sp>
    </p:spTree>
    <p:extLst>
      <p:ext uri="{BB962C8B-B14F-4D97-AF65-F5344CB8AC3E}">
        <p14:creationId xmlns:p14="http://schemas.microsoft.com/office/powerpoint/2010/main" val="3742020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CCBB4-BBD6-41CC-A4AE-2984296E4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CFFC9C01-1AEE-58CD-D69C-755FC0C5A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-225088"/>
            <a:ext cx="10691814" cy="5932170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AFBB5D-1631-2079-A1A7-B5570939EF5D}"/>
              </a:ext>
            </a:extLst>
          </p:cNvPr>
          <p:cNvSpPr txBox="1"/>
          <p:nvPr/>
        </p:nvSpPr>
        <p:spPr>
          <a:xfrm>
            <a:off x="2540000" y="699185"/>
            <a:ext cx="5425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Attack &amp; Detection Documentation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A27CF3-67ED-715C-C020-53968946BBE6}"/>
              </a:ext>
            </a:extLst>
          </p:cNvPr>
          <p:cNvSpPr txBox="1"/>
          <p:nvPr/>
        </p:nvSpPr>
        <p:spPr>
          <a:xfrm>
            <a:off x="751840" y="1983742"/>
            <a:ext cx="646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</a:t>
            </a:r>
            <a:r>
              <a:rPr lang="en-US" b="1" dirty="0"/>
              <a:t>Target Machine (Victim):</a:t>
            </a:r>
            <a:r>
              <a:rPr lang="en-US" dirty="0"/>
              <a:t> Windows 11 VM (Host Name: </a:t>
            </a:r>
            <a:r>
              <a:rPr lang="en-US" dirty="0" err="1">
                <a:latin typeface="Courier New" panose="02070309020205020404" pitchFamily="49" charset="0"/>
              </a:rPr>
              <a:t>asus</a:t>
            </a:r>
            <a:r>
              <a:rPr lang="en-US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EBA511-3D99-3062-2376-28951C6BD2EE}"/>
              </a:ext>
            </a:extLst>
          </p:cNvPr>
          <p:cNvSpPr txBox="1"/>
          <p:nvPr/>
        </p:nvSpPr>
        <p:spPr>
          <a:xfrm>
            <a:off x="751840" y="1669624"/>
            <a:ext cx="542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</a:t>
            </a:r>
            <a:r>
              <a:rPr lang="en-US" b="1" dirty="0"/>
              <a:t>Tool Used:</a:t>
            </a:r>
            <a:r>
              <a:rPr lang="en-US" dirty="0"/>
              <a:t> Atomic Red Team (ART)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DCA55E-9CE7-2AD9-ADD2-88281B236134}"/>
              </a:ext>
            </a:extLst>
          </p:cNvPr>
          <p:cNvSpPr txBox="1"/>
          <p:nvPr/>
        </p:nvSpPr>
        <p:spPr>
          <a:xfrm>
            <a:off x="751840" y="2364569"/>
            <a:ext cx="542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</a:t>
            </a:r>
            <a:r>
              <a:rPr lang="en-US" b="1" dirty="0"/>
              <a:t>MITRE ATT&amp;CK Tactic:</a:t>
            </a:r>
            <a:r>
              <a:rPr lang="en-US" dirty="0"/>
              <a:t> Credential Access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84D685-C546-0D21-7A4D-DC892B63010A}"/>
              </a:ext>
            </a:extLst>
          </p:cNvPr>
          <p:cNvSpPr txBox="1"/>
          <p:nvPr/>
        </p:nvSpPr>
        <p:spPr>
          <a:xfrm>
            <a:off x="751840" y="2690181"/>
            <a:ext cx="7589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</a:t>
            </a:r>
            <a:r>
              <a:rPr lang="en-US" b="1" dirty="0"/>
              <a:t>MITRE ATT&amp;CK Technique:</a:t>
            </a:r>
            <a:r>
              <a:rPr lang="en-US" dirty="0"/>
              <a:t> Brute Force </a:t>
            </a:r>
            <a:r>
              <a:rPr lang="ar-EG" dirty="0"/>
              <a:t>)</a:t>
            </a:r>
            <a:r>
              <a:rPr lang="en-US" dirty="0"/>
              <a:t> </a:t>
            </a:r>
            <a:r>
              <a:rPr lang="en-US" b="1" dirty="0"/>
              <a:t>T1110</a:t>
            </a:r>
            <a:r>
              <a:rPr lang="ar-EG" dirty="0"/>
              <a:t>( 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AE1C8-59FC-38EE-E007-E5F0D146BC32}"/>
              </a:ext>
            </a:extLst>
          </p:cNvPr>
          <p:cNvSpPr txBox="1"/>
          <p:nvPr/>
        </p:nvSpPr>
        <p:spPr>
          <a:xfrm>
            <a:off x="751840" y="3059513"/>
            <a:ext cx="77251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</a:t>
            </a:r>
            <a:r>
              <a:rPr lang="en-US" b="1" dirty="0"/>
              <a:t>Simulation Mechanism:</a:t>
            </a:r>
            <a:r>
              <a:rPr lang="en-US" dirty="0"/>
              <a:t> Self-Simulation (The host executes the technique locally to simulate a compromised scenario).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EEAE56-2FD9-63EF-B0E9-ED185D560E2E}"/>
              </a:ext>
            </a:extLst>
          </p:cNvPr>
          <p:cNvSpPr txBox="1"/>
          <p:nvPr/>
        </p:nvSpPr>
        <p:spPr>
          <a:xfrm>
            <a:off x="518160" y="3882405"/>
            <a:ext cx="99466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Attack Scenario Description</a:t>
            </a:r>
          </a:p>
          <a:p>
            <a:pPr>
              <a:buNone/>
            </a:pPr>
            <a:r>
              <a:rPr lang="en-US" dirty="0"/>
              <a:t>This test simulates an authentication exploitation tactic where an attacker or an automated script attempts to gain unauthorized access to a system by guessing local account passwords. By executing a rapid looping sequence of incorrect login attempts, the simulation forces the Windows subsystem to trigger defense telemetry, allowing the SOC team to detect malicious credential-hunting patterns before a successful breach occurs.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68F8BC-5969-FE8D-8D7E-E5BB8522E8D5}"/>
              </a:ext>
            </a:extLst>
          </p:cNvPr>
          <p:cNvSpPr txBox="1"/>
          <p:nvPr/>
        </p:nvSpPr>
        <p:spPr>
          <a:xfrm>
            <a:off x="518160" y="5707082"/>
            <a:ext cx="984145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SIEM Rule Deployment</a:t>
            </a:r>
            <a:endParaRPr lang="ar-EG" sz="2000" b="1" dirty="0"/>
          </a:p>
          <a:p>
            <a:endParaRPr lang="ar-EG" dirty="0"/>
          </a:p>
          <a:p>
            <a:r>
              <a:rPr lang="en-US" dirty="0"/>
              <a:t>• </a:t>
            </a:r>
            <a:r>
              <a:rPr lang="en-US" b="1" dirty="0"/>
              <a:t>Rule Name:</a:t>
            </a:r>
            <a:r>
              <a:rPr lang="en-US" dirty="0"/>
              <a:t> Credential Access - Multiple Failed Logon Attempts Detected</a:t>
            </a:r>
            <a:endParaRPr lang="ar-EG" dirty="0"/>
          </a:p>
          <a:p>
            <a:r>
              <a:rPr lang="en-US" dirty="0"/>
              <a:t>• </a:t>
            </a:r>
            <a:r>
              <a:rPr lang="en-US" b="1" dirty="0"/>
              <a:t>Severity:</a:t>
            </a:r>
            <a:r>
              <a:rPr lang="en-US" dirty="0"/>
              <a:t> Medium (Can be escalated to High if thresholds are breached within a short timeframe)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7641D4-9D1F-72DD-245B-84BD3E481310}"/>
              </a:ext>
            </a:extLst>
          </p:cNvPr>
          <p:cNvSpPr txBox="1"/>
          <p:nvPr/>
        </p:nvSpPr>
        <p:spPr>
          <a:xfrm>
            <a:off x="518160" y="1306763"/>
            <a:ext cx="3747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Use Case </a:t>
            </a:r>
            <a:r>
              <a:rPr lang="ar-EG" sz="2000" b="1" dirty="0">
                <a:solidFill>
                  <a:srgbClr val="FF0000"/>
                </a:solidFill>
              </a:rPr>
              <a:t>2</a:t>
            </a:r>
            <a:r>
              <a:rPr lang="en-US" sz="2000" b="1" dirty="0">
                <a:solidFill>
                  <a:srgbClr val="FF0000"/>
                </a:solidFill>
              </a:rPr>
              <a:t>:</a:t>
            </a:r>
            <a:r>
              <a:rPr lang="en-US" sz="2000" b="1" dirty="0"/>
              <a:t> Brute Force attack</a:t>
            </a:r>
          </a:p>
        </p:txBody>
      </p:sp>
    </p:spTree>
    <p:extLst>
      <p:ext uri="{BB962C8B-B14F-4D97-AF65-F5344CB8AC3E}">
        <p14:creationId xmlns:p14="http://schemas.microsoft.com/office/powerpoint/2010/main" val="1548396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007B9-E0D3-7482-6D37-D64EA521B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AEE962B8-83A3-1B74-CFA1-9C831C2A4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-1" y="-516593"/>
            <a:ext cx="10691814" cy="5932170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F9E8C6-435E-E9F8-31F6-E4FB5E42C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35" y="5318018"/>
            <a:ext cx="3215919" cy="11964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93AB5A-8B78-091A-4DF8-12DBA7072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39" y="3789490"/>
            <a:ext cx="3185436" cy="13107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662C54-25C7-B5EE-43A7-4B0AD55AE9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3027285"/>
            <a:ext cx="10691813" cy="6111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73EE02-D454-FB0E-7E19-1B0FA1F5538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399"/>
          <a:stretch>
            <a:fillRect/>
          </a:stretch>
        </p:blipFill>
        <p:spPr>
          <a:xfrm>
            <a:off x="616439" y="1537944"/>
            <a:ext cx="2554223" cy="3976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3D59588-8FED-043E-6CEC-C57512A59E3D}"/>
              </a:ext>
            </a:extLst>
          </p:cNvPr>
          <p:cNvSpPr txBox="1"/>
          <p:nvPr/>
        </p:nvSpPr>
        <p:spPr>
          <a:xfrm>
            <a:off x="297877" y="1135504"/>
            <a:ext cx="3598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Execute the Specific Attack Test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B51F01-0887-D505-C032-D1F4BE85768B}"/>
              </a:ext>
            </a:extLst>
          </p:cNvPr>
          <p:cNvSpPr txBox="1"/>
          <p:nvPr/>
        </p:nvSpPr>
        <p:spPr>
          <a:xfrm>
            <a:off x="2802367" y="2440179"/>
            <a:ext cx="5346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</a:rPr>
              <a:t>event_id</a:t>
            </a:r>
            <a:r>
              <a:rPr lang="en-US" dirty="0">
                <a:latin typeface="Courier New" panose="02070309020205020404" pitchFamily="49" charset="0"/>
              </a:rPr>
              <a:t>: 4625 (failed login )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3877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609</TotalTime>
  <Words>426</Words>
  <Application>Microsoft Office PowerPoint</Application>
  <PresentationFormat>Custom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200025319-Mohamed  Moustafa Elsaid  Elhoot</dc:creator>
  <cp:lastModifiedBy>200025319-Mohamed  Moustafa Elsaid  Elhoot</cp:lastModifiedBy>
  <cp:revision>5</cp:revision>
  <dcterms:created xsi:type="dcterms:W3CDTF">2026-04-26T08:53:09Z</dcterms:created>
  <dcterms:modified xsi:type="dcterms:W3CDTF">2026-06-17T16:58:35Z</dcterms:modified>
</cp:coreProperties>
</file>