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81" r:id="rId2"/>
    <p:sldId id="267" r:id="rId3"/>
    <p:sldId id="274" r:id="rId4"/>
    <p:sldId id="278" r:id="rId5"/>
    <p:sldId id="284" r:id="rId6"/>
    <p:sldId id="276" r:id="rId7"/>
    <p:sldId id="275" r:id="rId8"/>
    <p:sldId id="279" r:id="rId9"/>
    <p:sldId id="268" r:id="rId10"/>
    <p:sldId id="265" r:id="rId11"/>
    <p:sldId id="285" r:id="rId12"/>
    <p:sldId id="272" r:id="rId13"/>
    <p:sldId id="270" r:id="rId14"/>
    <p:sldId id="273" r:id="rId15"/>
    <p:sldId id="266" r:id="rId16"/>
    <p:sldId id="286" r:id="rId17"/>
    <p:sldId id="287" r:id="rId18"/>
    <p:sldId id="288" r:id="rId19"/>
    <p:sldId id="280" r:id="rId20"/>
  </p:sldIdLst>
  <p:sldSz cx="10691813" cy="75247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77" autoAdjust="0"/>
    <p:restoredTop sz="94660"/>
  </p:normalViewPr>
  <p:slideViewPr>
    <p:cSldViewPr snapToGrid="0">
      <p:cViewPr>
        <p:scale>
          <a:sx n="75" d="100"/>
          <a:sy n="75" d="100"/>
        </p:scale>
        <p:origin x="1349" y="-12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1482"/>
            <a:ext cx="9088041" cy="2619728"/>
          </a:xfrm>
        </p:spPr>
        <p:txBody>
          <a:bodyPr anchor="b"/>
          <a:lstStyle>
            <a:lvl1pPr algn="ctr">
              <a:defRPr sz="6583"/>
            </a:lvl1pPr>
          </a:lstStyle>
          <a:p>
            <a:r>
              <a:rPr lang="en-US"/>
              <a:t>Click to edit Master title style</a:t>
            </a:r>
            <a:endParaRPr lang="en-US" dirty="0"/>
          </a:p>
        </p:txBody>
      </p:sp>
      <p:sp>
        <p:nvSpPr>
          <p:cNvPr id="3" name="Subtitle 2"/>
          <p:cNvSpPr>
            <a:spLocks noGrp="1"/>
          </p:cNvSpPr>
          <p:nvPr>
            <p:ph type="subTitle" idx="1"/>
          </p:nvPr>
        </p:nvSpPr>
        <p:spPr>
          <a:xfrm>
            <a:off x="1336477" y="3952236"/>
            <a:ext cx="8018860" cy="1816739"/>
          </a:xfrm>
        </p:spPr>
        <p:txBody>
          <a:bodyPr/>
          <a:lstStyle>
            <a:lvl1pPr marL="0" indent="0" algn="ctr">
              <a:buNone/>
              <a:defRPr sz="2633"/>
            </a:lvl1pPr>
            <a:lvl2pPr marL="501640" indent="0" algn="ctr">
              <a:buNone/>
              <a:defRPr sz="2194"/>
            </a:lvl2pPr>
            <a:lvl3pPr marL="1003280" indent="0" algn="ctr">
              <a:buNone/>
              <a:defRPr sz="1975"/>
            </a:lvl3pPr>
            <a:lvl4pPr marL="1504920" indent="0" algn="ctr">
              <a:buNone/>
              <a:defRPr sz="1756"/>
            </a:lvl4pPr>
            <a:lvl5pPr marL="2006559" indent="0" algn="ctr">
              <a:buNone/>
              <a:defRPr sz="1756"/>
            </a:lvl5pPr>
            <a:lvl6pPr marL="2508199" indent="0" algn="ctr">
              <a:buNone/>
              <a:defRPr sz="1756"/>
            </a:lvl6pPr>
            <a:lvl7pPr marL="3009839" indent="0" algn="ctr">
              <a:buNone/>
              <a:defRPr sz="1756"/>
            </a:lvl7pPr>
            <a:lvl8pPr marL="3511479" indent="0" algn="ctr">
              <a:buNone/>
              <a:defRPr sz="1756"/>
            </a:lvl8pPr>
            <a:lvl9pPr marL="4013119" indent="0" algn="ctr">
              <a:buNone/>
              <a:defRPr sz="1756"/>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2DE49F-9FDB-4298-94B8-612B81C5EAC1}"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1193870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2DE49F-9FDB-4298-94B8-612B81C5EAC1}"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42539294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9494" y="1875964"/>
            <a:ext cx="9221689" cy="3130086"/>
          </a:xfrm>
        </p:spPr>
        <p:txBody>
          <a:bodyPr anchor="b"/>
          <a:lstStyle>
            <a:lvl1pPr>
              <a:defRPr sz="6583"/>
            </a:lvl1pPr>
          </a:lstStyle>
          <a:p>
            <a:r>
              <a:rPr lang="en-US"/>
              <a:t>Click to edit Master title style</a:t>
            </a:r>
            <a:endParaRPr lang="en-US" dirty="0"/>
          </a:p>
        </p:txBody>
      </p:sp>
      <p:sp>
        <p:nvSpPr>
          <p:cNvPr id="3" name="Text Placeholder 2"/>
          <p:cNvSpPr>
            <a:spLocks noGrp="1"/>
          </p:cNvSpPr>
          <p:nvPr>
            <p:ph type="body" idx="1"/>
          </p:nvPr>
        </p:nvSpPr>
        <p:spPr>
          <a:xfrm>
            <a:off x="729494" y="5035662"/>
            <a:ext cx="9221689" cy="1646039"/>
          </a:xfrm>
        </p:spPr>
        <p:txBody>
          <a:bodyPr/>
          <a:lstStyle>
            <a:lvl1pPr marL="0" indent="0">
              <a:buNone/>
              <a:defRPr sz="2633">
                <a:solidFill>
                  <a:schemeClr val="tx1">
                    <a:tint val="82000"/>
                  </a:schemeClr>
                </a:solidFill>
              </a:defRPr>
            </a:lvl1pPr>
            <a:lvl2pPr marL="501640" indent="0">
              <a:buNone/>
              <a:defRPr sz="2194">
                <a:solidFill>
                  <a:schemeClr val="tx1">
                    <a:tint val="82000"/>
                  </a:schemeClr>
                </a:solidFill>
              </a:defRPr>
            </a:lvl2pPr>
            <a:lvl3pPr marL="1003280" indent="0">
              <a:buNone/>
              <a:defRPr sz="1975">
                <a:solidFill>
                  <a:schemeClr val="tx1">
                    <a:tint val="82000"/>
                  </a:schemeClr>
                </a:solidFill>
              </a:defRPr>
            </a:lvl3pPr>
            <a:lvl4pPr marL="1504920" indent="0">
              <a:buNone/>
              <a:defRPr sz="1756">
                <a:solidFill>
                  <a:schemeClr val="tx1">
                    <a:tint val="82000"/>
                  </a:schemeClr>
                </a:solidFill>
              </a:defRPr>
            </a:lvl4pPr>
            <a:lvl5pPr marL="2006559" indent="0">
              <a:buNone/>
              <a:defRPr sz="1756">
                <a:solidFill>
                  <a:schemeClr val="tx1">
                    <a:tint val="82000"/>
                  </a:schemeClr>
                </a:solidFill>
              </a:defRPr>
            </a:lvl5pPr>
            <a:lvl6pPr marL="2508199" indent="0">
              <a:buNone/>
              <a:defRPr sz="1756">
                <a:solidFill>
                  <a:schemeClr val="tx1">
                    <a:tint val="82000"/>
                  </a:schemeClr>
                </a:solidFill>
              </a:defRPr>
            </a:lvl6pPr>
            <a:lvl7pPr marL="3009839" indent="0">
              <a:buNone/>
              <a:defRPr sz="1756">
                <a:solidFill>
                  <a:schemeClr val="tx1">
                    <a:tint val="82000"/>
                  </a:schemeClr>
                </a:solidFill>
              </a:defRPr>
            </a:lvl7pPr>
            <a:lvl8pPr marL="3511479" indent="0">
              <a:buNone/>
              <a:defRPr sz="1756">
                <a:solidFill>
                  <a:schemeClr val="tx1">
                    <a:tint val="82000"/>
                  </a:schemeClr>
                </a:solidFill>
              </a:defRPr>
            </a:lvl8pPr>
            <a:lvl9pPr marL="4013119" indent="0">
              <a:buNone/>
              <a:defRPr sz="1756">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2DE49F-9FDB-4298-94B8-612B81C5EAC1}"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661350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735062" y="2003116"/>
            <a:ext cx="4544021" cy="47743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412730" y="2003116"/>
            <a:ext cx="4544021" cy="47743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2DE49F-9FDB-4298-94B8-612B81C5EAC1}" type="datetimeFigureOut">
              <a:rPr lang="en-US" smtClean="0"/>
              <a:t>6/20/2026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237359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0625"/>
            <a:ext cx="9221689" cy="14544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736456" y="1844609"/>
            <a:ext cx="4523137" cy="904015"/>
          </a:xfrm>
        </p:spPr>
        <p:txBody>
          <a:bodyPr anchor="b"/>
          <a:lstStyle>
            <a:lvl1pPr marL="0" indent="0">
              <a:buNone/>
              <a:defRPr sz="2633" b="1"/>
            </a:lvl1pPr>
            <a:lvl2pPr marL="501640" indent="0">
              <a:buNone/>
              <a:defRPr sz="2194" b="1"/>
            </a:lvl2pPr>
            <a:lvl3pPr marL="1003280" indent="0">
              <a:buNone/>
              <a:defRPr sz="1975" b="1"/>
            </a:lvl3pPr>
            <a:lvl4pPr marL="1504920" indent="0">
              <a:buNone/>
              <a:defRPr sz="1756" b="1"/>
            </a:lvl4pPr>
            <a:lvl5pPr marL="2006559" indent="0">
              <a:buNone/>
              <a:defRPr sz="1756" b="1"/>
            </a:lvl5pPr>
            <a:lvl6pPr marL="2508199" indent="0">
              <a:buNone/>
              <a:defRPr sz="1756" b="1"/>
            </a:lvl6pPr>
            <a:lvl7pPr marL="3009839" indent="0">
              <a:buNone/>
              <a:defRPr sz="1756" b="1"/>
            </a:lvl7pPr>
            <a:lvl8pPr marL="3511479" indent="0">
              <a:buNone/>
              <a:defRPr sz="1756" b="1"/>
            </a:lvl8pPr>
            <a:lvl9pPr marL="4013119" indent="0">
              <a:buNone/>
              <a:defRPr sz="1756" b="1"/>
            </a:lvl9pPr>
          </a:lstStyle>
          <a:p>
            <a:pPr lvl="0"/>
            <a:r>
              <a:rPr lang="en-US"/>
              <a:t>Click to edit Master text styles</a:t>
            </a:r>
          </a:p>
        </p:txBody>
      </p:sp>
      <p:sp>
        <p:nvSpPr>
          <p:cNvPr id="4" name="Content Placeholder 3"/>
          <p:cNvSpPr>
            <a:spLocks noGrp="1"/>
          </p:cNvSpPr>
          <p:nvPr>
            <p:ph sz="half" idx="2"/>
          </p:nvPr>
        </p:nvSpPr>
        <p:spPr>
          <a:xfrm>
            <a:off x="736456" y="2748624"/>
            <a:ext cx="4523137" cy="40428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412731" y="1844609"/>
            <a:ext cx="4545413" cy="904015"/>
          </a:xfrm>
        </p:spPr>
        <p:txBody>
          <a:bodyPr anchor="b"/>
          <a:lstStyle>
            <a:lvl1pPr marL="0" indent="0">
              <a:buNone/>
              <a:defRPr sz="2633" b="1"/>
            </a:lvl1pPr>
            <a:lvl2pPr marL="501640" indent="0">
              <a:buNone/>
              <a:defRPr sz="2194" b="1"/>
            </a:lvl2pPr>
            <a:lvl3pPr marL="1003280" indent="0">
              <a:buNone/>
              <a:defRPr sz="1975" b="1"/>
            </a:lvl3pPr>
            <a:lvl4pPr marL="1504920" indent="0">
              <a:buNone/>
              <a:defRPr sz="1756" b="1"/>
            </a:lvl4pPr>
            <a:lvl5pPr marL="2006559" indent="0">
              <a:buNone/>
              <a:defRPr sz="1756" b="1"/>
            </a:lvl5pPr>
            <a:lvl6pPr marL="2508199" indent="0">
              <a:buNone/>
              <a:defRPr sz="1756" b="1"/>
            </a:lvl6pPr>
            <a:lvl7pPr marL="3009839" indent="0">
              <a:buNone/>
              <a:defRPr sz="1756" b="1"/>
            </a:lvl7pPr>
            <a:lvl8pPr marL="3511479" indent="0">
              <a:buNone/>
              <a:defRPr sz="1756" b="1"/>
            </a:lvl8pPr>
            <a:lvl9pPr marL="4013119" indent="0">
              <a:buNone/>
              <a:defRPr sz="1756" b="1"/>
            </a:lvl9pPr>
          </a:lstStyle>
          <a:p>
            <a:pPr lvl="0"/>
            <a:r>
              <a:rPr lang="en-US"/>
              <a:t>Click to edit Master text styles</a:t>
            </a:r>
          </a:p>
        </p:txBody>
      </p:sp>
      <p:sp>
        <p:nvSpPr>
          <p:cNvPr id="6" name="Content Placeholder 5"/>
          <p:cNvSpPr>
            <a:spLocks noGrp="1"/>
          </p:cNvSpPr>
          <p:nvPr>
            <p:ph sz="quarter" idx="4"/>
          </p:nvPr>
        </p:nvSpPr>
        <p:spPr>
          <a:xfrm>
            <a:off x="5412731" y="2748624"/>
            <a:ext cx="4545413" cy="40428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2DE49F-9FDB-4298-94B8-612B81C5EAC1}" type="datetimeFigureOut">
              <a:rPr lang="en-US" smtClean="0"/>
              <a:t>6/20/2026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6309943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2DE49F-9FDB-4298-94B8-612B81C5EAC1}" type="datetimeFigureOut">
              <a:rPr lang="en-US" smtClean="0"/>
              <a:t>6/20/2026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1838338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2DE49F-9FDB-4298-94B8-612B81C5EAC1}" type="datetimeFigureOut">
              <a:rPr lang="en-US" smtClean="0"/>
              <a:t>6/20/2026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1793786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36455" y="501650"/>
            <a:ext cx="3448388" cy="1755775"/>
          </a:xfrm>
        </p:spPr>
        <p:txBody>
          <a:bodyPr anchor="b"/>
          <a:lstStyle>
            <a:lvl1pPr>
              <a:defRPr sz="3511"/>
            </a:lvl1pPr>
          </a:lstStyle>
          <a:p>
            <a:r>
              <a:rPr lang="en-US"/>
              <a:t>Click to edit Master title style</a:t>
            </a:r>
            <a:endParaRPr lang="en-US" dirty="0"/>
          </a:p>
        </p:txBody>
      </p:sp>
      <p:sp>
        <p:nvSpPr>
          <p:cNvPr id="3" name="Content Placeholder 2"/>
          <p:cNvSpPr>
            <a:spLocks noGrp="1"/>
          </p:cNvSpPr>
          <p:nvPr>
            <p:ph idx="1"/>
          </p:nvPr>
        </p:nvSpPr>
        <p:spPr>
          <a:xfrm>
            <a:off x="4545413" y="1083426"/>
            <a:ext cx="5412730" cy="5347450"/>
          </a:xfrm>
        </p:spPr>
        <p:txBody>
          <a:bodyPr/>
          <a:lstStyle>
            <a:lvl1pPr>
              <a:defRPr sz="3511"/>
            </a:lvl1pPr>
            <a:lvl2pPr>
              <a:defRPr sz="3072"/>
            </a:lvl2pPr>
            <a:lvl3pPr>
              <a:defRPr sz="2633"/>
            </a:lvl3pPr>
            <a:lvl4pPr>
              <a:defRPr sz="2194"/>
            </a:lvl4pPr>
            <a:lvl5pPr>
              <a:defRPr sz="2194"/>
            </a:lvl5pPr>
            <a:lvl6pPr>
              <a:defRPr sz="2194"/>
            </a:lvl6pPr>
            <a:lvl7pPr>
              <a:defRPr sz="2194"/>
            </a:lvl7pPr>
            <a:lvl8pPr>
              <a:defRPr sz="2194"/>
            </a:lvl8pPr>
            <a:lvl9pPr>
              <a:defRPr sz="219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36455" y="2257425"/>
            <a:ext cx="3448388" cy="4182159"/>
          </a:xfrm>
        </p:spPr>
        <p:txBody>
          <a:bodyPr/>
          <a:lstStyle>
            <a:lvl1pPr marL="0" indent="0">
              <a:buNone/>
              <a:defRPr sz="1756"/>
            </a:lvl1pPr>
            <a:lvl2pPr marL="501640" indent="0">
              <a:buNone/>
              <a:defRPr sz="1536"/>
            </a:lvl2pPr>
            <a:lvl3pPr marL="1003280" indent="0">
              <a:buNone/>
              <a:defRPr sz="1317"/>
            </a:lvl3pPr>
            <a:lvl4pPr marL="1504920" indent="0">
              <a:buNone/>
              <a:defRPr sz="1097"/>
            </a:lvl4pPr>
            <a:lvl5pPr marL="2006559" indent="0">
              <a:buNone/>
              <a:defRPr sz="1097"/>
            </a:lvl5pPr>
            <a:lvl6pPr marL="2508199" indent="0">
              <a:buNone/>
              <a:defRPr sz="1097"/>
            </a:lvl6pPr>
            <a:lvl7pPr marL="3009839" indent="0">
              <a:buNone/>
              <a:defRPr sz="1097"/>
            </a:lvl7pPr>
            <a:lvl8pPr marL="3511479" indent="0">
              <a:buNone/>
              <a:defRPr sz="1097"/>
            </a:lvl8pPr>
            <a:lvl9pPr marL="4013119" indent="0">
              <a:buNone/>
              <a:defRPr sz="1097"/>
            </a:lvl9pPr>
          </a:lstStyle>
          <a:p>
            <a:pPr lvl="0"/>
            <a:r>
              <a:rPr lang="en-US"/>
              <a:t>Click to edit Master text styles</a:t>
            </a:r>
          </a:p>
        </p:txBody>
      </p:sp>
      <p:sp>
        <p:nvSpPr>
          <p:cNvPr id="5" name="Date Placeholder 4"/>
          <p:cNvSpPr>
            <a:spLocks noGrp="1"/>
          </p:cNvSpPr>
          <p:nvPr>
            <p:ph type="dt" sz="half" idx="10"/>
          </p:nvPr>
        </p:nvSpPr>
        <p:spPr/>
        <p:txBody>
          <a:bodyPr/>
          <a:lstStyle/>
          <a:p>
            <a:fld id="{262DE49F-9FDB-4298-94B8-612B81C5EAC1}" type="datetimeFigureOut">
              <a:rPr lang="en-US" smtClean="0"/>
              <a:t>6/20/2026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3346448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36455" y="501650"/>
            <a:ext cx="3448388" cy="1755775"/>
          </a:xfrm>
        </p:spPr>
        <p:txBody>
          <a:bodyPr anchor="b"/>
          <a:lstStyle>
            <a:lvl1pPr>
              <a:defRPr sz="3511"/>
            </a:lvl1pPr>
          </a:lstStyle>
          <a:p>
            <a:r>
              <a:rPr lang="en-US"/>
              <a:t>Click to edit Master title style</a:t>
            </a:r>
            <a:endParaRPr lang="en-US" dirty="0"/>
          </a:p>
        </p:txBody>
      </p:sp>
      <p:sp>
        <p:nvSpPr>
          <p:cNvPr id="3" name="Picture Placeholder 2"/>
          <p:cNvSpPr>
            <a:spLocks noGrp="1" noChangeAspect="1"/>
          </p:cNvSpPr>
          <p:nvPr>
            <p:ph type="pic" idx="1"/>
          </p:nvPr>
        </p:nvSpPr>
        <p:spPr>
          <a:xfrm>
            <a:off x="4545413" y="1083426"/>
            <a:ext cx="5412730" cy="5347450"/>
          </a:xfrm>
        </p:spPr>
        <p:txBody>
          <a:bodyPr anchor="t"/>
          <a:lstStyle>
            <a:lvl1pPr marL="0" indent="0">
              <a:buNone/>
              <a:defRPr sz="3511"/>
            </a:lvl1pPr>
            <a:lvl2pPr marL="501640" indent="0">
              <a:buNone/>
              <a:defRPr sz="3072"/>
            </a:lvl2pPr>
            <a:lvl3pPr marL="1003280" indent="0">
              <a:buNone/>
              <a:defRPr sz="2633"/>
            </a:lvl3pPr>
            <a:lvl4pPr marL="1504920" indent="0">
              <a:buNone/>
              <a:defRPr sz="2194"/>
            </a:lvl4pPr>
            <a:lvl5pPr marL="2006559" indent="0">
              <a:buNone/>
              <a:defRPr sz="2194"/>
            </a:lvl5pPr>
            <a:lvl6pPr marL="2508199" indent="0">
              <a:buNone/>
              <a:defRPr sz="2194"/>
            </a:lvl6pPr>
            <a:lvl7pPr marL="3009839" indent="0">
              <a:buNone/>
              <a:defRPr sz="2194"/>
            </a:lvl7pPr>
            <a:lvl8pPr marL="3511479" indent="0">
              <a:buNone/>
              <a:defRPr sz="2194"/>
            </a:lvl8pPr>
            <a:lvl9pPr marL="4013119" indent="0">
              <a:buNone/>
              <a:defRPr sz="2194"/>
            </a:lvl9pPr>
          </a:lstStyle>
          <a:p>
            <a:r>
              <a:rPr lang="en-US"/>
              <a:t>Click icon to add picture</a:t>
            </a:r>
            <a:endParaRPr lang="en-US" dirty="0"/>
          </a:p>
        </p:txBody>
      </p:sp>
      <p:sp>
        <p:nvSpPr>
          <p:cNvPr id="4" name="Text Placeholder 3"/>
          <p:cNvSpPr>
            <a:spLocks noGrp="1"/>
          </p:cNvSpPr>
          <p:nvPr>
            <p:ph type="body" sz="half" idx="2"/>
          </p:nvPr>
        </p:nvSpPr>
        <p:spPr>
          <a:xfrm>
            <a:off x="736455" y="2257425"/>
            <a:ext cx="3448388" cy="4182159"/>
          </a:xfrm>
        </p:spPr>
        <p:txBody>
          <a:bodyPr/>
          <a:lstStyle>
            <a:lvl1pPr marL="0" indent="0">
              <a:buNone/>
              <a:defRPr sz="1756"/>
            </a:lvl1pPr>
            <a:lvl2pPr marL="501640" indent="0">
              <a:buNone/>
              <a:defRPr sz="1536"/>
            </a:lvl2pPr>
            <a:lvl3pPr marL="1003280" indent="0">
              <a:buNone/>
              <a:defRPr sz="1317"/>
            </a:lvl3pPr>
            <a:lvl4pPr marL="1504920" indent="0">
              <a:buNone/>
              <a:defRPr sz="1097"/>
            </a:lvl4pPr>
            <a:lvl5pPr marL="2006559" indent="0">
              <a:buNone/>
              <a:defRPr sz="1097"/>
            </a:lvl5pPr>
            <a:lvl6pPr marL="2508199" indent="0">
              <a:buNone/>
              <a:defRPr sz="1097"/>
            </a:lvl6pPr>
            <a:lvl7pPr marL="3009839" indent="0">
              <a:buNone/>
              <a:defRPr sz="1097"/>
            </a:lvl7pPr>
            <a:lvl8pPr marL="3511479" indent="0">
              <a:buNone/>
              <a:defRPr sz="1097"/>
            </a:lvl8pPr>
            <a:lvl9pPr marL="4013119" indent="0">
              <a:buNone/>
              <a:defRPr sz="1097"/>
            </a:lvl9pPr>
          </a:lstStyle>
          <a:p>
            <a:pPr lvl="0"/>
            <a:r>
              <a:rPr lang="en-US"/>
              <a:t>Click to edit Master text styles</a:t>
            </a:r>
          </a:p>
        </p:txBody>
      </p:sp>
      <p:sp>
        <p:nvSpPr>
          <p:cNvPr id="5" name="Date Placeholder 4"/>
          <p:cNvSpPr>
            <a:spLocks noGrp="1"/>
          </p:cNvSpPr>
          <p:nvPr>
            <p:ph type="dt" sz="half" idx="10"/>
          </p:nvPr>
        </p:nvSpPr>
        <p:spPr/>
        <p:txBody>
          <a:bodyPr/>
          <a:lstStyle/>
          <a:p>
            <a:fld id="{262DE49F-9FDB-4298-94B8-612B81C5EAC1}" type="datetimeFigureOut">
              <a:rPr lang="en-US" smtClean="0"/>
              <a:t>6/20/2026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17937181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2DE49F-9FDB-4298-94B8-612B81C5EAC1}"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15189216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0623"/>
            <a:ext cx="2305422" cy="637687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35063" y="400623"/>
            <a:ext cx="6782619" cy="637687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2DE49F-9FDB-4298-94B8-612B81C5EAC1}"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361921-2CFC-4283-AC75-00A044E9E2AD}" type="slidenum">
              <a:rPr lang="en-US" smtClean="0"/>
              <a:t>‹#›</a:t>
            </a:fld>
            <a:endParaRPr lang="en-US"/>
          </a:p>
        </p:txBody>
      </p:sp>
    </p:spTree>
    <p:extLst>
      <p:ext uri="{BB962C8B-B14F-4D97-AF65-F5344CB8AC3E}">
        <p14:creationId xmlns:p14="http://schemas.microsoft.com/office/powerpoint/2010/main" val="185735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0625"/>
            <a:ext cx="9221689" cy="145443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735062" y="2003116"/>
            <a:ext cx="9221689" cy="477438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35062" y="6974330"/>
            <a:ext cx="2405658" cy="400623"/>
          </a:xfrm>
          <a:prstGeom prst="rect">
            <a:avLst/>
          </a:prstGeom>
        </p:spPr>
        <p:txBody>
          <a:bodyPr vert="horz" lIns="91440" tIns="45720" rIns="91440" bIns="45720" rtlCol="0" anchor="ctr"/>
          <a:lstStyle>
            <a:lvl1pPr algn="l">
              <a:defRPr sz="1317">
                <a:solidFill>
                  <a:schemeClr val="tx1">
                    <a:tint val="82000"/>
                  </a:schemeClr>
                </a:solidFill>
              </a:defRPr>
            </a:lvl1pPr>
          </a:lstStyle>
          <a:p>
            <a:fld id="{262DE49F-9FDB-4298-94B8-612B81C5EAC1}" type="datetimeFigureOut">
              <a:rPr lang="en-US" smtClean="0"/>
              <a:t>6/20/2026</a:t>
            </a:fld>
            <a:endParaRPr lang="en-US"/>
          </a:p>
        </p:txBody>
      </p:sp>
      <p:sp>
        <p:nvSpPr>
          <p:cNvPr id="5" name="Footer Placeholder 4"/>
          <p:cNvSpPr>
            <a:spLocks noGrp="1"/>
          </p:cNvSpPr>
          <p:nvPr>
            <p:ph type="ftr" sz="quarter" idx="3"/>
          </p:nvPr>
        </p:nvSpPr>
        <p:spPr>
          <a:xfrm>
            <a:off x="3541663" y="6974330"/>
            <a:ext cx="3608487" cy="400623"/>
          </a:xfrm>
          <a:prstGeom prst="rect">
            <a:avLst/>
          </a:prstGeom>
        </p:spPr>
        <p:txBody>
          <a:bodyPr vert="horz" lIns="91440" tIns="45720" rIns="91440" bIns="45720" rtlCol="0" anchor="ctr"/>
          <a:lstStyle>
            <a:lvl1pPr algn="ctr">
              <a:defRPr sz="1317">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551093" y="6974330"/>
            <a:ext cx="2405658" cy="400623"/>
          </a:xfrm>
          <a:prstGeom prst="rect">
            <a:avLst/>
          </a:prstGeom>
        </p:spPr>
        <p:txBody>
          <a:bodyPr vert="horz" lIns="91440" tIns="45720" rIns="91440" bIns="45720" rtlCol="0" anchor="ctr"/>
          <a:lstStyle>
            <a:lvl1pPr algn="r">
              <a:defRPr sz="1317">
                <a:solidFill>
                  <a:schemeClr val="tx1">
                    <a:tint val="82000"/>
                  </a:schemeClr>
                </a:solidFill>
              </a:defRPr>
            </a:lvl1pPr>
          </a:lstStyle>
          <a:p>
            <a:fld id="{4D361921-2CFC-4283-AC75-00A044E9E2AD}" type="slidenum">
              <a:rPr lang="en-US" smtClean="0"/>
              <a:t>‹#›</a:t>
            </a:fld>
            <a:endParaRPr lang="en-US"/>
          </a:p>
        </p:txBody>
      </p:sp>
    </p:spTree>
    <p:extLst>
      <p:ext uri="{BB962C8B-B14F-4D97-AF65-F5344CB8AC3E}">
        <p14:creationId xmlns:p14="http://schemas.microsoft.com/office/powerpoint/2010/main" val="11054277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003280" rtl="0" eaLnBrk="1" latinLnBrk="0" hangingPunct="1">
        <a:lnSpc>
          <a:spcPct val="90000"/>
        </a:lnSpc>
        <a:spcBef>
          <a:spcPct val="0"/>
        </a:spcBef>
        <a:buNone/>
        <a:defRPr sz="4828" kern="1200">
          <a:solidFill>
            <a:schemeClr val="tx1"/>
          </a:solidFill>
          <a:latin typeface="+mj-lt"/>
          <a:ea typeface="+mj-ea"/>
          <a:cs typeface="+mj-cs"/>
        </a:defRPr>
      </a:lvl1pPr>
    </p:titleStyle>
    <p:bodyStyle>
      <a:lvl1pPr marL="250820" indent="-250820" algn="l" defTabSz="1003280" rtl="0" eaLnBrk="1" latinLnBrk="0" hangingPunct="1">
        <a:lnSpc>
          <a:spcPct val="90000"/>
        </a:lnSpc>
        <a:spcBef>
          <a:spcPts val="1097"/>
        </a:spcBef>
        <a:buFont typeface="Arial" panose="020B0604020202020204" pitchFamily="34" charset="0"/>
        <a:buChar char="•"/>
        <a:defRPr sz="3072" kern="1200">
          <a:solidFill>
            <a:schemeClr val="tx1"/>
          </a:solidFill>
          <a:latin typeface="+mn-lt"/>
          <a:ea typeface="+mn-ea"/>
          <a:cs typeface="+mn-cs"/>
        </a:defRPr>
      </a:lvl1pPr>
      <a:lvl2pPr marL="752460" indent="-250820" algn="l" defTabSz="1003280" rtl="0" eaLnBrk="1" latinLnBrk="0" hangingPunct="1">
        <a:lnSpc>
          <a:spcPct val="90000"/>
        </a:lnSpc>
        <a:spcBef>
          <a:spcPts val="549"/>
        </a:spcBef>
        <a:buFont typeface="Arial" panose="020B0604020202020204" pitchFamily="34" charset="0"/>
        <a:buChar char="•"/>
        <a:defRPr sz="2633" kern="1200">
          <a:solidFill>
            <a:schemeClr val="tx1"/>
          </a:solidFill>
          <a:latin typeface="+mn-lt"/>
          <a:ea typeface="+mn-ea"/>
          <a:cs typeface="+mn-cs"/>
        </a:defRPr>
      </a:lvl2pPr>
      <a:lvl3pPr marL="1254100" indent="-250820" algn="l" defTabSz="1003280" rtl="0" eaLnBrk="1" latinLnBrk="0" hangingPunct="1">
        <a:lnSpc>
          <a:spcPct val="90000"/>
        </a:lnSpc>
        <a:spcBef>
          <a:spcPts val="549"/>
        </a:spcBef>
        <a:buFont typeface="Arial" panose="020B0604020202020204" pitchFamily="34" charset="0"/>
        <a:buChar char="•"/>
        <a:defRPr sz="2194" kern="1200">
          <a:solidFill>
            <a:schemeClr val="tx1"/>
          </a:solidFill>
          <a:latin typeface="+mn-lt"/>
          <a:ea typeface="+mn-ea"/>
          <a:cs typeface="+mn-cs"/>
        </a:defRPr>
      </a:lvl3pPr>
      <a:lvl4pPr marL="1755739" indent="-250820" algn="l" defTabSz="1003280" rtl="0" eaLnBrk="1" latinLnBrk="0" hangingPunct="1">
        <a:lnSpc>
          <a:spcPct val="90000"/>
        </a:lnSpc>
        <a:spcBef>
          <a:spcPts val="549"/>
        </a:spcBef>
        <a:buFont typeface="Arial" panose="020B0604020202020204" pitchFamily="34" charset="0"/>
        <a:buChar char="•"/>
        <a:defRPr sz="1975" kern="1200">
          <a:solidFill>
            <a:schemeClr val="tx1"/>
          </a:solidFill>
          <a:latin typeface="+mn-lt"/>
          <a:ea typeface="+mn-ea"/>
          <a:cs typeface="+mn-cs"/>
        </a:defRPr>
      </a:lvl4pPr>
      <a:lvl5pPr marL="2257379" indent="-250820" algn="l" defTabSz="1003280" rtl="0" eaLnBrk="1" latinLnBrk="0" hangingPunct="1">
        <a:lnSpc>
          <a:spcPct val="90000"/>
        </a:lnSpc>
        <a:spcBef>
          <a:spcPts val="549"/>
        </a:spcBef>
        <a:buFont typeface="Arial" panose="020B0604020202020204" pitchFamily="34" charset="0"/>
        <a:buChar char="•"/>
        <a:defRPr sz="1975" kern="1200">
          <a:solidFill>
            <a:schemeClr val="tx1"/>
          </a:solidFill>
          <a:latin typeface="+mn-lt"/>
          <a:ea typeface="+mn-ea"/>
          <a:cs typeface="+mn-cs"/>
        </a:defRPr>
      </a:lvl5pPr>
      <a:lvl6pPr marL="2759019" indent="-250820" algn="l" defTabSz="1003280" rtl="0" eaLnBrk="1" latinLnBrk="0" hangingPunct="1">
        <a:lnSpc>
          <a:spcPct val="90000"/>
        </a:lnSpc>
        <a:spcBef>
          <a:spcPts val="549"/>
        </a:spcBef>
        <a:buFont typeface="Arial" panose="020B0604020202020204" pitchFamily="34" charset="0"/>
        <a:buChar char="•"/>
        <a:defRPr sz="1975" kern="1200">
          <a:solidFill>
            <a:schemeClr val="tx1"/>
          </a:solidFill>
          <a:latin typeface="+mn-lt"/>
          <a:ea typeface="+mn-ea"/>
          <a:cs typeface="+mn-cs"/>
        </a:defRPr>
      </a:lvl6pPr>
      <a:lvl7pPr marL="3260659" indent="-250820" algn="l" defTabSz="1003280" rtl="0" eaLnBrk="1" latinLnBrk="0" hangingPunct="1">
        <a:lnSpc>
          <a:spcPct val="90000"/>
        </a:lnSpc>
        <a:spcBef>
          <a:spcPts val="549"/>
        </a:spcBef>
        <a:buFont typeface="Arial" panose="020B0604020202020204" pitchFamily="34" charset="0"/>
        <a:buChar char="•"/>
        <a:defRPr sz="1975" kern="1200">
          <a:solidFill>
            <a:schemeClr val="tx1"/>
          </a:solidFill>
          <a:latin typeface="+mn-lt"/>
          <a:ea typeface="+mn-ea"/>
          <a:cs typeface="+mn-cs"/>
        </a:defRPr>
      </a:lvl7pPr>
      <a:lvl8pPr marL="3762299" indent="-250820" algn="l" defTabSz="1003280" rtl="0" eaLnBrk="1" latinLnBrk="0" hangingPunct="1">
        <a:lnSpc>
          <a:spcPct val="90000"/>
        </a:lnSpc>
        <a:spcBef>
          <a:spcPts val="549"/>
        </a:spcBef>
        <a:buFont typeface="Arial" panose="020B0604020202020204" pitchFamily="34" charset="0"/>
        <a:buChar char="•"/>
        <a:defRPr sz="1975" kern="1200">
          <a:solidFill>
            <a:schemeClr val="tx1"/>
          </a:solidFill>
          <a:latin typeface="+mn-lt"/>
          <a:ea typeface="+mn-ea"/>
          <a:cs typeface="+mn-cs"/>
        </a:defRPr>
      </a:lvl8pPr>
      <a:lvl9pPr marL="4263939" indent="-250820" algn="l" defTabSz="1003280" rtl="0" eaLnBrk="1" latinLnBrk="0" hangingPunct="1">
        <a:lnSpc>
          <a:spcPct val="90000"/>
        </a:lnSpc>
        <a:spcBef>
          <a:spcPts val="549"/>
        </a:spcBef>
        <a:buFont typeface="Arial" panose="020B0604020202020204" pitchFamily="34" charset="0"/>
        <a:buChar char="•"/>
        <a:defRPr sz="1975" kern="1200">
          <a:solidFill>
            <a:schemeClr val="tx1"/>
          </a:solidFill>
          <a:latin typeface="+mn-lt"/>
          <a:ea typeface="+mn-ea"/>
          <a:cs typeface="+mn-cs"/>
        </a:defRPr>
      </a:lvl9pPr>
    </p:bodyStyle>
    <p:otherStyle>
      <a:defPPr>
        <a:defRPr lang="en-US"/>
      </a:defPPr>
      <a:lvl1pPr marL="0" algn="l" defTabSz="1003280" rtl="0" eaLnBrk="1" latinLnBrk="0" hangingPunct="1">
        <a:defRPr sz="1975" kern="1200">
          <a:solidFill>
            <a:schemeClr val="tx1"/>
          </a:solidFill>
          <a:latin typeface="+mn-lt"/>
          <a:ea typeface="+mn-ea"/>
          <a:cs typeface="+mn-cs"/>
        </a:defRPr>
      </a:lvl1pPr>
      <a:lvl2pPr marL="501640" algn="l" defTabSz="1003280" rtl="0" eaLnBrk="1" latinLnBrk="0" hangingPunct="1">
        <a:defRPr sz="1975" kern="1200">
          <a:solidFill>
            <a:schemeClr val="tx1"/>
          </a:solidFill>
          <a:latin typeface="+mn-lt"/>
          <a:ea typeface="+mn-ea"/>
          <a:cs typeface="+mn-cs"/>
        </a:defRPr>
      </a:lvl2pPr>
      <a:lvl3pPr marL="1003280" algn="l" defTabSz="1003280" rtl="0" eaLnBrk="1" latinLnBrk="0" hangingPunct="1">
        <a:defRPr sz="1975" kern="1200">
          <a:solidFill>
            <a:schemeClr val="tx1"/>
          </a:solidFill>
          <a:latin typeface="+mn-lt"/>
          <a:ea typeface="+mn-ea"/>
          <a:cs typeface="+mn-cs"/>
        </a:defRPr>
      </a:lvl3pPr>
      <a:lvl4pPr marL="1504920" algn="l" defTabSz="1003280" rtl="0" eaLnBrk="1" latinLnBrk="0" hangingPunct="1">
        <a:defRPr sz="1975" kern="1200">
          <a:solidFill>
            <a:schemeClr val="tx1"/>
          </a:solidFill>
          <a:latin typeface="+mn-lt"/>
          <a:ea typeface="+mn-ea"/>
          <a:cs typeface="+mn-cs"/>
        </a:defRPr>
      </a:lvl4pPr>
      <a:lvl5pPr marL="2006559" algn="l" defTabSz="1003280" rtl="0" eaLnBrk="1" latinLnBrk="0" hangingPunct="1">
        <a:defRPr sz="1975" kern="1200">
          <a:solidFill>
            <a:schemeClr val="tx1"/>
          </a:solidFill>
          <a:latin typeface="+mn-lt"/>
          <a:ea typeface="+mn-ea"/>
          <a:cs typeface="+mn-cs"/>
        </a:defRPr>
      </a:lvl5pPr>
      <a:lvl6pPr marL="2508199" algn="l" defTabSz="1003280" rtl="0" eaLnBrk="1" latinLnBrk="0" hangingPunct="1">
        <a:defRPr sz="1975" kern="1200">
          <a:solidFill>
            <a:schemeClr val="tx1"/>
          </a:solidFill>
          <a:latin typeface="+mn-lt"/>
          <a:ea typeface="+mn-ea"/>
          <a:cs typeface="+mn-cs"/>
        </a:defRPr>
      </a:lvl6pPr>
      <a:lvl7pPr marL="3009839" algn="l" defTabSz="1003280" rtl="0" eaLnBrk="1" latinLnBrk="0" hangingPunct="1">
        <a:defRPr sz="1975" kern="1200">
          <a:solidFill>
            <a:schemeClr val="tx1"/>
          </a:solidFill>
          <a:latin typeface="+mn-lt"/>
          <a:ea typeface="+mn-ea"/>
          <a:cs typeface="+mn-cs"/>
        </a:defRPr>
      </a:lvl7pPr>
      <a:lvl8pPr marL="3511479" algn="l" defTabSz="1003280" rtl="0" eaLnBrk="1" latinLnBrk="0" hangingPunct="1">
        <a:defRPr sz="1975" kern="1200">
          <a:solidFill>
            <a:schemeClr val="tx1"/>
          </a:solidFill>
          <a:latin typeface="+mn-lt"/>
          <a:ea typeface="+mn-ea"/>
          <a:cs typeface="+mn-cs"/>
        </a:defRPr>
      </a:lvl8pPr>
      <a:lvl9pPr marL="4013119" algn="l" defTabSz="1003280" rtl="0" eaLnBrk="1" latinLnBrk="0" hangingPunct="1">
        <a:defRPr sz="197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9AE67-74FF-24F1-B15A-2E2166E67E8E}"/>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33D22DFA-962D-C0B3-3FF8-484B47DB4D6D}"/>
              </a:ext>
            </a:extLst>
          </p:cNvPr>
          <p:cNvPicPr>
            <a:picLocks noChangeAspect="1" noChangeArrowheads="1"/>
          </p:cNvPicPr>
          <p:nvPr/>
        </p:nvPicPr>
        <p:blipFill>
          <a:blip r:embed="rId2"/>
          <a:srcRect t="-9550" b="9550"/>
          <a:stretch>
            <a:fillRect/>
          </a:stretch>
        </p:blipFill>
        <p:spPr bwMode="auto">
          <a:xfrm>
            <a:off x="-1" y="0"/>
            <a:ext cx="10691814" cy="5932170"/>
          </a:xfrm>
          <a:prstGeom prst="rect">
            <a:avLst/>
          </a:prstGeom>
          <a:noFill/>
        </p:spPr>
      </p:pic>
      <p:sp>
        <p:nvSpPr>
          <p:cNvPr id="6" name="TextBox 5">
            <a:extLst>
              <a:ext uri="{FF2B5EF4-FFF2-40B4-BE49-F238E27FC236}">
                <a16:creationId xmlns:a16="http://schemas.microsoft.com/office/drawing/2014/main" id="{B8BF5300-7A20-FC25-E466-05228B918E3F}"/>
              </a:ext>
            </a:extLst>
          </p:cNvPr>
          <p:cNvSpPr txBox="1"/>
          <p:nvPr/>
        </p:nvSpPr>
        <p:spPr>
          <a:xfrm>
            <a:off x="1798321" y="2634734"/>
            <a:ext cx="7518399" cy="1938992"/>
          </a:xfrm>
          <a:prstGeom prst="rect">
            <a:avLst/>
          </a:prstGeom>
          <a:noFill/>
        </p:spPr>
        <p:txBody>
          <a:bodyPr wrap="square">
            <a:spAutoFit/>
          </a:bodyPr>
          <a:lstStyle/>
          <a:p>
            <a:r>
              <a:rPr lang="en-US" sz="6000" b="1" dirty="0"/>
              <a:t>Attack &amp; Detection </a:t>
            </a:r>
          </a:p>
          <a:p>
            <a:r>
              <a:rPr lang="en-US" sz="6000" b="1" dirty="0"/>
              <a:t>     Documentation</a:t>
            </a:r>
          </a:p>
        </p:txBody>
      </p:sp>
    </p:spTree>
    <p:extLst>
      <p:ext uri="{BB962C8B-B14F-4D97-AF65-F5344CB8AC3E}">
        <p14:creationId xmlns:p14="http://schemas.microsoft.com/office/powerpoint/2010/main" val="17720421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1B774-260A-4679-7787-481505301FCB}"/>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2A835A53-7FCE-3AFE-8851-C995DE3D5BF4}"/>
              </a:ext>
            </a:extLst>
          </p:cNvPr>
          <p:cNvPicPr>
            <a:picLocks noChangeAspect="1" noChangeArrowheads="1"/>
          </p:cNvPicPr>
          <p:nvPr/>
        </p:nvPicPr>
        <p:blipFill>
          <a:blip r:embed="rId2"/>
          <a:srcRect t="-9550" b="9550"/>
          <a:stretch>
            <a:fillRect/>
          </a:stretch>
        </p:blipFill>
        <p:spPr bwMode="auto">
          <a:xfrm>
            <a:off x="0" y="-225088"/>
            <a:ext cx="10691814" cy="5932170"/>
          </a:xfrm>
          <a:prstGeom prst="rect">
            <a:avLst/>
          </a:prstGeom>
          <a:noFill/>
        </p:spPr>
      </p:pic>
      <p:sp>
        <p:nvSpPr>
          <p:cNvPr id="9" name="TextBox 8">
            <a:extLst>
              <a:ext uri="{FF2B5EF4-FFF2-40B4-BE49-F238E27FC236}">
                <a16:creationId xmlns:a16="http://schemas.microsoft.com/office/drawing/2014/main" id="{DF885D34-62B5-2DD9-3363-C5D917BF0205}"/>
              </a:ext>
            </a:extLst>
          </p:cNvPr>
          <p:cNvSpPr txBox="1"/>
          <p:nvPr/>
        </p:nvSpPr>
        <p:spPr>
          <a:xfrm>
            <a:off x="2540000" y="699185"/>
            <a:ext cx="6309360" cy="523220"/>
          </a:xfrm>
          <a:prstGeom prst="rect">
            <a:avLst/>
          </a:prstGeom>
          <a:noFill/>
        </p:spPr>
        <p:txBody>
          <a:bodyPr wrap="square">
            <a:spAutoFit/>
          </a:bodyPr>
          <a:lstStyle/>
          <a:p>
            <a:r>
              <a:rPr lang="en-US" sz="2800" dirty="0"/>
              <a:t>Attack &amp; Detection Documentation</a:t>
            </a:r>
          </a:p>
        </p:txBody>
      </p:sp>
      <p:sp>
        <p:nvSpPr>
          <p:cNvPr id="11" name="TextBox 10">
            <a:extLst>
              <a:ext uri="{FF2B5EF4-FFF2-40B4-BE49-F238E27FC236}">
                <a16:creationId xmlns:a16="http://schemas.microsoft.com/office/drawing/2014/main" id="{7C1553FE-2C25-C330-E598-AA5BC3A7EAA2}"/>
              </a:ext>
            </a:extLst>
          </p:cNvPr>
          <p:cNvSpPr txBox="1"/>
          <p:nvPr/>
        </p:nvSpPr>
        <p:spPr>
          <a:xfrm>
            <a:off x="751840" y="1983742"/>
            <a:ext cx="8097520" cy="369332"/>
          </a:xfrm>
          <a:prstGeom prst="rect">
            <a:avLst/>
          </a:prstGeom>
          <a:noFill/>
        </p:spPr>
        <p:txBody>
          <a:bodyPr wrap="square">
            <a:spAutoFit/>
          </a:bodyPr>
          <a:lstStyle/>
          <a:p>
            <a:r>
              <a:rPr lang="en-US" dirty="0"/>
              <a:t>• </a:t>
            </a:r>
            <a:r>
              <a:rPr lang="en-US" b="1" dirty="0"/>
              <a:t>Target Machine (Victim):</a:t>
            </a:r>
            <a:r>
              <a:rPr lang="en-US" dirty="0"/>
              <a:t> Windows 11 VM (Host Name: </a:t>
            </a:r>
            <a:r>
              <a:rPr lang="en-US" dirty="0" err="1">
                <a:latin typeface="Courier New" panose="02070309020205020404" pitchFamily="49" charset="0"/>
              </a:rPr>
              <a:t>asus</a:t>
            </a:r>
            <a:r>
              <a:rPr lang="en-US" dirty="0"/>
              <a:t>)</a:t>
            </a:r>
          </a:p>
        </p:txBody>
      </p:sp>
      <p:sp>
        <p:nvSpPr>
          <p:cNvPr id="13" name="TextBox 12">
            <a:extLst>
              <a:ext uri="{FF2B5EF4-FFF2-40B4-BE49-F238E27FC236}">
                <a16:creationId xmlns:a16="http://schemas.microsoft.com/office/drawing/2014/main" id="{510DAFA9-70EA-F945-09DB-FB0594A18484}"/>
              </a:ext>
            </a:extLst>
          </p:cNvPr>
          <p:cNvSpPr txBox="1"/>
          <p:nvPr/>
        </p:nvSpPr>
        <p:spPr>
          <a:xfrm>
            <a:off x="751840" y="1669624"/>
            <a:ext cx="8900160" cy="369332"/>
          </a:xfrm>
          <a:prstGeom prst="rect">
            <a:avLst/>
          </a:prstGeom>
          <a:noFill/>
        </p:spPr>
        <p:txBody>
          <a:bodyPr wrap="square">
            <a:spAutoFit/>
          </a:bodyPr>
          <a:lstStyle/>
          <a:p>
            <a:r>
              <a:rPr lang="en-US" dirty="0"/>
              <a:t>• </a:t>
            </a:r>
            <a:r>
              <a:rPr lang="en-US" b="1" dirty="0"/>
              <a:t>Tool Used:</a:t>
            </a:r>
            <a:r>
              <a:rPr lang="en-US" dirty="0"/>
              <a:t> Atomic Red Team (ART)/ Command Prompt (Manual Execution)</a:t>
            </a:r>
          </a:p>
        </p:txBody>
      </p:sp>
      <p:sp>
        <p:nvSpPr>
          <p:cNvPr id="15" name="TextBox 14">
            <a:extLst>
              <a:ext uri="{FF2B5EF4-FFF2-40B4-BE49-F238E27FC236}">
                <a16:creationId xmlns:a16="http://schemas.microsoft.com/office/drawing/2014/main" id="{14E2A5FC-6FA1-6949-AF5C-F7E005B46AE2}"/>
              </a:ext>
            </a:extLst>
          </p:cNvPr>
          <p:cNvSpPr txBox="1"/>
          <p:nvPr/>
        </p:nvSpPr>
        <p:spPr>
          <a:xfrm>
            <a:off x="751840" y="2364569"/>
            <a:ext cx="5425440" cy="369332"/>
          </a:xfrm>
          <a:prstGeom prst="rect">
            <a:avLst/>
          </a:prstGeom>
          <a:noFill/>
        </p:spPr>
        <p:txBody>
          <a:bodyPr wrap="square">
            <a:spAutoFit/>
          </a:bodyPr>
          <a:lstStyle/>
          <a:p>
            <a:r>
              <a:rPr lang="en-US" dirty="0"/>
              <a:t>• </a:t>
            </a:r>
            <a:r>
              <a:rPr lang="en-US" b="1" dirty="0"/>
              <a:t>MITRE ATT&amp;CK Tactic:</a:t>
            </a:r>
            <a:r>
              <a:rPr lang="en-US" dirty="0"/>
              <a:t> </a:t>
            </a:r>
            <a:r>
              <a:rPr lang="en-US" b="1" dirty="0"/>
              <a:t>Persistence</a:t>
            </a:r>
            <a:endParaRPr lang="en-US" dirty="0"/>
          </a:p>
        </p:txBody>
      </p:sp>
      <p:sp>
        <p:nvSpPr>
          <p:cNvPr id="17" name="TextBox 16">
            <a:extLst>
              <a:ext uri="{FF2B5EF4-FFF2-40B4-BE49-F238E27FC236}">
                <a16:creationId xmlns:a16="http://schemas.microsoft.com/office/drawing/2014/main" id="{54674873-0D4A-0ED7-DE5E-CC1AC9DF842E}"/>
              </a:ext>
            </a:extLst>
          </p:cNvPr>
          <p:cNvSpPr txBox="1"/>
          <p:nvPr/>
        </p:nvSpPr>
        <p:spPr>
          <a:xfrm>
            <a:off x="751840" y="2690181"/>
            <a:ext cx="9296400" cy="369332"/>
          </a:xfrm>
          <a:prstGeom prst="rect">
            <a:avLst/>
          </a:prstGeom>
          <a:noFill/>
        </p:spPr>
        <p:txBody>
          <a:bodyPr wrap="square">
            <a:spAutoFit/>
          </a:bodyPr>
          <a:lstStyle/>
          <a:p>
            <a:r>
              <a:rPr lang="en-US" dirty="0"/>
              <a:t>• </a:t>
            </a:r>
            <a:r>
              <a:rPr lang="en-US" b="1" dirty="0"/>
              <a:t>MITRE ATT&amp;CK Technique:</a:t>
            </a:r>
            <a:r>
              <a:rPr lang="en-US" dirty="0"/>
              <a:t> </a:t>
            </a:r>
            <a:r>
              <a:rPr lang="en-US" b="1" dirty="0"/>
              <a:t>Create Account: Local Account (T1136.001)</a:t>
            </a:r>
            <a:endParaRPr lang="en-US" dirty="0"/>
          </a:p>
        </p:txBody>
      </p:sp>
      <p:sp>
        <p:nvSpPr>
          <p:cNvPr id="19" name="TextBox 18">
            <a:extLst>
              <a:ext uri="{FF2B5EF4-FFF2-40B4-BE49-F238E27FC236}">
                <a16:creationId xmlns:a16="http://schemas.microsoft.com/office/drawing/2014/main" id="{1D5FBC4D-A952-CF61-4CFE-123D3C57A344}"/>
              </a:ext>
            </a:extLst>
          </p:cNvPr>
          <p:cNvSpPr txBox="1"/>
          <p:nvPr/>
        </p:nvSpPr>
        <p:spPr>
          <a:xfrm>
            <a:off x="751840" y="3059513"/>
            <a:ext cx="8554720" cy="646331"/>
          </a:xfrm>
          <a:prstGeom prst="rect">
            <a:avLst/>
          </a:prstGeom>
          <a:noFill/>
        </p:spPr>
        <p:txBody>
          <a:bodyPr wrap="square">
            <a:spAutoFit/>
          </a:bodyPr>
          <a:lstStyle/>
          <a:p>
            <a:r>
              <a:rPr lang="en-US" dirty="0"/>
              <a:t>• </a:t>
            </a:r>
            <a:r>
              <a:rPr lang="en-US" b="1" dirty="0"/>
              <a:t>Simulation Mechanism:</a:t>
            </a:r>
            <a:r>
              <a:rPr lang="en-US" dirty="0"/>
              <a:t> Self-Simulation (The host executes the technique locally to simulate a compromised scenario).</a:t>
            </a:r>
          </a:p>
        </p:txBody>
      </p:sp>
      <p:sp>
        <p:nvSpPr>
          <p:cNvPr id="21" name="TextBox 20">
            <a:extLst>
              <a:ext uri="{FF2B5EF4-FFF2-40B4-BE49-F238E27FC236}">
                <a16:creationId xmlns:a16="http://schemas.microsoft.com/office/drawing/2014/main" id="{BB1F6BAC-D03C-C8CE-E721-5B576D65D0F2}"/>
              </a:ext>
            </a:extLst>
          </p:cNvPr>
          <p:cNvSpPr txBox="1"/>
          <p:nvPr/>
        </p:nvSpPr>
        <p:spPr>
          <a:xfrm>
            <a:off x="518160" y="3882405"/>
            <a:ext cx="9946640" cy="1477328"/>
          </a:xfrm>
          <a:prstGeom prst="rect">
            <a:avLst/>
          </a:prstGeom>
          <a:noFill/>
        </p:spPr>
        <p:txBody>
          <a:bodyPr wrap="square">
            <a:spAutoFit/>
          </a:bodyPr>
          <a:lstStyle/>
          <a:p>
            <a:pPr>
              <a:buNone/>
            </a:pPr>
            <a:r>
              <a:rPr lang="en-US" b="1" dirty="0"/>
              <a:t>Attack Scenario Description</a:t>
            </a:r>
          </a:p>
          <a:p>
            <a:pPr>
              <a:buNone/>
            </a:pPr>
            <a:r>
              <a:rPr lang="en-US" dirty="0"/>
              <a:t>This test simulates a post-compromise activity where an attacker creates a new local user account on the system. This ensures the attacker maintains a "backdoor" for persistent access to the victim's environment, allowing them to log back in even if the primary vulnerability or access vector is patched.</a:t>
            </a:r>
          </a:p>
        </p:txBody>
      </p:sp>
      <p:sp>
        <p:nvSpPr>
          <p:cNvPr id="23" name="TextBox 22">
            <a:extLst>
              <a:ext uri="{FF2B5EF4-FFF2-40B4-BE49-F238E27FC236}">
                <a16:creationId xmlns:a16="http://schemas.microsoft.com/office/drawing/2014/main" id="{23182CDF-8255-A0D0-0B2C-EC41DF411A3F}"/>
              </a:ext>
            </a:extLst>
          </p:cNvPr>
          <p:cNvSpPr txBox="1"/>
          <p:nvPr/>
        </p:nvSpPr>
        <p:spPr>
          <a:xfrm>
            <a:off x="518160" y="5707082"/>
            <a:ext cx="9682480" cy="1508105"/>
          </a:xfrm>
          <a:prstGeom prst="rect">
            <a:avLst/>
          </a:prstGeom>
          <a:noFill/>
        </p:spPr>
        <p:txBody>
          <a:bodyPr wrap="square">
            <a:spAutoFit/>
          </a:bodyPr>
          <a:lstStyle/>
          <a:p>
            <a:r>
              <a:rPr lang="en-US" sz="2000" b="1" dirty="0"/>
              <a:t>SIEM Rule Deployment</a:t>
            </a:r>
            <a:endParaRPr lang="ar-EG" sz="2000" b="1" dirty="0"/>
          </a:p>
          <a:p>
            <a:endParaRPr lang="ar-EG" dirty="0"/>
          </a:p>
          <a:p>
            <a:r>
              <a:rPr lang="en-US" dirty="0"/>
              <a:t>• </a:t>
            </a:r>
            <a:r>
              <a:rPr lang="en-US" b="1" dirty="0"/>
              <a:t>Rule Name:</a:t>
            </a:r>
            <a:r>
              <a:rPr lang="en-US" dirty="0"/>
              <a:t> Persistence - Unauthorized Local Admin Account Created</a:t>
            </a:r>
            <a:endParaRPr lang="ar-EG" dirty="0"/>
          </a:p>
          <a:p>
            <a:r>
              <a:rPr lang="en-US" dirty="0"/>
              <a:t>• </a:t>
            </a:r>
            <a:r>
              <a:rPr lang="en-US" b="1" dirty="0"/>
              <a:t>Severity:</a:t>
            </a:r>
            <a:r>
              <a:rPr lang="en-US" dirty="0"/>
              <a:t> Medium </a:t>
            </a:r>
          </a:p>
          <a:p>
            <a:r>
              <a:rPr lang="en-US" dirty="0"/>
              <a:t>•</a:t>
            </a:r>
            <a:r>
              <a:rPr lang="en-US" b="1" dirty="0"/>
              <a:t> Detection Logic (Event ID):</a:t>
            </a:r>
            <a:r>
              <a:rPr lang="en-US" dirty="0"/>
              <a:t> 4720</a:t>
            </a:r>
          </a:p>
        </p:txBody>
      </p:sp>
      <p:sp>
        <p:nvSpPr>
          <p:cNvPr id="24" name="TextBox 23">
            <a:extLst>
              <a:ext uri="{FF2B5EF4-FFF2-40B4-BE49-F238E27FC236}">
                <a16:creationId xmlns:a16="http://schemas.microsoft.com/office/drawing/2014/main" id="{DCE3A588-5DC1-F7AF-F778-ECC46C2C3A00}"/>
              </a:ext>
            </a:extLst>
          </p:cNvPr>
          <p:cNvSpPr txBox="1"/>
          <p:nvPr/>
        </p:nvSpPr>
        <p:spPr>
          <a:xfrm>
            <a:off x="518160" y="1306763"/>
            <a:ext cx="4254050" cy="400110"/>
          </a:xfrm>
          <a:prstGeom prst="rect">
            <a:avLst/>
          </a:prstGeom>
          <a:noFill/>
        </p:spPr>
        <p:txBody>
          <a:bodyPr wrap="none" rtlCol="0">
            <a:spAutoFit/>
          </a:bodyPr>
          <a:lstStyle/>
          <a:p>
            <a:r>
              <a:rPr lang="en-US" sz="2000" b="1" dirty="0">
                <a:solidFill>
                  <a:srgbClr val="FF0000"/>
                </a:solidFill>
              </a:rPr>
              <a:t>Use Case 1: </a:t>
            </a:r>
            <a:r>
              <a:rPr lang="en-US" sz="2000" b="1" dirty="0"/>
              <a:t>Create account attack </a:t>
            </a:r>
          </a:p>
        </p:txBody>
      </p:sp>
    </p:spTree>
    <p:extLst>
      <p:ext uri="{BB962C8B-B14F-4D97-AF65-F5344CB8AC3E}">
        <p14:creationId xmlns:p14="http://schemas.microsoft.com/office/powerpoint/2010/main" val="2553643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E01A0-835C-76D4-DC35-86E24FF9C844}"/>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BD5F158B-3027-2879-47EA-B1FF62D7BE4C}"/>
              </a:ext>
            </a:extLst>
          </p:cNvPr>
          <p:cNvPicPr>
            <a:picLocks noChangeAspect="1" noChangeArrowheads="1"/>
          </p:cNvPicPr>
          <p:nvPr/>
        </p:nvPicPr>
        <p:blipFill>
          <a:blip r:embed="rId2"/>
          <a:srcRect t="-9550" b="9550"/>
          <a:stretch>
            <a:fillRect/>
          </a:stretch>
        </p:blipFill>
        <p:spPr bwMode="auto">
          <a:xfrm>
            <a:off x="0" y="-348836"/>
            <a:ext cx="10691814" cy="5932170"/>
          </a:xfrm>
          <a:prstGeom prst="rect">
            <a:avLst/>
          </a:prstGeom>
          <a:noFill/>
        </p:spPr>
      </p:pic>
      <p:pic>
        <p:nvPicPr>
          <p:cNvPr id="7" name="Picture 6">
            <a:extLst>
              <a:ext uri="{FF2B5EF4-FFF2-40B4-BE49-F238E27FC236}">
                <a16:creationId xmlns:a16="http://schemas.microsoft.com/office/drawing/2014/main" id="{09CE795B-A771-3A5C-64CA-51957037C6CB}"/>
              </a:ext>
            </a:extLst>
          </p:cNvPr>
          <p:cNvPicPr>
            <a:picLocks noChangeAspect="1"/>
          </p:cNvPicPr>
          <p:nvPr/>
        </p:nvPicPr>
        <p:blipFill>
          <a:blip r:embed="rId3"/>
          <a:stretch>
            <a:fillRect/>
          </a:stretch>
        </p:blipFill>
        <p:spPr>
          <a:xfrm>
            <a:off x="-1" y="2879795"/>
            <a:ext cx="10691813" cy="4411541"/>
          </a:xfrm>
          <a:prstGeom prst="rect">
            <a:avLst/>
          </a:prstGeom>
        </p:spPr>
      </p:pic>
      <p:pic>
        <p:nvPicPr>
          <p:cNvPr id="9" name="Picture 8">
            <a:extLst>
              <a:ext uri="{FF2B5EF4-FFF2-40B4-BE49-F238E27FC236}">
                <a16:creationId xmlns:a16="http://schemas.microsoft.com/office/drawing/2014/main" id="{35C18B70-47F0-F7C3-11CE-7E1A43BFC82E}"/>
              </a:ext>
            </a:extLst>
          </p:cNvPr>
          <p:cNvPicPr>
            <a:picLocks noChangeAspect="1"/>
          </p:cNvPicPr>
          <p:nvPr/>
        </p:nvPicPr>
        <p:blipFill>
          <a:blip r:embed="rId4"/>
          <a:stretch>
            <a:fillRect/>
          </a:stretch>
        </p:blipFill>
        <p:spPr>
          <a:xfrm>
            <a:off x="0" y="1805129"/>
            <a:ext cx="10691813" cy="571904"/>
          </a:xfrm>
          <a:prstGeom prst="rect">
            <a:avLst/>
          </a:prstGeom>
        </p:spPr>
      </p:pic>
      <p:sp>
        <p:nvSpPr>
          <p:cNvPr id="11" name="TextBox 10">
            <a:extLst>
              <a:ext uri="{FF2B5EF4-FFF2-40B4-BE49-F238E27FC236}">
                <a16:creationId xmlns:a16="http://schemas.microsoft.com/office/drawing/2014/main" id="{1AB7A8FF-2CF2-0A5D-1F2C-626AAC66F71E}"/>
              </a:ext>
            </a:extLst>
          </p:cNvPr>
          <p:cNvSpPr txBox="1"/>
          <p:nvPr/>
        </p:nvSpPr>
        <p:spPr>
          <a:xfrm>
            <a:off x="3426861" y="1184416"/>
            <a:ext cx="5344160" cy="369332"/>
          </a:xfrm>
          <a:prstGeom prst="rect">
            <a:avLst/>
          </a:prstGeom>
          <a:noFill/>
        </p:spPr>
        <p:txBody>
          <a:bodyPr wrap="square">
            <a:spAutoFit/>
          </a:bodyPr>
          <a:lstStyle/>
          <a:p>
            <a:r>
              <a:rPr lang="en-US" dirty="0" err="1">
                <a:latin typeface="Courier New" panose="02070309020205020404" pitchFamily="49" charset="0"/>
              </a:rPr>
              <a:t>event_id</a:t>
            </a:r>
            <a:r>
              <a:rPr lang="en-US" dirty="0">
                <a:latin typeface="Courier New" panose="02070309020205020404" pitchFamily="49" charset="0"/>
              </a:rPr>
              <a:t>: 4720</a:t>
            </a:r>
            <a:r>
              <a:rPr lang="en-US" dirty="0"/>
              <a:t> (</a:t>
            </a:r>
            <a:r>
              <a:rPr lang="en-US" dirty="0" err="1"/>
              <a:t>إنشاء</a:t>
            </a:r>
            <a:r>
              <a:rPr lang="en-US" dirty="0"/>
              <a:t> </a:t>
            </a:r>
            <a:r>
              <a:rPr lang="en-US" dirty="0" err="1"/>
              <a:t>الحساب</a:t>
            </a:r>
            <a:r>
              <a:rPr lang="en-US" dirty="0"/>
              <a:t>).</a:t>
            </a:r>
          </a:p>
        </p:txBody>
      </p:sp>
      <p:sp>
        <p:nvSpPr>
          <p:cNvPr id="13" name="TextBox 12">
            <a:extLst>
              <a:ext uri="{FF2B5EF4-FFF2-40B4-BE49-F238E27FC236}">
                <a16:creationId xmlns:a16="http://schemas.microsoft.com/office/drawing/2014/main" id="{6D8E204D-F5D0-6D87-3871-C4433CC3F2F5}"/>
              </a:ext>
            </a:extLst>
          </p:cNvPr>
          <p:cNvSpPr txBox="1"/>
          <p:nvPr/>
        </p:nvSpPr>
        <p:spPr>
          <a:xfrm>
            <a:off x="1625533" y="563703"/>
            <a:ext cx="5432610" cy="400110"/>
          </a:xfrm>
          <a:prstGeom prst="rect">
            <a:avLst/>
          </a:prstGeom>
          <a:noFill/>
        </p:spPr>
        <p:txBody>
          <a:bodyPr wrap="square">
            <a:spAutoFit/>
          </a:bodyPr>
          <a:lstStyle/>
          <a:p>
            <a:r>
              <a:rPr lang="en-US" sz="2000" b="1" dirty="0"/>
              <a:t>&gt;&gt; Create  unknown user account </a:t>
            </a:r>
          </a:p>
        </p:txBody>
      </p:sp>
    </p:spTree>
    <p:extLst>
      <p:ext uri="{BB962C8B-B14F-4D97-AF65-F5344CB8AC3E}">
        <p14:creationId xmlns:p14="http://schemas.microsoft.com/office/powerpoint/2010/main" val="19196420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08B712-CA4C-72E0-0F2A-DE4B6B0453E8}"/>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CD30CEC7-CAB9-2A27-FE8B-4139D1F50611}"/>
              </a:ext>
            </a:extLst>
          </p:cNvPr>
          <p:cNvPicPr>
            <a:picLocks noChangeAspect="1" noChangeArrowheads="1"/>
          </p:cNvPicPr>
          <p:nvPr/>
        </p:nvPicPr>
        <p:blipFill>
          <a:blip r:embed="rId2"/>
          <a:srcRect t="-9550" b="9550"/>
          <a:stretch>
            <a:fillRect/>
          </a:stretch>
        </p:blipFill>
        <p:spPr bwMode="auto">
          <a:xfrm>
            <a:off x="-1" y="0"/>
            <a:ext cx="10691814" cy="5932170"/>
          </a:xfrm>
          <a:prstGeom prst="rect">
            <a:avLst/>
          </a:prstGeom>
          <a:noFill/>
        </p:spPr>
      </p:pic>
      <p:sp>
        <p:nvSpPr>
          <p:cNvPr id="10" name="TextBox 9">
            <a:extLst>
              <a:ext uri="{FF2B5EF4-FFF2-40B4-BE49-F238E27FC236}">
                <a16:creationId xmlns:a16="http://schemas.microsoft.com/office/drawing/2014/main" id="{3F10562D-47B9-E442-8937-AE90E1B167EF}"/>
              </a:ext>
            </a:extLst>
          </p:cNvPr>
          <p:cNvSpPr txBox="1"/>
          <p:nvPr/>
        </p:nvSpPr>
        <p:spPr>
          <a:xfrm>
            <a:off x="624840" y="2934135"/>
            <a:ext cx="1841017" cy="369332"/>
          </a:xfrm>
          <a:prstGeom prst="rect">
            <a:avLst/>
          </a:prstGeom>
          <a:noFill/>
        </p:spPr>
        <p:txBody>
          <a:bodyPr wrap="none" rtlCol="0">
            <a:spAutoFit/>
          </a:bodyPr>
          <a:lstStyle/>
          <a:p>
            <a:r>
              <a:rPr lang="en-US" dirty="0"/>
              <a:t>1- @ CMD write :</a:t>
            </a:r>
          </a:p>
        </p:txBody>
      </p:sp>
      <p:sp>
        <p:nvSpPr>
          <p:cNvPr id="12" name="TextBox 11">
            <a:extLst>
              <a:ext uri="{FF2B5EF4-FFF2-40B4-BE49-F238E27FC236}">
                <a16:creationId xmlns:a16="http://schemas.microsoft.com/office/drawing/2014/main" id="{626EA340-6CD1-7C9E-AB61-56D08779788E}"/>
              </a:ext>
            </a:extLst>
          </p:cNvPr>
          <p:cNvSpPr txBox="1"/>
          <p:nvPr/>
        </p:nvSpPr>
        <p:spPr>
          <a:xfrm>
            <a:off x="624840" y="3577709"/>
            <a:ext cx="2055819" cy="369332"/>
          </a:xfrm>
          <a:prstGeom prst="rect">
            <a:avLst/>
          </a:prstGeom>
          <a:noFill/>
        </p:spPr>
        <p:txBody>
          <a:bodyPr wrap="none" rtlCol="0">
            <a:spAutoFit/>
          </a:bodyPr>
          <a:lstStyle/>
          <a:p>
            <a:r>
              <a:rPr lang="en-US" dirty="0"/>
              <a:t>2- Then click Enter </a:t>
            </a:r>
          </a:p>
        </p:txBody>
      </p:sp>
      <p:sp>
        <p:nvSpPr>
          <p:cNvPr id="16" name="TextBox 15">
            <a:extLst>
              <a:ext uri="{FF2B5EF4-FFF2-40B4-BE49-F238E27FC236}">
                <a16:creationId xmlns:a16="http://schemas.microsoft.com/office/drawing/2014/main" id="{8522A958-AC03-0E89-2859-FA7020466FF9}"/>
              </a:ext>
            </a:extLst>
          </p:cNvPr>
          <p:cNvSpPr txBox="1"/>
          <p:nvPr/>
        </p:nvSpPr>
        <p:spPr>
          <a:xfrm>
            <a:off x="1877849" y="1592580"/>
            <a:ext cx="7455439" cy="461665"/>
          </a:xfrm>
          <a:prstGeom prst="rect">
            <a:avLst/>
          </a:prstGeom>
          <a:noFill/>
        </p:spPr>
        <p:txBody>
          <a:bodyPr wrap="none" rtlCol="0">
            <a:spAutoFit/>
          </a:bodyPr>
          <a:lstStyle/>
          <a:p>
            <a:r>
              <a:rPr lang="en-US" sz="2400" b="1" dirty="0"/>
              <a:t>Simulate Create  unknown user account  using CMD </a:t>
            </a:r>
          </a:p>
        </p:txBody>
      </p:sp>
      <p:pic>
        <p:nvPicPr>
          <p:cNvPr id="3" name="Picture 2">
            <a:extLst>
              <a:ext uri="{FF2B5EF4-FFF2-40B4-BE49-F238E27FC236}">
                <a16:creationId xmlns:a16="http://schemas.microsoft.com/office/drawing/2014/main" id="{BD8B0C8D-A530-8AB4-9ADB-B1AF7E628F65}"/>
              </a:ext>
            </a:extLst>
          </p:cNvPr>
          <p:cNvPicPr>
            <a:picLocks noChangeAspect="1"/>
          </p:cNvPicPr>
          <p:nvPr/>
        </p:nvPicPr>
        <p:blipFill>
          <a:blip r:embed="rId3"/>
          <a:stretch>
            <a:fillRect/>
          </a:stretch>
        </p:blipFill>
        <p:spPr>
          <a:xfrm>
            <a:off x="2465857" y="2876710"/>
            <a:ext cx="3139712" cy="426757"/>
          </a:xfrm>
          <a:prstGeom prst="rect">
            <a:avLst/>
          </a:prstGeom>
        </p:spPr>
      </p:pic>
    </p:spTree>
    <p:extLst>
      <p:ext uri="{BB962C8B-B14F-4D97-AF65-F5344CB8AC3E}">
        <p14:creationId xmlns:p14="http://schemas.microsoft.com/office/powerpoint/2010/main" val="35768579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65EF4-8564-529E-2A5C-D6AFF79D2F99}"/>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62860587-99D4-4488-3123-0D6D0C7B3124}"/>
              </a:ext>
            </a:extLst>
          </p:cNvPr>
          <p:cNvPicPr>
            <a:picLocks noChangeAspect="1" noChangeArrowheads="1"/>
          </p:cNvPicPr>
          <p:nvPr/>
        </p:nvPicPr>
        <p:blipFill>
          <a:blip r:embed="rId2"/>
          <a:srcRect t="-9550" b="9550"/>
          <a:stretch>
            <a:fillRect/>
          </a:stretch>
        </p:blipFill>
        <p:spPr bwMode="auto">
          <a:xfrm>
            <a:off x="-1" y="0"/>
            <a:ext cx="10691814" cy="5932170"/>
          </a:xfrm>
          <a:prstGeom prst="rect">
            <a:avLst/>
          </a:prstGeom>
          <a:noFill/>
        </p:spPr>
      </p:pic>
      <p:sp>
        <p:nvSpPr>
          <p:cNvPr id="3" name="TextBox 2">
            <a:extLst>
              <a:ext uri="{FF2B5EF4-FFF2-40B4-BE49-F238E27FC236}">
                <a16:creationId xmlns:a16="http://schemas.microsoft.com/office/drawing/2014/main" id="{2CC2BCAB-FC32-6C6B-7831-3F278780F42D}"/>
              </a:ext>
            </a:extLst>
          </p:cNvPr>
          <p:cNvSpPr txBox="1"/>
          <p:nvPr/>
        </p:nvSpPr>
        <p:spPr>
          <a:xfrm>
            <a:off x="877729" y="1744980"/>
            <a:ext cx="5344160" cy="461665"/>
          </a:xfrm>
          <a:prstGeom prst="rect">
            <a:avLst/>
          </a:prstGeom>
          <a:noFill/>
        </p:spPr>
        <p:txBody>
          <a:bodyPr wrap="square">
            <a:spAutoFit/>
          </a:bodyPr>
          <a:lstStyle/>
          <a:p>
            <a:r>
              <a:rPr lang="en-US" sz="2400" dirty="0"/>
              <a:t>Alert Triage</a:t>
            </a:r>
            <a:r>
              <a:rPr lang="ar-EG" sz="2400" dirty="0"/>
              <a:t>: </a:t>
            </a:r>
            <a:endParaRPr lang="en-US" sz="2400" dirty="0"/>
          </a:p>
        </p:txBody>
      </p:sp>
      <p:graphicFrame>
        <p:nvGraphicFramePr>
          <p:cNvPr id="6" name="Table 5">
            <a:extLst>
              <a:ext uri="{FF2B5EF4-FFF2-40B4-BE49-F238E27FC236}">
                <a16:creationId xmlns:a16="http://schemas.microsoft.com/office/drawing/2014/main" id="{A4DCF1F7-9892-53D2-5466-732375A7A9B2}"/>
              </a:ext>
            </a:extLst>
          </p:cNvPr>
          <p:cNvGraphicFramePr>
            <a:graphicFrameLocks noGrp="1"/>
          </p:cNvGraphicFramePr>
          <p:nvPr>
            <p:extLst>
              <p:ext uri="{D42A27DB-BD31-4B8C-83A1-F6EECF244321}">
                <p14:modId xmlns:p14="http://schemas.microsoft.com/office/powerpoint/2010/main" val="123528646"/>
              </p:ext>
            </p:extLst>
          </p:nvPr>
        </p:nvGraphicFramePr>
        <p:xfrm>
          <a:off x="877728" y="2713374"/>
          <a:ext cx="7748112" cy="3565506"/>
        </p:xfrm>
        <a:graphic>
          <a:graphicData uri="http://schemas.openxmlformats.org/drawingml/2006/table">
            <a:tbl>
              <a:tblPr bandRow="1">
                <a:tableStyleId>{00A15C55-8517-42AA-B614-E9B94910E393}</a:tableStyleId>
              </a:tblPr>
              <a:tblGrid>
                <a:gridCol w="2846669">
                  <a:extLst>
                    <a:ext uri="{9D8B030D-6E8A-4147-A177-3AD203B41FA5}">
                      <a16:colId xmlns:a16="http://schemas.microsoft.com/office/drawing/2014/main" val="4042349364"/>
                    </a:ext>
                  </a:extLst>
                </a:gridCol>
                <a:gridCol w="4901443">
                  <a:extLst>
                    <a:ext uri="{9D8B030D-6E8A-4147-A177-3AD203B41FA5}">
                      <a16:colId xmlns:a16="http://schemas.microsoft.com/office/drawing/2014/main" val="3664509633"/>
                    </a:ext>
                  </a:extLst>
                </a:gridCol>
              </a:tblGrid>
              <a:tr h="594251">
                <a:tc>
                  <a:txBody>
                    <a:bodyPr/>
                    <a:lstStyle/>
                    <a:p>
                      <a:pPr algn="ctr"/>
                      <a:r>
                        <a:rPr lang="en-US" dirty="0"/>
                        <a:t>Alert Name</a:t>
                      </a:r>
                    </a:p>
                  </a:txBody>
                  <a:tcPr/>
                </a:tc>
                <a:tc>
                  <a:txBody>
                    <a:bodyPr/>
                    <a:lstStyle/>
                    <a:p>
                      <a:r>
                        <a:rPr lang="en-US" dirty="0"/>
                        <a:t>Create new user </a:t>
                      </a:r>
                    </a:p>
                  </a:txBody>
                  <a:tcPr/>
                </a:tc>
                <a:extLst>
                  <a:ext uri="{0D108BD9-81ED-4DB2-BD59-A6C34878D82A}">
                    <a16:rowId xmlns:a16="http://schemas.microsoft.com/office/drawing/2014/main" val="3064936987"/>
                  </a:ext>
                </a:extLst>
              </a:tr>
              <a:tr h="594251">
                <a:tc>
                  <a:txBody>
                    <a:bodyPr/>
                    <a:lstStyle/>
                    <a:p>
                      <a:pPr algn="ctr"/>
                      <a:r>
                        <a:rPr lang="en-US" dirty="0"/>
                        <a:t>Severity</a:t>
                      </a:r>
                    </a:p>
                  </a:txBody>
                  <a:tcPr/>
                </a:tc>
                <a:tc>
                  <a:txBody>
                    <a:bodyPr/>
                    <a:lstStyle/>
                    <a:p>
                      <a:r>
                        <a:rPr lang="en-US" dirty="0"/>
                        <a:t>medium</a:t>
                      </a:r>
                    </a:p>
                  </a:txBody>
                  <a:tcPr/>
                </a:tc>
                <a:extLst>
                  <a:ext uri="{0D108BD9-81ED-4DB2-BD59-A6C34878D82A}">
                    <a16:rowId xmlns:a16="http://schemas.microsoft.com/office/drawing/2014/main" val="3178792509"/>
                  </a:ext>
                </a:extLst>
              </a:tr>
              <a:tr h="594251">
                <a:tc>
                  <a:txBody>
                    <a:bodyPr/>
                    <a:lstStyle/>
                    <a:p>
                      <a:pPr algn="ctr"/>
                      <a:r>
                        <a:rPr lang="en-US" dirty="0"/>
                        <a:t>Host</a:t>
                      </a:r>
                    </a:p>
                  </a:txBody>
                  <a:tcPr/>
                </a:tc>
                <a:tc>
                  <a:txBody>
                    <a:bodyPr/>
                    <a:lstStyle/>
                    <a:p>
                      <a:r>
                        <a:rPr lang="en-US" dirty="0"/>
                        <a:t>Asus</a:t>
                      </a:r>
                    </a:p>
                  </a:txBody>
                  <a:tcPr/>
                </a:tc>
                <a:extLst>
                  <a:ext uri="{0D108BD9-81ED-4DB2-BD59-A6C34878D82A}">
                    <a16:rowId xmlns:a16="http://schemas.microsoft.com/office/drawing/2014/main" val="2880365340"/>
                  </a:ext>
                </a:extLst>
              </a:tr>
              <a:tr h="594251">
                <a:tc>
                  <a:txBody>
                    <a:bodyPr/>
                    <a:lstStyle/>
                    <a:p>
                      <a:pPr algn="ctr"/>
                      <a:r>
                        <a:rPr lang="en-US" dirty="0"/>
                        <a:t>MITRE</a:t>
                      </a:r>
                    </a:p>
                  </a:txBody>
                  <a:tcPr/>
                </a:tc>
                <a:tc>
                  <a:txBody>
                    <a:bodyPr/>
                    <a:lstStyle/>
                    <a:p>
                      <a:r>
                        <a:rPr lang="en-US" b="0" dirty="0"/>
                        <a:t>T1136.001</a:t>
                      </a:r>
                    </a:p>
                  </a:txBody>
                  <a:tcPr/>
                </a:tc>
                <a:extLst>
                  <a:ext uri="{0D108BD9-81ED-4DB2-BD59-A6C34878D82A}">
                    <a16:rowId xmlns:a16="http://schemas.microsoft.com/office/drawing/2014/main" val="3666350517"/>
                  </a:ext>
                </a:extLst>
              </a:tr>
              <a:tr h="594251">
                <a:tc>
                  <a:txBody>
                    <a:bodyPr/>
                    <a:lstStyle/>
                    <a:p>
                      <a:pPr algn="ctr"/>
                      <a:r>
                        <a:rPr lang="en-US" dirty="0"/>
                        <a:t>Status</a:t>
                      </a:r>
                    </a:p>
                  </a:txBody>
                  <a:tcPr/>
                </a:tc>
                <a:tc>
                  <a:txBody>
                    <a:bodyPr/>
                    <a:lstStyle/>
                    <a:p>
                      <a:r>
                        <a:rPr lang="en-US" dirty="0"/>
                        <a:t>True positive </a:t>
                      </a:r>
                    </a:p>
                  </a:txBody>
                  <a:tcPr/>
                </a:tc>
                <a:extLst>
                  <a:ext uri="{0D108BD9-81ED-4DB2-BD59-A6C34878D82A}">
                    <a16:rowId xmlns:a16="http://schemas.microsoft.com/office/drawing/2014/main" val="1268743883"/>
                  </a:ext>
                </a:extLst>
              </a:tr>
              <a:tr h="594251">
                <a:tc>
                  <a:txBody>
                    <a:bodyPr/>
                    <a:lstStyle/>
                    <a:p>
                      <a:pPr algn="ctr"/>
                      <a:r>
                        <a:rPr lang="en-US" dirty="0"/>
                        <a:t>Analyst Notes</a:t>
                      </a:r>
                    </a:p>
                  </a:txBody>
                  <a:tcPr/>
                </a:tc>
                <a:tc>
                  <a:txBody>
                    <a:bodyPr/>
                    <a:lstStyle/>
                    <a:p>
                      <a:r>
                        <a:rPr lang="en-US" dirty="0"/>
                        <a:t>New unknown user account are created</a:t>
                      </a:r>
                    </a:p>
                  </a:txBody>
                  <a:tcPr/>
                </a:tc>
                <a:extLst>
                  <a:ext uri="{0D108BD9-81ED-4DB2-BD59-A6C34878D82A}">
                    <a16:rowId xmlns:a16="http://schemas.microsoft.com/office/drawing/2014/main" val="3632913206"/>
                  </a:ext>
                </a:extLst>
              </a:tr>
            </a:tbl>
          </a:graphicData>
        </a:graphic>
      </p:graphicFrame>
    </p:spTree>
    <p:extLst>
      <p:ext uri="{BB962C8B-B14F-4D97-AF65-F5344CB8AC3E}">
        <p14:creationId xmlns:p14="http://schemas.microsoft.com/office/powerpoint/2010/main" val="28179319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E98CE-F0E0-E230-6C09-034FD52C5A27}"/>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7B846CB9-F48E-ADB9-30E3-3DACD762F277}"/>
              </a:ext>
            </a:extLst>
          </p:cNvPr>
          <p:cNvPicPr>
            <a:picLocks noChangeAspect="1" noChangeArrowheads="1"/>
          </p:cNvPicPr>
          <p:nvPr/>
        </p:nvPicPr>
        <p:blipFill>
          <a:blip r:embed="rId2"/>
          <a:srcRect t="-9550" b="9550"/>
          <a:stretch>
            <a:fillRect/>
          </a:stretch>
        </p:blipFill>
        <p:spPr bwMode="auto">
          <a:xfrm>
            <a:off x="0" y="-225088"/>
            <a:ext cx="10691814" cy="5932170"/>
          </a:xfrm>
          <a:prstGeom prst="rect">
            <a:avLst/>
          </a:prstGeom>
          <a:noFill/>
        </p:spPr>
      </p:pic>
      <p:sp>
        <p:nvSpPr>
          <p:cNvPr id="11" name="TextBox 10">
            <a:extLst>
              <a:ext uri="{FF2B5EF4-FFF2-40B4-BE49-F238E27FC236}">
                <a16:creationId xmlns:a16="http://schemas.microsoft.com/office/drawing/2014/main" id="{BF614EC7-0E6B-FC24-A5C2-905092FC0C2A}"/>
              </a:ext>
            </a:extLst>
          </p:cNvPr>
          <p:cNvSpPr txBox="1"/>
          <p:nvPr/>
        </p:nvSpPr>
        <p:spPr>
          <a:xfrm>
            <a:off x="751840" y="1983742"/>
            <a:ext cx="6461760" cy="369332"/>
          </a:xfrm>
          <a:prstGeom prst="rect">
            <a:avLst/>
          </a:prstGeom>
          <a:noFill/>
        </p:spPr>
        <p:txBody>
          <a:bodyPr wrap="square">
            <a:spAutoFit/>
          </a:bodyPr>
          <a:lstStyle/>
          <a:p>
            <a:r>
              <a:rPr lang="en-US" dirty="0"/>
              <a:t>• </a:t>
            </a:r>
            <a:r>
              <a:rPr lang="en-US" b="1" dirty="0"/>
              <a:t>Target Machine (Victim):</a:t>
            </a:r>
            <a:r>
              <a:rPr lang="en-US" dirty="0"/>
              <a:t> Windows 11 VM (Host Name: </a:t>
            </a:r>
            <a:r>
              <a:rPr lang="en-US" dirty="0" err="1">
                <a:latin typeface="Courier New" panose="02070309020205020404" pitchFamily="49" charset="0"/>
              </a:rPr>
              <a:t>asus</a:t>
            </a:r>
            <a:r>
              <a:rPr lang="en-US" dirty="0"/>
              <a:t>)</a:t>
            </a:r>
          </a:p>
        </p:txBody>
      </p:sp>
      <p:sp>
        <p:nvSpPr>
          <p:cNvPr id="13" name="TextBox 12">
            <a:extLst>
              <a:ext uri="{FF2B5EF4-FFF2-40B4-BE49-F238E27FC236}">
                <a16:creationId xmlns:a16="http://schemas.microsoft.com/office/drawing/2014/main" id="{14EBF432-6583-F94A-CFE0-87780186B780}"/>
              </a:ext>
            </a:extLst>
          </p:cNvPr>
          <p:cNvSpPr txBox="1"/>
          <p:nvPr/>
        </p:nvSpPr>
        <p:spPr>
          <a:xfrm>
            <a:off x="751840" y="1669624"/>
            <a:ext cx="5425440" cy="369332"/>
          </a:xfrm>
          <a:prstGeom prst="rect">
            <a:avLst/>
          </a:prstGeom>
          <a:noFill/>
        </p:spPr>
        <p:txBody>
          <a:bodyPr wrap="square">
            <a:spAutoFit/>
          </a:bodyPr>
          <a:lstStyle/>
          <a:p>
            <a:r>
              <a:rPr lang="en-US" dirty="0"/>
              <a:t>• </a:t>
            </a:r>
            <a:r>
              <a:rPr lang="en-US" b="1" dirty="0"/>
              <a:t>Tool Used:</a:t>
            </a:r>
            <a:r>
              <a:rPr lang="en-US" dirty="0"/>
              <a:t> Command Prompt (Manual Execution)</a:t>
            </a:r>
          </a:p>
        </p:txBody>
      </p:sp>
      <p:sp>
        <p:nvSpPr>
          <p:cNvPr id="15" name="TextBox 14">
            <a:extLst>
              <a:ext uri="{FF2B5EF4-FFF2-40B4-BE49-F238E27FC236}">
                <a16:creationId xmlns:a16="http://schemas.microsoft.com/office/drawing/2014/main" id="{8F4A66F0-94F3-EA24-4AB3-31064D0B34C1}"/>
              </a:ext>
            </a:extLst>
          </p:cNvPr>
          <p:cNvSpPr txBox="1"/>
          <p:nvPr/>
        </p:nvSpPr>
        <p:spPr>
          <a:xfrm>
            <a:off x="751840" y="2364569"/>
            <a:ext cx="5425440" cy="369332"/>
          </a:xfrm>
          <a:prstGeom prst="rect">
            <a:avLst/>
          </a:prstGeom>
          <a:noFill/>
        </p:spPr>
        <p:txBody>
          <a:bodyPr wrap="square">
            <a:spAutoFit/>
          </a:bodyPr>
          <a:lstStyle/>
          <a:p>
            <a:r>
              <a:rPr lang="en-US" dirty="0"/>
              <a:t>• </a:t>
            </a:r>
            <a:r>
              <a:rPr lang="en-US" b="1" dirty="0"/>
              <a:t>MITRE ATT&amp;CK Tactic:</a:t>
            </a:r>
            <a:r>
              <a:rPr lang="en-US" dirty="0"/>
              <a:t> Privilege Escalation</a:t>
            </a:r>
          </a:p>
        </p:txBody>
      </p:sp>
      <p:sp>
        <p:nvSpPr>
          <p:cNvPr id="17" name="TextBox 16">
            <a:extLst>
              <a:ext uri="{FF2B5EF4-FFF2-40B4-BE49-F238E27FC236}">
                <a16:creationId xmlns:a16="http://schemas.microsoft.com/office/drawing/2014/main" id="{BC343674-B67A-29E4-E62A-C1862A1FE1B5}"/>
              </a:ext>
            </a:extLst>
          </p:cNvPr>
          <p:cNvSpPr txBox="1"/>
          <p:nvPr/>
        </p:nvSpPr>
        <p:spPr>
          <a:xfrm>
            <a:off x="751840" y="2690181"/>
            <a:ext cx="7589520" cy="369332"/>
          </a:xfrm>
          <a:prstGeom prst="rect">
            <a:avLst/>
          </a:prstGeom>
          <a:noFill/>
        </p:spPr>
        <p:txBody>
          <a:bodyPr wrap="square">
            <a:spAutoFit/>
          </a:bodyPr>
          <a:lstStyle/>
          <a:p>
            <a:r>
              <a:rPr lang="en-US" dirty="0"/>
              <a:t>• </a:t>
            </a:r>
            <a:r>
              <a:rPr lang="en-US" b="1" dirty="0"/>
              <a:t>MITRE ATT&amp;CK Technique:</a:t>
            </a:r>
            <a:r>
              <a:rPr lang="en-US" dirty="0"/>
              <a:t> Account Manipulation (T1098)</a:t>
            </a:r>
          </a:p>
        </p:txBody>
      </p:sp>
      <p:sp>
        <p:nvSpPr>
          <p:cNvPr id="19" name="TextBox 18">
            <a:extLst>
              <a:ext uri="{FF2B5EF4-FFF2-40B4-BE49-F238E27FC236}">
                <a16:creationId xmlns:a16="http://schemas.microsoft.com/office/drawing/2014/main" id="{61A710C4-69D4-7107-A45E-24E6F7512998}"/>
              </a:ext>
            </a:extLst>
          </p:cNvPr>
          <p:cNvSpPr txBox="1"/>
          <p:nvPr/>
        </p:nvSpPr>
        <p:spPr>
          <a:xfrm>
            <a:off x="751840" y="3059513"/>
            <a:ext cx="7725186" cy="646331"/>
          </a:xfrm>
          <a:prstGeom prst="rect">
            <a:avLst/>
          </a:prstGeom>
          <a:noFill/>
        </p:spPr>
        <p:txBody>
          <a:bodyPr wrap="square">
            <a:spAutoFit/>
          </a:bodyPr>
          <a:lstStyle/>
          <a:p>
            <a:r>
              <a:rPr lang="en-US" dirty="0"/>
              <a:t>• </a:t>
            </a:r>
            <a:r>
              <a:rPr lang="en-US" b="1" dirty="0"/>
              <a:t>Simulation Mechanism:</a:t>
            </a:r>
            <a:r>
              <a:rPr lang="en-US" dirty="0"/>
              <a:t> Self-Simulation (The host executes the technique locally to simulate a compromised scenario).</a:t>
            </a:r>
          </a:p>
        </p:txBody>
      </p:sp>
      <p:sp>
        <p:nvSpPr>
          <p:cNvPr id="21" name="TextBox 20">
            <a:extLst>
              <a:ext uri="{FF2B5EF4-FFF2-40B4-BE49-F238E27FC236}">
                <a16:creationId xmlns:a16="http://schemas.microsoft.com/office/drawing/2014/main" id="{910F99AB-8969-B0A6-AAEA-E7EE77D2AFEC}"/>
              </a:ext>
            </a:extLst>
          </p:cNvPr>
          <p:cNvSpPr txBox="1"/>
          <p:nvPr/>
        </p:nvSpPr>
        <p:spPr>
          <a:xfrm>
            <a:off x="518160" y="3882405"/>
            <a:ext cx="9946640" cy="1477328"/>
          </a:xfrm>
          <a:prstGeom prst="rect">
            <a:avLst/>
          </a:prstGeom>
          <a:noFill/>
        </p:spPr>
        <p:txBody>
          <a:bodyPr wrap="square">
            <a:spAutoFit/>
          </a:bodyPr>
          <a:lstStyle/>
          <a:p>
            <a:pPr>
              <a:buNone/>
            </a:pPr>
            <a:r>
              <a:rPr lang="en-US" b="1" dirty="0"/>
              <a:t>Attack Scenario Description</a:t>
            </a:r>
          </a:p>
          <a:p>
            <a:pPr>
              <a:buNone/>
            </a:pPr>
            <a:r>
              <a:rPr lang="en-US" dirty="0"/>
              <a:t>This test simulates a post-compromise activity where an attacker adds a previously created or compromised local user account to a high-privileged group, such as the local Administrators group. By doing so, the attacker successfully escalates their privileges, granting them full administrative control over the target machine to disable security controls or execute further malicious actions.</a:t>
            </a:r>
          </a:p>
        </p:txBody>
      </p:sp>
      <p:sp>
        <p:nvSpPr>
          <p:cNvPr id="23" name="TextBox 22">
            <a:extLst>
              <a:ext uri="{FF2B5EF4-FFF2-40B4-BE49-F238E27FC236}">
                <a16:creationId xmlns:a16="http://schemas.microsoft.com/office/drawing/2014/main" id="{1D3B554D-D9FF-8071-AC69-ED53911D93E4}"/>
              </a:ext>
            </a:extLst>
          </p:cNvPr>
          <p:cNvSpPr txBox="1"/>
          <p:nvPr/>
        </p:nvSpPr>
        <p:spPr>
          <a:xfrm>
            <a:off x="518160" y="5707082"/>
            <a:ext cx="9946640" cy="1508105"/>
          </a:xfrm>
          <a:prstGeom prst="rect">
            <a:avLst/>
          </a:prstGeom>
          <a:noFill/>
        </p:spPr>
        <p:txBody>
          <a:bodyPr wrap="square">
            <a:spAutoFit/>
          </a:bodyPr>
          <a:lstStyle/>
          <a:p>
            <a:r>
              <a:rPr lang="en-US" sz="2000" b="1" dirty="0"/>
              <a:t>SIEM Rule Deployment</a:t>
            </a:r>
            <a:endParaRPr lang="ar-EG" sz="2000" b="1" dirty="0"/>
          </a:p>
          <a:p>
            <a:endParaRPr lang="ar-EG" dirty="0"/>
          </a:p>
          <a:p>
            <a:r>
              <a:rPr lang="en-US" dirty="0"/>
              <a:t>• </a:t>
            </a:r>
            <a:r>
              <a:rPr lang="en-US" b="1" dirty="0"/>
              <a:t>Rule Name:</a:t>
            </a:r>
            <a:r>
              <a:rPr lang="en-US" dirty="0"/>
              <a:t> Privilege Escalation - User Added to Local Administrators Group </a:t>
            </a:r>
          </a:p>
          <a:p>
            <a:r>
              <a:rPr lang="en-US" dirty="0"/>
              <a:t>• </a:t>
            </a:r>
            <a:r>
              <a:rPr lang="en-US" b="1" dirty="0"/>
              <a:t>Severity:</a:t>
            </a:r>
            <a:r>
              <a:rPr lang="en-US" dirty="0"/>
              <a:t> High</a:t>
            </a:r>
          </a:p>
          <a:p>
            <a:r>
              <a:rPr lang="en-US" dirty="0"/>
              <a:t>• </a:t>
            </a:r>
            <a:r>
              <a:rPr lang="en-US" b="1" dirty="0"/>
              <a:t>Detection Logic (Event ID):</a:t>
            </a:r>
            <a:r>
              <a:rPr lang="en-US" dirty="0"/>
              <a:t> 4732</a:t>
            </a:r>
          </a:p>
        </p:txBody>
      </p:sp>
      <p:sp>
        <p:nvSpPr>
          <p:cNvPr id="24" name="TextBox 23">
            <a:extLst>
              <a:ext uri="{FF2B5EF4-FFF2-40B4-BE49-F238E27FC236}">
                <a16:creationId xmlns:a16="http://schemas.microsoft.com/office/drawing/2014/main" id="{21BCC164-45FD-00C0-315B-9779906DA026}"/>
              </a:ext>
            </a:extLst>
          </p:cNvPr>
          <p:cNvSpPr txBox="1"/>
          <p:nvPr/>
        </p:nvSpPr>
        <p:spPr>
          <a:xfrm>
            <a:off x="518160" y="1306763"/>
            <a:ext cx="4739374" cy="400110"/>
          </a:xfrm>
          <a:prstGeom prst="rect">
            <a:avLst/>
          </a:prstGeom>
          <a:noFill/>
        </p:spPr>
        <p:txBody>
          <a:bodyPr wrap="none" rtlCol="0">
            <a:spAutoFit/>
          </a:bodyPr>
          <a:lstStyle/>
          <a:p>
            <a:r>
              <a:rPr lang="en-US" sz="2000" b="1" dirty="0">
                <a:solidFill>
                  <a:srgbClr val="FF0000"/>
                </a:solidFill>
              </a:rPr>
              <a:t>Use Case 2: </a:t>
            </a:r>
            <a:r>
              <a:rPr lang="en-US" sz="2000" b="1" dirty="0"/>
              <a:t>Privilege Escalation attack </a:t>
            </a:r>
          </a:p>
        </p:txBody>
      </p:sp>
    </p:spTree>
    <p:extLst>
      <p:ext uri="{BB962C8B-B14F-4D97-AF65-F5344CB8AC3E}">
        <p14:creationId xmlns:p14="http://schemas.microsoft.com/office/powerpoint/2010/main" val="33997250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7888E-FFDB-23CB-B563-5B60D97EFFB5}"/>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56273C73-A00A-3096-9485-80FCF44E9B1D}"/>
              </a:ext>
            </a:extLst>
          </p:cNvPr>
          <p:cNvPicPr>
            <a:picLocks noChangeAspect="1" noChangeArrowheads="1"/>
          </p:cNvPicPr>
          <p:nvPr/>
        </p:nvPicPr>
        <p:blipFill>
          <a:blip r:embed="rId2"/>
          <a:srcRect t="-9550" b="9550"/>
          <a:stretch>
            <a:fillRect/>
          </a:stretch>
        </p:blipFill>
        <p:spPr bwMode="auto">
          <a:xfrm>
            <a:off x="0" y="-379061"/>
            <a:ext cx="10691814" cy="5932170"/>
          </a:xfrm>
          <a:prstGeom prst="rect">
            <a:avLst/>
          </a:prstGeom>
          <a:noFill/>
        </p:spPr>
      </p:pic>
      <p:pic>
        <p:nvPicPr>
          <p:cNvPr id="3" name="Picture 2">
            <a:extLst>
              <a:ext uri="{FF2B5EF4-FFF2-40B4-BE49-F238E27FC236}">
                <a16:creationId xmlns:a16="http://schemas.microsoft.com/office/drawing/2014/main" id="{4B47178F-74C6-53E9-AE9B-08E7D2B01932}"/>
              </a:ext>
            </a:extLst>
          </p:cNvPr>
          <p:cNvPicPr>
            <a:picLocks noChangeAspect="1"/>
          </p:cNvPicPr>
          <p:nvPr/>
        </p:nvPicPr>
        <p:blipFill>
          <a:blip r:embed="rId3"/>
          <a:stretch>
            <a:fillRect/>
          </a:stretch>
        </p:blipFill>
        <p:spPr>
          <a:xfrm>
            <a:off x="241402" y="2856310"/>
            <a:ext cx="10209007" cy="4668440"/>
          </a:xfrm>
          <a:prstGeom prst="rect">
            <a:avLst/>
          </a:prstGeom>
        </p:spPr>
      </p:pic>
      <p:pic>
        <p:nvPicPr>
          <p:cNvPr id="5" name="Picture 4">
            <a:extLst>
              <a:ext uri="{FF2B5EF4-FFF2-40B4-BE49-F238E27FC236}">
                <a16:creationId xmlns:a16="http://schemas.microsoft.com/office/drawing/2014/main" id="{37A23BA9-026C-4CC9-7F97-146C9219B316}"/>
              </a:ext>
            </a:extLst>
          </p:cNvPr>
          <p:cNvPicPr>
            <a:picLocks noChangeAspect="1"/>
          </p:cNvPicPr>
          <p:nvPr/>
        </p:nvPicPr>
        <p:blipFill>
          <a:blip r:embed="rId4"/>
          <a:stretch>
            <a:fillRect/>
          </a:stretch>
        </p:blipFill>
        <p:spPr>
          <a:xfrm>
            <a:off x="-2" y="1812163"/>
            <a:ext cx="10691813" cy="602553"/>
          </a:xfrm>
          <a:prstGeom prst="rect">
            <a:avLst/>
          </a:prstGeom>
        </p:spPr>
      </p:pic>
      <p:sp>
        <p:nvSpPr>
          <p:cNvPr id="8" name="TextBox 7">
            <a:extLst>
              <a:ext uri="{FF2B5EF4-FFF2-40B4-BE49-F238E27FC236}">
                <a16:creationId xmlns:a16="http://schemas.microsoft.com/office/drawing/2014/main" id="{5AC09C1F-0577-4BE4-E759-06599E308294}"/>
              </a:ext>
            </a:extLst>
          </p:cNvPr>
          <p:cNvSpPr txBox="1"/>
          <p:nvPr/>
        </p:nvSpPr>
        <p:spPr>
          <a:xfrm>
            <a:off x="883921" y="516496"/>
            <a:ext cx="5346550" cy="400110"/>
          </a:xfrm>
          <a:prstGeom prst="rect">
            <a:avLst/>
          </a:prstGeom>
          <a:noFill/>
        </p:spPr>
        <p:txBody>
          <a:bodyPr wrap="square">
            <a:spAutoFit/>
          </a:bodyPr>
          <a:lstStyle/>
          <a:p>
            <a:r>
              <a:rPr lang="en-US" sz="2000" b="1" dirty="0"/>
              <a:t>&gt;&gt;Privilege Escalation</a:t>
            </a:r>
          </a:p>
        </p:txBody>
      </p:sp>
      <p:sp>
        <p:nvSpPr>
          <p:cNvPr id="12" name="TextBox 11">
            <a:extLst>
              <a:ext uri="{FF2B5EF4-FFF2-40B4-BE49-F238E27FC236}">
                <a16:creationId xmlns:a16="http://schemas.microsoft.com/office/drawing/2014/main" id="{4D56BD30-CB5E-7CBD-D01A-B1D30035ADA6}"/>
              </a:ext>
            </a:extLst>
          </p:cNvPr>
          <p:cNvSpPr txBox="1"/>
          <p:nvPr/>
        </p:nvSpPr>
        <p:spPr>
          <a:xfrm>
            <a:off x="3557196" y="1161604"/>
            <a:ext cx="5344160" cy="369332"/>
          </a:xfrm>
          <a:prstGeom prst="rect">
            <a:avLst/>
          </a:prstGeom>
          <a:noFill/>
        </p:spPr>
        <p:txBody>
          <a:bodyPr wrap="square">
            <a:spAutoFit/>
          </a:bodyPr>
          <a:lstStyle/>
          <a:p>
            <a:r>
              <a:rPr lang="en-US" dirty="0" err="1">
                <a:latin typeface="Courier New" panose="02070309020205020404" pitchFamily="49" charset="0"/>
              </a:rPr>
              <a:t>event_id</a:t>
            </a:r>
            <a:r>
              <a:rPr lang="en-US" dirty="0">
                <a:latin typeface="Courier New" panose="02070309020205020404" pitchFamily="49" charset="0"/>
              </a:rPr>
              <a:t>: 4732</a:t>
            </a:r>
            <a:r>
              <a:rPr lang="en-US" dirty="0"/>
              <a:t> (</a:t>
            </a:r>
            <a:r>
              <a:rPr lang="en-US" dirty="0" err="1"/>
              <a:t>إضافته</a:t>
            </a:r>
            <a:r>
              <a:rPr lang="en-US" dirty="0"/>
              <a:t> </a:t>
            </a:r>
            <a:r>
              <a:rPr lang="en-US" dirty="0" err="1"/>
              <a:t>للأدمن</a:t>
            </a:r>
            <a:r>
              <a:rPr lang="en-US" dirty="0"/>
              <a:t>).</a:t>
            </a:r>
          </a:p>
        </p:txBody>
      </p:sp>
    </p:spTree>
    <p:extLst>
      <p:ext uri="{BB962C8B-B14F-4D97-AF65-F5344CB8AC3E}">
        <p14:creationId xmlns:p14="http://schemas.microsoft.com/office/powerpoint/2010/main" val="3376502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86B3C-F42B-9D55-279A-2A771CECD088}"/>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E296449A-018F-BEDF-C575-564805D2004C}"/>
              </a:ext>
            </a:extLst>
          </p:cNvPr>
          <p:cNvPicPr>
            <a:picLocks noChangeAspect="1" noChangeArrowheads="1"/>
          </p:cNvPicPr>
          <p:nvPr/>
        </p:nvPicPr>
        <p:blipFill>
          <a:blip r:embed="rId2"/>
          <a:srcRect t="-9550" b="9550"/>
          <a:stretch>
            <a:fillRect/>
          </a:stretch>
        </p:blipFill>
        <p:spPr bwMode="auto">
          <a:xfrm>
            <a:off x="-1" y="0"/>
            <a:ext cx="10691814" cy="5932170"/>
          </a:xfrm>
          <a:prstGeom prst="rect">
            <a:avLst/>
          </a:prstGeom>
          <a:noFill/>
        </p:spPr>
      </p:pic>
      <p:sp>
        <p:nvSpPr>
          <p:cNvPr id="10" name="TextBox 9">
            <a:extLst>
              <a:ext uri="{FF2B5EF4-FFF2-40B4-BE49-F238E27FC236}">
                <a16:creationId xmlns:a16="http://schemas.microsoft.com/office/drawing/2014/main" id="{3E71CCBD-DCAD-D932-7544-CD722D985C69}"/>
              </a:ext>
            </a:extLst>
          </p:cNvPr>
          <p:cNvSpPr txBox="1"/>
          <p:nvPr/>
        </p:nvSpPr>
        <p:spPr>
          <a:xfrm>
            <a:off x="624840" y="2934135"/>
            <a:ext cx="1841017" cy="369332"/>
          </a:xfrm>
          <a:prstGeom prst="rect">
            <a:avLst/>
          </a:prstGeom>
          <a:noFill/>
        </p:spPr>
        <p:txBody>
          <a:bodyPr wrap="none" rtlCol="0">
            <a:spAutoFit/>
          </a:bodyPr>
          <a:lstStyle/>
          <a:p>
            <a:r>
              <a:rPr lang="en-US" dirty="0"/>
              <a:t>1- @ CMD write :</a:t>
            </a:r>
          </a:p>
        </p:txBody>
      </p:sp>
      <p:sp>
        <p:nvSpPr>
          <p:cNvPr id="12" name="TextBox 11">
            <a:extLst>
              <a:ext uri="{FF2B5EF4-FFF2-40B4-BE49-F238E27FC236}">
                <a16:creationId xmlns:a16="http://schemas.microsoft.com/office/drawing/2014/main" id="{F312F42D-E775-5075-7694-11CA4C05168C}"/>
              </a:ext>
            </a:extLst>
          </p:cNvPr>
          <p:cNvSpPr txBox="1"/>
          <p:nvPr/>
        </p:nvSpPr>
        <p:spPr>
          <a:xfrm>
            <a:off x="624840" y="3577709"/>
            <a:ext cx="2055819" cy="369332"/>
          </a:xfrm>
          <a:prstGeom prst="rect">
            <a:avLst/>
          </a:prstGeom>
          <a:noFill/>
        </p:spPr>
        <p:txBody>
          <a:bodyPr wrap="none" rtlCol="0">
            <a:spAutoFit/>
          </a:bodyPr>
          <a:lstStyle/>
          <a:p>
            <a:r>
              <a:rPr lang="en-US" dirty="0"/>
              <a:t>2- Then click Enter </a:t>
            </a:r>
          </a:p>
        </p:txBody>
      </p:sp>
      <p:sp>
        <p:nvSpPr>
          <p:cNvPr id="16" name="TextBox 15">
            <a:extLst>
              <a:ext uri="{FF2B5EF4-FFF2-40B4-BE49-F238E27FC236}">
                <a16:creationId xmlns:a16="http://schemas.microsoft.com/office/drawing/2014/main" id="{0BBAA690-21BB-8D90-9ABC-C04936A5A372}"/>
              </a:ext>
            </a:extLst>
          </p:cNvPr>
          <p:cNvSpPr txBox="1"/>
          <p:nvPr/>
        </p:nvSpPr>
        <p:spPr>
          <a:xfrm>
            <a:off x="2408371" y="1361747"/>
            <a:ext cx="5875070" cy="461665"/>
          </a:xfrm>
          <a:prstGeom prst="rect">
            <a:avLst/>
          </a:prstGeom>
          <a:noFill/>
        </p:spPr>
        <p:txBody>
          <a:bodyPr wrap="none" rtlCol="0">
            <a:spAutoFit/>
          </a:bodyPr>
          <a:lstStyle/>
          <a:p>
            <a:r>
              <a:rPr lang="en-US" sz="2400" b="1" dirty="0"/>
              <a:t>Simulate Privilege Escalation using CMD </a:t>
            </a:r>
          </a:p>
        </p:txBody>
      </p:sp>
      <p:pic>
        <p:nvPicPr>
          <p:cNvPr id="4" name="Picture 3">
            <a:extLst>
              <a:ext uri="{FF2B5EF4-FFF2-40B4-BE49-F238E27FC236}">
                <a16:creationId xmlns:a16="http://schemas.microsoft.com/office/drawing/2014/main" id="{67824E2C-D82B-A56A-10C6-8F29EA2CECCF}"/>
              </a:ext>
            </a:extLst>
          </p:cNvPr>
          <p:cNvPicPr>
            <a:picLocks noChangeAspect="1"/>
          </p:cNvPicPr>
          <p:nvPr/>
        </p:nvPicPr>
        <p:blipFill>
          <a:blip r:embed="rId3"/>
          <a:stretch>
            <a:fillRect/>
          </a:stretch>
        </p:blipFill>
        <p:spPr>
          <a:xfrm>
            <a:off x="2819854" y="2890181"/>
            <a:ext cx="3635055" cy="457240"/>
          </a:xfrm>
          <a:prstGeom prst="rect">
            <a:avLst/>
          </a:prstGeom>
        </p:spPr>
      </p:pic>
    </p:spTree>
    <p:extLst>
      <p:ext uri="{BB962C8B-B14F-4D97-AF65-F5344CB8AC3E}">
        <p14:creationId xmlns:p14="http://schemas.microsoft.com/office/powerpoint/2010/main" val="26970045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7D450-9059-BFBB-8B21-E2ECE26BD6C5}"/>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7B799FAA-DD56-142F-7637-E555D485B225}"/>
              </a:ext>
            </a:extLst>
          </p:cNvPr>
          <p:cNvPicPr>
            <a:picLocks noChangeAspect="1" noChangeArrowheads="1"/>
          </p:cNvPicPr>
          <p:nvPr/>
        </p:nvPicPr>
        <p:blipFill>
          <a:blip r:embed="rId2"/>
          <a:srcRect t="-9550" b="9550"/>
          <a:stretch>
            <a:fillRect/>
          </a:stretch>
        </p:blipFill>
        <p:spPr bwMode="auto">
          <a:xfrm>
            <a:off x="-1" y="123385"/>
            <a:ext cx="10691814" cy="5932170"/>
          </a:xfrm>
          <a:prstGeom prst="rect">
            <a:avLst/>
          </a:prstGeom>
          <a:noFill/>
        </p:spPr>
      </p:pic>
      <p:sp>
        <p:nvSpPr>
          <p:cNvPr id="3" name="TextBox 2">
            <a:extLst>
              <a:ext uri="{FF2B5EF4-FFF2-40B4-BE49-F238E27FC236}">
                <a16:creationId xmlns:a16="http://schemas.microsoft.com/office/drawing/2014/main" id="{D063C5BE-6A3D-0F64-733F-0C1B080DAA18}"/>
              </a:ext>
            </a:extLst>
          </p:cNvPr>
          <p:cNvSpPr txBox="1"/>
          <p:nvPr/>
        </p:nvSpPr>
        <p:spPr>
          <a:xfrm>
            <a:off x="1526580" y="1973821"/>
            <a:ext cx="8338779" cy="461665"/>
          </a:xfrm>
          <a:prstGeom prst="rect">
            <a:avLst/>
          </a:prstGeom>
          <a:noFill/>
        </p:spPr>
        <p:txBody>
          <a:bodyPr wrap="square">
            <a:spAutoFit/>
          </a:bodyPr>
          <a:lstStyle/>
          <a:p>
            <a:r>
              <a:rPr lang="en-US" sz="2400" dirty="0"/>
              <a:t>Technical Execution Steps  on atomic red team</a:t>
            </a:r>
          </a:p>
        </p:txBody>
      </p:sp>
      <p:sp>
        <p:nvSpPr>
          <p:cNvPr id="5" name="TextBox 4">
            <a:extLst>
              <a:ext uri="{FF2B5EF4-FFF2-40B4-BE49-F238E27FC236}">
                <a16:creationId xmlns:a16="http://schemas.microsoft.com/office/drawing/2014/main" id="{29B065F9-161C-38C4-154A-B344B803E01C}"/>
              </a:ext>
            </a:extLst>
          </p:cNvPr>
          <p:cNvSpPr txBox="1"/>
          <p:nvPr/>
        </p:nvSpPr>
        <p:spPr>
          <a:xfrm>
            <a:off x="314960" y="2483639"/>
            <a:ext cx="5344160" cy="369332"/>
          </a:xfrm>
          <a:prstGeom prst="rect">
            <a:avLst/>
          </a:prstGeom>
          <a:noFill/>
        </p:spPr>
        <p:txBody>
          <a:bodyPr wrap="square">
            <a:spAutoFit/>
          </a:bodyPr>
          <a:lstStyle/>
          <a:p>
            <a:r>
              <a:rPr lang="en-US" dirty="0"/>
              <a:t>Step 1: Import the Atomic Red Team Module</a:t>
            </a:r>
          </a:p>
        </p:txBody>
      </p:sp>
      <p:pic>
        <p:nvPicPr>
          <p:cNvPr id="7" name="Picture 6">
            <a:extLst>
              <a:ext uri="{FF2B5EF4-FFF2-40B4-BE49-F238E27FC236}">
                <a16:creationId xmlns:a16="http://schemas.microsoft.com/office/drawing/2014/main" id="{5406AA7B-5413-5364-7210-15F12C20E4A4}"/>
              </a:ext>
            </a:extLst>
          </p:cNvPr>
          <p:cNvPicPr>
            <a:picLocks noChangeAspect="1"/>
          </p:cNvPicPr>
          <p:nvPr/>
        </p:nvPicPr>
        <p:blipFill>
          <a:blip r:embed="rId3"/>
          <a:stretch>
            <a:fillRect/>
          </a:stretch>
        </p:blipFill>
        <p:spPr>
          <a:xfrm>
            <a:off x="833120" y="2883468"/>
            <a:ext cx="7849280" cy="632515"/>
          </a:xfrm>
          <a:prstGeom prst="rect">
            <a:avLst/>
          </a:prstGeom>
        </p:spPr>
      </p:pic>
      <p:sp>
        <p:nvSpPr>
          <p:cNvPr id="9" name="TextBox 8">
            <a:extLst>
              <a:ext uri="{FF2B5EF4-FFF2-40B4-BE49-F238E27FC236}">
                <a16:creationId xmlns:a16="http://schemas.microsoft.com/office/drawing/2014/main" id="{F2421839-4A34-BDAC-A9D4-1FF1A65CEA79}"/>
              </a:ext>
            </a:extLst>
          </p:cNvPr>
          <p:cNvSpPr txBox="1"/>
          <p:nvPr/>
        </p:nvSpPr>
        <p:spPr>
          <a:xfrm>
            <a:off x="314960" y="4254408"/>
            <a:ext cx="5344160" cy="369332"/>
          </a:xfrm>
          <a:prstGeom prst="rect">
            <a:avLst/>
          </a:prstGeom>
          <a:noFill/>
        </p:spPr>
        <p:txBody>
          <a:bodyPr wrap="square">
            <a:spAutoFit/>
          </a:bodyPr>
          <a:lstStyle/>
          <a:p>
            <a:r>
              <a:rPr lang="en-US" dirty="0"/>
              <a:t>Step 2: Execute the Specific Attack Test</a:t>
            </a:r>
          </a:p>
        </p:txBody>
      </p:sp>
      <p:pic>
        <p:nvPicPr>
          <p:cNvPr id="11" name="Picture 10">
            <a:extLst>
              <a:ext uri="{FF2B5EF4-FFF2-40B4-BE49-F238E27FC236}">
                <a16:creationId xmlns:a16="http://schemas.microsoft.com/office/drawing/2014/main" id="{C4C5846C-5424-FADF-4EC4-FC05C1288934}"/>
              </a:ext>
            </a:extLst>
          </p:cNvPr>
          <p:cNvPicPr>
            <a:picLocks noChangeAspect="1"/>
          </p:cNvPicPr>
          <p:nvPr/>
        </p:nvPicPr>
        <p:blipFill>
          <a:blip r:embed="rId4"/>
          <a:stretch>
            <a:fillRect/>
          </a:stretch>
        </p:blipFill>
        <p:spPr>
          <a:xfrm>
            <a:off x="833120" y="4813874"/>
            <a:ext cx="2880610" cy="510584"/>
          </a:xfrm>
          <a:prstGeom prst="rect">
            <a:avLst/>
          </a:prstGeom>
        </p:spPr>
      </p:pic>
      <p:sp>
        <p:nvSpPr>
          <p:cNvPr id="6" name="TextBox 5">
            <a:extLst>
              <a:ext uri="{FF2B5EF4-FFF2-40B4-BE49-F238E27FC236}">
                <a16:creationId xmlns:a16="http://schemas.microsoft.com/office/drawing/2014/main" id="{B5BE6857-C215-55B3-B3FE-6722DCAD8652}"/>
              </a:ext>
            </a:extLst>
          </p:cNvPr>
          <p:cNvSpPr txBox="1"/>
          <p:nvPr/>
        </p:nvSpPr>
        <p:spPr>
          <a:xfrm>
            <a:off x="2520392" y="6424887"/>
            <a:ext cx="6162008" cy="369332"/>
          </a:xfrm>
          <a:prstGeom prst="rect">
            <a:avLst/>
          </a:prstGeom>
          <a:noFill/>
        </p:spPr>
        <p:txBody>
          <a:bodyPr wrap="none" rtlCol="0">
            <a:spAutoFit/>
          </a:bodyPr>
          <a:lstStyle/>
          <a:p>
            <a:r>
              <a:rPr lang="en-US" dirty="0"/>
              <a:t>Depend on </a:t>
            </a:r>
            <a:r>
              <a:rPr lang="en-US" b="1" dirty="0"/>
              <a:t>MITRE ATT&amp;CK ID </a:t>
            </a:r>
            <a:r>
              <a:rPr lang="en-US" dirty="0"/>
              <a:t>to simulate a specific attack  </a:t>
            </a:r>
          </a:p>
        </p:txBody>
      </p:sp>
      <p:cxnSp>
        <p:nvCxnSpPr>
          <p:cNvPr id="10" name="Straight Arrow Connector 9">
            <a:extLst>
              <a:ext uri="{FF2B5EF4-FFF2-40B4-BE49-F238E27FC236}">
                <a16:creationId xmlns:a16="http://schemas.microsoft.com/office/drawing/2014/main" id="{F31F267F-FC2B-EB16-79A1-BDBD5CAD30F4}"/>
              </a:ext>
            </a:extLst>
          </p:cNvPr>
          <p:cNvCxnSpPr/>
          <p:nvPr/>
        </p:nvCxnSpPr>
        <p:spPr>
          <a:xfrm flipH="1" flipV="1">
            <a:off x="3108960" y="5198515"/>
            <a:ext cx="817581" cy="122637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BF58761-43E8-6C06-6529-9B744713FD07}"/>
              </a:ext>
            </a:extLst>
          </p:cNvPr>
          <p:cNvSpPr txBox="1"/>
          <p:nvPr/>
        </p:nvSpPr>
        <p:spPr>
          <a:xfrm>
            <a:off x="1945772" y="1168213"/>
            <a:ext cx="5623975" cy="461665"/>
          </a:xfrm>
          <a:prstGeom prst="rect">
            <a:avLst/>
          </a:prstGeom>
          <a:noFill/>
        </p:spPr>
        <p:txBody>
          <a:bodyPr wrap="none" rtlCol="0">
            <a:spAutoFit/>
          </a:bodyPr>
          <a:lstStyle/>
          <a:p>
            <a:r>
              <a:rPr lang="en-US" sz="2400" b="1" dirty="0"/>
              <a:t>Simulate attack using atomic red team </a:t>
            </a:r>
          </a:p>
        </p:txBody>
      </p:sp>
    </p:spTree>
    <p:extLst>
      <p:ext uri="{BB962C8B-B14F-4D97-AF65-F5344CB8AC3E}">
        <p14:creationId xmlns:p14="http://schemas.microsoft.com/office/powerpoint/2010/main" val="36280860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FC3D1-34F0-8490-E474-D29EA6CCFBAC}"/>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643D5AD7-F3F3-F513-9D23-400A8B670188}"/>
              </a:ext>
            </a:extLst>
          </p:cNvPr>
          <p:cNvPicPr>
            <a:picLocks noChangeAspect="1" noChangeArrowheads="1"/>
          </p:cNvPicPr>
          <p:nvPr/>
        </p:nvPicPr>
        <p:blipFill>
          <a:blip r:embed="rId2"/>
          <a:srcRect t="-9550" b="9550"/>
          <a:stretch>
            <a:fillRect/>
          </a:stretch>
        </p:blipFill>
        <p:spPr bwMode="auto">
          <a:xfrm>
            <a:off x="0" y="-155027"/>
            <a:ext cx="10691814" cy="5932170"/>
          </a:xfrm>
          <a:prstGeom prst="rect">
            <a:avLst/>
          </a:prstGeom>
          <a:noFill/>
        </p:spPr>
      </p:pic>
      <p:pic>
        <p:nvPicPr>
          <p:cNvPr id="7" name="Picture 6">
            <a:extLst>
              <a:ext uri="{FF2B5EF4-FFF2-40B4-BE49-F238E27FC236}">
                <a16:creationId xmlns:a16="http://schemas.microsoft.com/office/drawing/2014/main" id="{F2337BBD-54E1-3B74-2DFD-D25D65BFD66B}"/>
              </a:ext>
            </a:extLst>
          </p:cNvPr>
          <p:cNvPicPr>
            <a:picLocks noChangeAspect="1"/>
          </p:cNvPicPr>
          <p:nvPr/>
        </p:nvPicPr>
        <p:blipFill>
          <a:blip r:embed="rId3"/>
          <a:srcRect t="701"/>
          <a:stretch>
            <a:fillRect/>
          </a:stretch>
        </p:blipFill>
        <p:spPr>
          <a:xfrm>
            <a:off x="0" y="2291924"/>
            <a:ext cx="10691813" cy="3981321"/>
          </a:xfrm>
          <a:prstGeom prst="rect">
            <a:avLst/>
          </a:prstGeom>
        </p:spPr>
      </p:pic>
      <p:sp>
        <p:nvSpPr>
          <p:cNvPr id="11" name="TextBox 10">
            <a:extLst>
              <a:ext uri="{FF2B5EF4-FFF2-40B4-BE49-F238E27FC236}">
                <a16:creationId xmlns:a16="http://schemas.microsoft.com/office/drawing/2014/main" id="{50726EF2-05EF-FB68-9F23-AE1B7D93F701}"/>
              </a:ext>
            </a:extLst>
          </p:cNvPr>
          <p:cNvSpPr txBox="1"/>
          <p:nvPr/>
        </p:nvSpPr>
        <p:spPr>
          <a:xfrm>
            <a:off x="3102098" y="1564704"/>
            <a:ext cx="5344160" cy="369332"/>
          </a:xfrm>
          <a:prstGeom prst="rect">
            <a:avLst/>
          </a:prstGeom>
          <a:noFill/>
        </p:spPr>
        <p:txBody>
          <a:bodyPr wrap="square">
            <a:spAutoFit/>
          </a:bodyPr>
          <a:lstStyle/>
          <a:p>
            <a:r>
              <a:rPr lang="en-US" dirty="0"/>
              <a:t>Created a new local user named </a:t>
            </a:r>
            <a:r>
              <a:rPr lang="en-US" b="1" dirty="0" err="1">
                <a:latin typeface="Courier New" panose="02070309020205020404" pitchFamily="49" charset="0"/>
              </a:rPr>
              <a:t>NewLocalUser</a:t>
            </a:r>
            <a:endParaRPr lang="en-US" dirty="0"/>
          </a:p>
        </p:txBody>
      </p:sp>
      <p:cxnSp>
        <p:nvCxnSpPr>
          <p:cNvPr id="13" name="Straight Arrow Connector 12">
            <a:extLst>
              <a:ext uri="{FF2B5EF4-FFF2-40B4-BE49-F238E27FC236}">
                <a16:creationId xmlns:a16="http://schemas.microsoft.com/office/drawing/2014/main" id="{CBB8E007-B062-1E51-3B10-0B58E4DD87E7}"/>
              </a:ext>
            </a:extLst>
          </p:cNvPr>
          <p:cNvCxnSpPr>
            <a:cxnSpLocks/>
          </p:cNvCxnSpPr>
          <p:nvPr/>
        </p:nvCxnSpPr>
        <p:spPr>
          <a:xfrm>
            <a:off x="5943600" y="1934036"/>
            <a:ext cx="1452880" cy="175404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94DB76A2-B9B7-1E41-7C6D-A044921343B2}"/>
              </a:ext>
            </a:extLst>
          </p:cNvPr>
          <p:cNvSpPr txBox="1"/>
          <p:nvPr/>
        </p:nvSpPr>
        <p:spPr>
          <a:xfrm>
            <a:off x="1488440" y="6631133"/>
            <a:ext cx="6761480" cy="369332"/>
          </a:xfrm>
          <a:prstGeom prst="rect">
            <a:avLst/>
          </a:prstGeom>
          <a:noFill/>
        </p:spPr>
        <p:txBody>
          <a:bodyPr wrap="square">
            <a:spAutoFit/>
          </a:bodyPr>
          <a:lstStyle/>
          <a:p>
            <a:r>
              <a:rPr lang="en-US" dirty="0"/>
              <a:t>Successfully added the user to the </a:t>
            </a:r>
            <a:r>
              <a:rPr lang="en-US" b="1" dirty="0">
                <a:latin typeface="Courier New" panose="02070309020205020404" pitchFamily="49" charset="0"/>
              </a:rPr>
              <a:t>Administrators</a:t>
            </a:r>
            <a:r>
              <a:rPr lang="en-US" dirty="0"/>
              <a:t> group</a:t>
            </a:r>
          </a:p>
        </p:txBody>
      </p:sp>
      <p:cxnSp>
        <p:nvCxnSpPr>
          <p:cNvPr id="20" name="Straight Arrow Connector 19">
            <a:extLst>
              <a:ext uri="{FF2B5EF4-FFF2-40B4-BE49-F238E27FC236}">
                <a16:creationId xmlns:a16="http://schemas.microsoft.com/office/drawing/2014/main" id="{F84F8AF7-7CC8-DEF7-A263-58566E0EF1B6}"/>
              </a:ext>
            </a:extLst>
          </p:cNvPr>
          <p:cNvCxnSpPr>
            <a:cxnSpLocks/>
          </p:cNvCxnSpPr>
          <p:nvPr/>
        </p:nvCxnSpPr>
        <p:spPr>
          <a:xfrm flipH="1" flipV="1">
            <a:off x="3586480" y="4015333"/>
            <a:ext cx="1127760" cy="261580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BA606791-C4A5-2153-3335-48427F0A9D15}"/>
              </a:ext>
            </a:extLst>
          </p:cNvPr>
          <p:cNvSpPr txBox="1"/>
          <p:nvPr/>
        </p:nvSpPr>
        <p:spPr>
          <a:xfrm>
            <a:off x="5265868" y="7000465"/>
            <a:ext cx="2361304" cy="369332"/>
          </a:xfrm>
          <a:prstGeom prst="rect">
            <a:avLst/>
          </a:prstGeom>
          <a:noFill/>
        </p:spPr>
        <p:txBody>
          <a:bodyPr wrap="square">
            <a:spAutoFit/>
          </a:bodyPr>
          <a:lstStyle/>
          <a:p>
            <a:r>
              <a:rPr lang="ar-EG" dirty="0"/>
              <a:t>)</a:t>
            </a:r>
            <a:r>
              <a:rPr lang="en-US" dirty="0"/>
              <a:t>Privilege Escalation</a:t>
            </a:r>
            <a:r>
              <a:rPr lang="ar-EG" dirty="0"/>
              <a:t>(</a:t>
            </a:r>
            <a:endParaRPr lang="en-US" dirty="0"/>
          </a:p>
        </p:txBody>
      </p:sp>
    </p:spTree>
    <p:extLst>
      <p:ext uri="{BB962C8B-B14F-4D97-AF65-F5344CB8AC3E}">
        <p14:creationId xmlns:p14="http://schemas.microsoft.com/office/powerpoint/2010/main" val="3458578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A885E-6A47-A83C-FBA8-8D32F94E631E}"/>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CE7B6575-03CF-C408-5318-12717DD5EAD8}"/>
              </a:ext>
            </a:extLst>
          </p:cNvPr>
          <p:cNvPicPr>
            <a:picLocks noChangeAspect="1" noChangeArrowheads="1"/>
          </p:cNvPicPr>
          <p:nvPr/>
        </p:nvPicPr>
        <p:blipFill>
          <a:blip r:embed="rId2"/>
          <a:srcRect t="-9550" b="9550"/>
          <a:stretch>
            <a:fillRect/>
          </a:stretch>
        </p:blipFill>
        <p:spPr bwMode="auto">
          <a:xfrm>
            <a:off x="-1" y="0"/>
            <a:ext cx="10691814" cy="5932170"/>
          </a:xfrm>
          <a:prstGeom prst="rect">
            <a:avLst/>
          </a:prstGeom>
          <a:noFill/>
        </p:spPr>
      </p:pic>
      <p:sp>
        <p:nvSpPr>
          <p:cNvPr id="3" name="TextBox 2">
            <a:extLst>
              <a:ext uri="{FF2B5EF4-FFF2-40B4-BE49-F238E27FC236}">
                <a16:creationId xmlns:a16="http://schemas.microsoft.com/office/drawing/2014/main" id="{BF0CD7DC-0F07-F1B7-45C6-DD268916132C}"/>
              </a:ext>
            </a:extLst>
          </p:cNvPr>
          <p:cNvSpPr txBox="1"/>
          <p:nvPr/>
        </p:nvSpPr>
        <p:spPr>
          <a:xfrm>
            <a:off x="877729" y="1744980"/>
            <a:ext cx="5344160" cy="461665"/>
          </a:xfrm>
          <a:prstGeom prst="rect">
            <a:avLst/>
          </a:prstGeom>
          <a:noFill/>
        </p:spPr>
        <p:txBody>
          <a:bodyPr wrap="square">
            <a:spAutoFit/>
          </a:bodyPr>
          <a:lstStyle/>
          <a:p>
            <a:r>
              <a:rPr lang="en-US" sz="2400" dirty="0"/>
              <a:t>Alert Triage</a:t>
            </a:r>
            <a:r>
              <a:rPr lang="ar-EG" sz="2400" dirty="0"/>
              <a:t>: </a:t>
            </a:r>
            <a:endParaRPr lang="en-US" sz="2400" dirty="0"/>
          </a:p>
        </p:txBody>
      </p:sp>
      <p:graphicFrame>
        <p:nvGraphicFramePr>
          <p:cNvPr id="6" name="Table 5">
            <a:extLst>
              <a:ext uri="{FF2B5EF4-FFF2-40B4-BE49-F238E27FC236}">
                <a16:creationId xmlns:a16="http://schemas.microsoft.com/office/drawing/2014/main" id="{7E140AA8-368A-0C2C-F98E-1DA99B8EE67E}"/>
              </a:ext>
            </a:extLst>
          </p:cNvPr>
          <p:cNvGraphicFramePr>
            <a:graphicFrameLocks noGrp="1"/>
          </p:cNvGraphicFramePr>
          <p:nvPr>
            <p:extLst>
              <p:ext uri="{D42A27DB-BD31-4B8C-83A1-F6EECF244321}">
                <p14:modId xmlns:p14="http://schemas.microsoft.com/office/powerpoint/2010/main" val="1010868264"/>
              </p:ext>
            </p:extLst>
          </p:nvPr>
        </p:nvGraphicFramePr>
        <p:xfrm>
          <a:off x="877728" y="2713374"/>
          <a:ext cx="9282272" cy="3565506"/>
        </p:xfrm>
        <a:graphic>
          <a:graphicData uri="http://schemas.openxmlformats.org/drawingml/2006/table">
            <a:tbl>
              <a:tblPr bandRow="1">
                <a:tableStyleId>{00A15C55-8517-42AA-B614-E9B94910E393}</a:tableStyleId>
              </a:tblPr>
              <a:tblGrid>
                <a:gridCol w="2536032">
                  <a:extLst>
                    <a:ext uri="{9D8B030D-6E8A-4147-A177-3AD203B41FA5}">
                      <a16:colId xmlns:a16="http://schemas.microsoft.com/office/drawing/2014/main" val="4042349364"/>
                    </a:ext>
                  </a:extLst>
                </a:gridCol>
                <a:gridCol w="6746240">
                  <a:extLst>
                    <a:ext uri="{9D8B030D-6E8A-4147-A177-3AD203B41FA5}">
                      <a16:colId xmlns:a16="http://schemas.microsoft.com/office/drawing/2014/main" val="3664509633"/>
                    </a:ext>
                  </a:extLst>
                </a:gridCol>
              </a:tblGrid>
              <a:tr h="594251">
                <a:tc>
                  <a:txBody>
                    <a:bodyPr/>
                    <a:lstStyle/>
                    <a:p>
                      <a:pPr algn="ctr"/>
                      <a:r>
                        <a:rPr lang="en-US" dirty="0"/>
                        <a:t>Alert Name</a:t>
                      </a:r>
                    </a:p>
                  </a:txBody>
                  <a:tcPr/>
                </a:tc>
                <a:tc>
                  <a:txBody>
                    <a:bodyPr/>
                    <a:lstStyle/>
                    <a:p>
                      <a:r>
                        <a:rPr lang="en-US" sz="1800" b="0" dirty="0"/>
                        <a:t>Privilege Escalation</a:t>
                      </a:r>
                      <a:endParaRPr lang="en-US" b="0" dirty="0"/>
                    </a:p>
                  </a:txBody>
                  <a:tcPr/>
                </a:tc>
                <a:extLst>
                  <a:ext uri="{0D108BD9-81ED-4DB2-BD59-A6C34878D82A}">
                    <a16:rowId xmlns:a16="http://schemas.microsoft.com/office/drawing/2014/main" val="3064936987"/>
                  </a:ext>
                </a:extLst>
              </a:tr>
              <a:tr h="594251">
                <a:tc>
                  <a:txBody>
                    <a:bodyPr/>
                    <a:lstStyle/>
                    <a:p>
                      <a:pPr algn="ctr"/>
                      <a:r>
                        <a:rPr lang="en-US" dirty="0"/>
                        <a:t>Severity</a:t>
                      </a:r>
                    </a:p>
                  </a:txBody>
                  <a:tcPr/>
                </a:tc>
                <a:tc>
                  <a:txBody>
                    <a:bodyPr/>
                    <a:lstStyle/>
                    <a:p>
                      <a:r>
                        <a:rPr lang="en-US" dirty="0"/>
                        <a:t>High</a:t>
                      </a:r>
                    </a:p>
                  </a:txBody>
                  <a:tcPr/>
                </a:tc>
                <a:extLst>
                  <a:ext uri="{0D108BD9-81ED-4DB2-BD59-A6C34878D82A}">
                    <a16:rowId xmlns:a16="http://schemas.microsoft.com/office/drawing/2014/main" val="3178792509"/>
                  </a:ext>
                </a:extLst>
              </a:tr>
              <a:tr h="594251">
                <a:tc>
                  <a:txBody>
                    <a:bodyPr/>
                    <a:lstStyle/>
                    <a:p>
                      <a:pPr algn="ctr"/>
                      <a:r>
                        <a:rPr lang="en-US" dirty="0"/>
                        <a:t>Host</a:t>
                      </a:r>
                    </a:p>
                  </a:txBody>
                  <a:tcPr/>
                </a:tc>
                <a:tc>
                  <a:txBody>
                    <a:bodyPr/>
                    <a:lstStyle/>
                    <a:p>
                      <a:r>
                        <a:rPr lang="en-US" dirty="0"/>
                        <a:t>Asus </a:t>
                      </a:r>
                    </a:p>
                  </a:txBody>
                  <a:tcPr/>
                </a:tc>
                <a:extLst>
                  <a:ext uri="{0D108BD9-81ED-4DB2-BD59-A6C34878D82A}">
                    <a16:rowId xmlns:a16="http://schemas.microsoft.com/office/drawing/2014/main" val="2880365340"/>
                  </a:ext>
                </a:extLst>
              </a:tr>
              <a:tr h="594251">
                <a:tc>
                  <a:txBody>
                    <a:bodyPr/>
                    <a:lstStyle/>
                    <a:p>
                      <a:pPr algn="ctr"/>
                      <a:r>
                        <a:rPr lang="en-US" dirty="0"/>
                        <a:t>MITRE</a:t>
                      </a:r>
                    </a:p>
                  </a:txBody>
                  <a:tcPr/>
                </a:tc>
                <a:tc>
                  <a:txBody>
                    <a:bodyPr/>
                    <a:lstStyle/>
                    <a:p>
                      <a:r>
                        <a:rPr lang="en-US" dirty="0"/>
                        <a:t>T1098</a:t>
                      </a:r>
                    </a:p>
                  </a:txBody>
                  <a:tcPr/>
                </a:tc>
                <a:extLst>
                  <a:ext uri="{0D108BD9-81ED-4DB2-BD59-A6C34878D82A}">
                    <a16:rowId xmlns:a16="http://schemas.microsoft.com/office/drawing/2014/main" val="3666350517"/>
                  </a:ext>
                </a:extLst>
              </a:tr>
              <a:tr h="594251">
                <a:tc>
                  <a:txBody>
                    <a:bodyPr/>
                    <a:lstStyle/>
                    <a:p>
                      <a:pPr algn="ctr"/>
                      <a:r>
                        <a:rPr lang="en-US" dirty="0"/>
                        <a:t>Status</a:t>
                      </a:r>
                    </a:p>
                  </a:txBody>
                  <a:tcPr/>
                </a:tc>
                <a:tc>
                  <a:txBody>
                    <a:bodyPr/>
                    <a:lstStyle/>
                    <a:p>
                      <a:r>
                        <a:rPr lang="en-US" dirty="0"/>
                        <a:t>True positive </a:t>
                      </a:r>
                    </a:p>
                  </a:txBody>
                  <a:tcPr/>
                </a:tc>
                <a:extLst>
                  <a:ext uri="{0D108BD9-81ED-4DB2-BD59-A6C34878D82A}">
                    <a16:rowId xmlns:a16="http://schemas.microsoft.com/office/drawing/2014/main" val="1268743883"/>
                  </a:ext>
                </a:extLst>
              </a:tr>
              <a:tr h="594251">
                <a:tc>
                  <a:txBody>
                    <a:bodyPr/>
                    <a:lstStyle/>
                    <a:p>
                      <a:pPr algn="ctr"/>
                      <a:r>
                        <a:rPr lang="en-US" dirty="0"/>
                        <a:t>Analyst Notes</a:t>
                      </a:r>
                    </a:p>
                  </a:txBody>
                  <a:tcPr/>
                </a:tc>
                <a:tc>
                  <a:txBody>
                    <a:bodyPr/>
                    <a:lstStyle/>
                    <a:p>
                      <a:r>
                        <a:rPr lang="en-US" dirty="0"/>
                        <a:t>Unauthorized User Added to Local Administrators Group </a:t>
                      </a:r>
                    </a:p>
                  </a:txBody>
                  <a:tcPr/>
                </a:tc>
                <a:extLst>
                  <a:ext uri="{0D108BD9-81ED-4DB2-BD59-A6C34878D82A}">
                    <a16:rowId xmlns:a16="http://schemas.microsoft.com/office/drawing/2014/main" val="3632913206"/>
                  </a:ext>
                </a:extLst>
              </a:tr>
            </a:tbl>
          </a:graphicData>
        </a:graphic>
      </p:graphicFrame>
    </p:spTree>
    <p:extLst>
      <p:ext uri="{BB962C8B-B14F-4D97-AF65-F5344CB8AC3E}">
        <p14:creationId xmlns:p14="http://schemas.microsoft.com/office/powerpoint/2010/main" val="25218800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CCBB4-BBD6-41CC-A4AE-2984296E4877}"/>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CFFC9C01-1AEE-58CD-D69C-755FC0C5A2CB}"/>
              </a:ext>
            </a:extLst>
          </p:cNvPr>
          <p:cNvPicPr>
            <a:picLocks noChangeAspect="1" noChangeArrowheads="1"/>
          </p:cNvPicPr>
          <p:nvPr/>
        </p:nvPicPr>
        <p:blipFill>
          <a:blip r:embed="rId2"/>
          <a:srcRect t="-9550" b="9550"/>
          <a:stretch>
            <a:fillRect/>
          </a:stretch>
        </p:blipFill>
        <p:spPr bwMode="auto">
          <a:xfrm>
            <a:off x="0" y="-225088"/>
            <a:ext cx="10691814" cy="5932170"/>
          </a:xfrm>
          <a:prstGeom prst="rect">
            <a:avLst/>
          </a:prstGeom>
          <a:noFill/>
        </p:spPr>
      </p:pic>
      <p:sp>
        <p:nvSpPr>
          <p:cNvPr id="9" name="TextBox 8">
            <a:extLst>
              <a:ext uri="{FF2B5EF4-FFF2-40B4-BE49-F238E27FC236}">
                <a16:creationId xmlns:a16="http://schemas.microsoft.com/office/drawing/2014/main" id="{9EAFBB5D-1631-2079-A1A7-B5570939EF5D}"/>
              </a:ext>
            </a:extLst>
          </p:cNvPr>
          <p:cNvSpPr txBox="1"/>
          <p:nvPr/>
        </p:nvSpPr>
        <p:spPr>
          <a:xfrm>
            <a:off x="2540000" y="699185"/>
            <a:ext cx="5425440" cy="461665"/>
          </a:xfrm>
          <a:prstGeom prst="rect">
            <a:avLst/>
          </a:prstGeom>
          <a:noFill/>
        </p:spPr>
        <p:txBody>
          <a:bodyPr wrap="square">
            <a:spAutoFit/>
          </a:bodyPr>
          <a:lstStyle/>
          <a:p>
            <a:r>
              <a:rPr lang="en-US" sz="2400" dirty="0"/>
              <a:t>Attack &amp; Detection Documentation</a:t>
            </a:r>
          </a:p>
        </p:txBody>
      </p:sp>
      <p:sp>
        <p:nvSpPr>
          <p:cNvPr id="11" name="TextBox 10">
            <a:extLst>
              <a:ext uri="{FF2B5EF4-FFF2-40B4-BE49-F238E27FC236}">
                <a16:creationId xmlns:a16="http://schemas.microsoft.com/office/drawing/2014/main" id="{27A27CF3-67ED-715C-C020-53968946BBE6}"/>
              </a:ext>
            </a:extLst>
          </p:cNvPr>
          <p:cNvSpPr txBox="1"/>
          <p:nvPr/>
        </p:nvSpPr>
        <p:spPr>
          <a:xfrm>
            <a:off x="751840" y="1983742"/>
            <a:ext cx="7802880" cy="369332"/>
          </a:xfrm>
          <a:prstGeom prst="rect">
            <a:avLst/>
          </a:prstGeom>
          <a:noFill/>
        </p:spPr>
        <p:txBody>
          <a:bodyPr wrap="square">
            <a:spAutoFit/>
          </a:bodyPr>
          <a:lstStyle/>
          <a:p>
            <a:r>
              <a:rPr lang="en-US" dirty="0"/>
              <a:t>• </a:t>
            </a:r>
            <a:r>
              <a:rPr lang="en-US" b="1" dirty="0"/>
              <a:t>Target Machine (Victim):</a:t>
            </a:r>
            <a:r>
              <a:rPr lang="en-US" dirty="0"/>
              <a:t> Windows 11 VM (Host Name: </a:t>
            </a:r>
            <a:r>
              <a:rPr lang="en-US" dirty="0" err="1">
                <a:latin typeface="Courier New" panose="02070309020205020404" pitchFamily="49" charset="0"/>
              </a:rPr>
              <a:t>asus</a:t>
            </a:r>
            <a:r>
              <a:rPr lang="en-US" dirty="0"/>
              <a:t>)</a:t>
            </a:r>
          </a:p>
        </p:txBody>
      </p:sp>
      <p:sp>
        <p:nvSpPr>
          <p:cNvPr id="13" name="TextBox 12">
            <a:extLst>
              <a:ext uri="{FF2B5EF4-FFF2-40B4-BE49-F238E27FC236}">
                <a16:creationId xmlns:a16="http://schemas.microsoft.com/office/drawing/2014/main" id="{B9EBA511-3D99-3062-2376-28951C6BD2EE}"/>
              </a:ext>
            </a:extLst>
          </p:cNvPr>
          <p:cNvSpPr txBox="1"/>
          <p:nvPr/>
        </p:nvSpPr>
        <p:spPr>
          <a:xfrm>
            <a:off x="751840" y="1669624"/>
            <a:ext cx="5425440" cy="369332"/>
          </a:xfrm>
          <a:prstGeom prst="rect">
            <a:avLst/>
          </a:prstGeom>
          <a:noFill/>
        </p:spPr>
        <p:txBody>
          <a:bodyPr wrap="square">
            <a:spAutoFit/>
          </a:bodyPr>
          <a:lstStyle/>
          <a:p>
            <a:r>
              <a:rPr lang="en-US" dirty="0"/>
              <a:t>• </a:t>
            </a:r>
            <a:r>
              <a:rPr lang="en-US" b="1" dirty="0"/>
              <a:t>Tool Used:</a:t>
            </a:r>
            <a:r>
              <a:rPr lang="en-US" dirty="0"/>
              <a:t> Atomic Red Team (ART)</a:t>
            </a:r>
          </a:p>
        </p:txBody>
      </p:sp>
      <p:sp>
        <p:nvSpPr>
          <p:cNvPr id="15" name="TextBox 14">
            <a:extLst>
              <a:ext uri="{FF2B5EF4-FFF2-40B4-BE49-F238E27FC236}">
                <a16:creationId xmlns:a16="http://schemas.microsoft.com/office/drawing/2014/main" id="{8FDCA55E-9CE7-2AD9-ADD2-88281B236134}"/>
              </a:ext>
            </a:extLst>
          </p:cNvPr>
          <p:cNvSpPr txBox="1"/>
          <p:nvPr/>
        </p:nvSpPr>
        <p:spPr>
          <a:xfrm>
            <a:off x="751840" y="2364569"/>
            <a:ext cx="5425440" cy="369332"/>
          </a:xfrm>
          <a:prstGeom prst="rect">
            <a:avLst/>
          </a:prstGeom>
          <a:noFill/>
        </p:spPr>
        <p:txBody>
          <a:bodyPr wrap="square">
            <a:spAutoFit/>
          </a:bodyPr>
          <a:lstStyle/>
          <a:p>
            <a:r>
              <a:rPr lang="en-US" dirty="0"/>
              <a:t>• </a:t>
            </a:r>
            <a:r>
              <a:rPr lang="en-US" b="1" dirty="0"/>
              <a:t>MITRE ATT&amp;CK Tactic:</a:t>
            </a:r>
            <a:r>
              <a:rPr lang="en-US" dirty="0"/>
              <a:t> Credential Access</a:t>
            </a:r>
          </a:p>
        </p:txBody>
      </p:sp>
      <p:sp>
        <p:nvSpPr>
          <p:cNvPr id="17" name="TextBox 16">
            <a:extLst>
              <a:ext uri="{FF2B5EF4-FFF2-40B4-BE49-F238E27FC236}">
                <a16:creationId xmlns:a16="http://schemas.microsoft.com/office/drawing/2014/main" id="{F084D685-C546-0D21-7A4D-DC892B63010A}"/>
              </a:ext>
            </a:extLst>
          </p:cNvPr>
          <p:cNvSpPr txBox="1"/>
          <p:nvPr/>
        </p:nvSpPr>
        <p:spPr>
          <a:xfrm>
            <a:off x="751840" y="2690181"/>
            <a:ext cx="7589520" cy="369332"/>
          </a:xfrm>
          <a:prstGeom prst="rect">
            <a:avLst/>
          </a:prstGeom>
          <a:noFill/>
        </p:spPr>
        <p:txBody>
          <a:bodyPr wrap="square">
            <a:spAutoFit/>
          </a:bodyPr>
          <a:lstStyle/>
          <a:p>
            <a:r>
              <a:rPr lang="en-US" dirty="0"/>
              <a:t>• </a:t>
            </a:r>
            <a:r>
              <a:rPr lang="en-US" b="1" dirty="0"/>
              <a:t>MITRE ATT&amp;CK Technique:</a:t>
            </a:r>
            <a:r>
              <a:rPr lang="en-US" dirty="0"/>
              <a:t> Brute Force </a:t>
            </a:r>
            <a:r>
              <a:rPr lang="ar-EG" dirty="0"/>
              <a:t>)</a:t>
            </a:r>
            <a:r>
              <a:rPr lang="en-US" dirty="0"/>
              <a:t> </a:t>
            </a:r>
            <a:r>
              <a:rPr lang="en-US" b="1" dirty="0"/>
              <a:t>T1110</a:t>
            </a:r>
            <a:r>
              <a:rPr lang="ar-EG" dirty="0"/>
              <a:t>( </a:t>
            </a:r>
            <a:endParaRPr lang="en-US" dirty="0"/>
          </a:p>
        </p:txBody>
      </p:sp>
      <p:sp>
        <p:nvSpPr>
          <p:cNvPr id="19" name="TextBox 18">
            <a:extLst>
              <a:ext uri="{FF2B5EF4-FFF2-40B4-BE49-F238E27FC236}">
                <a16:creationId xmlns:a16="http://schemas.microsoft.com/office/drawing/2014/main" id="{515AE1C8-59FC-38EE-E007-E5F0D146BC32}"/>
              </a:ext>
            </a:extLst>
          </p:cNvPr>
          <p:cNvSpPr txBox="1"/>
          <p:nvPr/>
        </p:nvSpPr>
        <p:spPr>
          <a:xfrm>
            <a:off x="751840" y="3059513"/>
            <a:ext cx="7725186" cy="646331"/>
          </a:xfrm>
          <a:prstGeom prst="rect">
            <a:avLst/>
          </a:prstGeom>
          <a:noFill/>
        </p:spPr>
        <p:txBody>
          <a:bodyPr wrap="square">
            <a:spAutoFit/>
          </a:bodyPr>
          <a:lstStyle/>
          <a:p>
            <a:r>
              <a:rPr lang="en-US" dirty="0"/>
              <a:t>• </a:t>
            </a:r>
            <a:r>
              <a:rPr lang="en-US" b="1" dirty="0"/>
              <a:t>Simulation Mechanism:</a:t>
            </a:r>
            <a:r>
              <a:rPr lang="en-US" dirty="0"/>
              <a:t> Self-Simulation (The host executes the technique locally to simulate a compromised scenario).</a:t>
            </a:r>
          </a:p>
        </p:txBody>
      </p:sp>
      <p:sp>
        <p:nvSpPr>
          <p:cNvPr id="21" name="TextBox 20">
            <a:extLst>
              <a:ext uri="{FF2B5EF4-FFF2-40B4-BE49-F238E27FC236}">
                <a16:creationId xmlns:a16="http://schemas.microsoft.com/office/drawing/2014/main" id="{64EEAE56-2FD9-63EF-B0E9-ED185D560E2E}"/>
              </a:ext>
            </a:extLst>
          </p:cNvPr>
          <p:cNvSpPr txBox="1"/>
          <p:nvPr/>
        </p:nvSpPr>
        <p:spPr>
          <a:xfrm>
            <a:off x="518160" y="3882405"/>
            <a:ext cx="9946640" cy="1754326"/>
          </a:xfrm>
          <a:prstGeom prst="rect">
            <a:avLst/>
          </a:prstGeom>
          <a:noFill/>
        </p:spPr>
        <p:txBody>
          <a:bodyPr wrap="square">
            <a:spAutoFit/>
          </a:bodyPr>
          <a:lstStyle/>
          <a:p>
            <a:pPr>
              <a:buNone/>
            </a:pPr>
            <a:r>
              <a:rPr lang="en-US" b="1" dirty="0"/>
              <a:t>Attack Scenario Description</a:t>
            </a:r>
          </a:p>
          <a:p>
            <a:pPr>
              <a:buNone/>
            </a:pPr>
            <a:r>
              <a:rPr lang="en-US" dirty="0"/>
              <a:t>This test simulates an authentication exploitation tactic where an attacker or an automated script attempts to gain unauthorized access to a system by guessing local account passwords. By executing a rapid looping sequence of incorrect login attempts, the simulation forces the Windows subsystem to trigger defense telemetry, allowing the SOC team to detect malicious credential-hunting patterns before a successful breach occurs.</a:t>
            </a:r>
          </a:p>
        </p:txBody>
      </p:sp>
      <p:sp>
        <p:nvSpPr>
          <p:cNvPr id="23" name="TextBox 22">
            <a:extLst>
              <a:ext uri="{FF2B5EF4-FFF2-40B4-BE49-F238E27FC236}">
                <a16:creationId xmlns:a16="http://schemas.microsoft.com/office/drawing/2014/main" id="{D768F8BC-5969-FE8D-8D7E-E5BB8522E8D5}"/>
              </a:ext>
            </a:extLst>
          </p:cNvPr>
          <p:cNvSpPr txBox="1"/>
          <p:nvPr/>
        </p:nvSpPr>
        <p:spPr>
          <a:xfrm>
            <a:off x="518160" y="5707082"/>
            <a:ext cx="10173653" cy="1785104"/>
          </a:xfrm>
          <a:prstGeom prst="rect">
            <a:avLst/>
          </a:prstGeom>
          <a:noFill/>
        </p:spPr>
        <p:txBody>
          <a:bodyPr wrap="square">
            <a:spAutoFit/>
          </a:bodyPr>
          <a:lstStyle/>
          <a:p>
            <a:r>
              <a:rPr lang="en-US" sz="2000" b="1" dirty="0"/>
              <a:t>SIEM Rule Deployment</a:t>
            </a:r>
            <a:endParaRPr lang="ar-EG" sz="2000" b="1" dirty="0"/>
          </a:p>
          <a:p>
            <a:endParaRPr lang="ar-EG" dirty="0"/>
          </a:p>
          <a:p>
            <a:r>
              <a:rPr lang="en-US" dirty="0"/>
              <a:t>• </a:t>
            </a:r>
            <a:r>
              <a:rPr lang="en-US" b="1" dirty="0"/>
              <a:t>Rule Name:</a:t>
            </a:r>
            <a:r>
              <a:rPr lang="en-US" dirty="0"/>
              <a:t> Credential Access – Brute Force Detection</a:t>
            </a:r>
            <a:endParaRPr lang="ar-EG" dirty="0"/>
          </a:p>
          <a:p>
            <a:r>
              <a:rPr lang="en-US" dirty="0"/>
              <a:t>• </a:t>
            </a:r>
            <a:r>
              <a:rPr lang="en-US" b="1" dirty="0"/>
              <a:t>Severity:</a:t>
            </a:r>
            <a:r>
              <a:rPr lang="en-US" dirty="0"/>
              <a:t> Medium (Can be escalated to High if thresholds are breached within a short timeframe)</a:t>
            </a:r>
          </a:p>
          <a:p>
            <a:r>
              <a:rPr lang="en-US" dirty="0"/>
              <a:t>•</a:t>
            </a:r>
            <a:r>
              <a:rPr lang="en-US" b="1" dirty="0"/>
              <a:t> Detection Logic (Event ID):</a:t>
            </a:r>
            <a:r>
              <a:rPr lang="en-US" dirty="0"/>
              <a:t> 4625</a:t>
            </a:r>
          </a:p>
          <a:p>
            <a:endParaRPr lang="en-US" dirty="0"/>
          </a:p>
        </p:txBody>
      </p:sp>
      <p:sp>
        <p:nvSpPr>
          <p:cNvPr id="24" name="TextBox 23">
            <a:extLst>
              <a:ext uri="{FF2B5EF4-FFF2-40B4-BE49-F238E27FC236}">
                <a16:creationId xmlns:a16="http://schemas.microsoft.com/office/drawing/2014/main" id="{E27641D4-9D1F-72DD-245B-84BD3E481310}"/>
              </a:ext>
            </a:extLst>
          </p:cNvPr>
          <p:cNvSpPr txBox="1"/>
          <p:nvPr/>
        </p:nvSpPr>
        <p:spPr>
          <a:xfrm>
            <a:off x="518160" y="1306763"/>
            <a:ext cx="3747116" cy="400110"/>
          </a:xfrm>
          <a:prstGeom prst="rect">
            <a:avLst/>
          </a:prstGeom>
          <a:noFill/>
        </p:spPr>
        <p:txBody>
          <a:bodyPr wrap="none" rtlCol="0">
            <a:spAutoFit/>
          </a:bodyPr>
          <a:lstStyle/>
          <a:p>
            <a:r>
              <a:rPr lang="en-US" sz="2000" b="1" dirty="0">
                <a:solidFill>
                  <a:srgbClr val="FF0000"/>
                </a:solidFill>
              </a:rPr>
              <a:t>Use Case 3:</a:t>
            </a:r>
            <a:r>
              <a:rPr lang="en-US" sz="2000" b="1" dirty="0"/>
              <a:t> Brute Force attack</a:t>
            </a:r>
          </a:p>
        </p:txBody>
      </p:sp>
    </p:spTree>
    <p:extLst>
      <p:ext uri="{BB962C8B-B14F-4D97-AF65-F5344CB8AC3E}">
        <p14:creationId xmlns:p14="http://schemas.microsoft.com/office/powerpoint/2010/main" val="15483965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007B9-E0D3-7482-6D37-D64EA521B82D}"/>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AEE962B8-83A3-1B74-CFA1-9C831C2A4958}"/>
              </a:ext>
            </a:extLst>
          </p:cNvPr>
          <p:cNvPicPr>
            <a:picLocks noChangeAspect="1" noChangeArrowheads="1"/>
          </p:cNvPicPr>
          <p:nvPr/>
        </p:nvPicPr>
        <p:blipFill>
          <a:blip r:embed="rId2"/>
          <a:srcRect t="-9550" b="9550"/>
          <a:stretch>
            <a:fillRect/>
          </a:stretch>
        </p:blipFill>
        <p:spPr bwMode="auto">
          <a:xfrm>
            <a:off x="0" y="-379061"/>
            <a:ext cx="10691814" cy="5932170"/>
          </a:xfrm>
          <a:prstGeom prst="rect">
            <a:avLst/>
          </a:prstGeom>
          <a:noFill/>
        </p:spPr>
      </p:pic>
      <p:sp>
        <p:nvSpPr>
          <p:cNvPr id="15" name="TextBox 14">
            <a:extLst>
              <a:ext uri="{FF2B5EF4-FFF2-40B4-BE49-F238E27FC236}">
                <a16:creationId xmlns:a16="http://schemas.microsoft.com/office/drawing/2014/main" id="{15B51F01-0887-D505-C032-D1F4BE85768B}"/>
              </a:ext>
            </a:extLst>
          </p:cNvPr>
          <p:cNvSpPr txBox="1"/>
          <p:nvPr/>
        </p:nvSpPr>
        <p:spPr>
          <a:xfrm>
            <a:off x="2980073" y="1340927"/>
            <a:ext cx="5346550" cy="369332"/>
          </a:xfrm>
          <a:prstGeom prst="rect">
            <a:avLst/>
          </a:prstGeom>
          <a:noFill/>
        </p:spPr>
        <p:txBody>
          <a:bodyPr wrap="square">
            <a:spAutoFit/>
          </a:bodyPr>
          <a:lstStyle/>
          <a:p>
            <a:r>
              <a:rPr lang="en-US" dirty="0" err="1">
                <a:latin typeface="Courier New" panose="02070309020205020404" pitchFamily="49" charset="0"/>
              </a:rPr>
              <a:t>event_id</a:t>
            </a:r>
            <a:r>
              <a:rPr lang="en-US" dirty="0">
                <a:latin typeface="Courier New" panose="02070309020205020404" pitchFamily="49" charset="0"/>
              </a:rPr>
              <a:t>: 4625 (failed login )</a:t>
            </a:r>
            <a:r>
              <a:rPr lang="en-US" dirty="0"/>
              <a:t> </a:t>
            </a:r>
          </a:p>
        </p:txBody>
      </p:sp>
      <p:pic>
        <p:nvPicPr>
          <p:cNvPr id="14" name="Picture 13">
            <a:extLst>
              <a:ext uri="{FF2B5EF4-FFF2-40B4-BE49-F238E27FC236}">
                <a16:creationId xmlns:a16="http://schemas.microsoft.com/office/drawing/2014/main" id="{6AE0E814-0F6D-8F0D-2D2E-F4188F3F9018}"/>
              </a:ext>
            </a:extLst>
          </p:cNvPr>
          <p:cNvPicPr>
            <a:picLocks noChangeAspect="1"/>
          </p:cNvPicPr>
          <p:nvPr/>
        </p:nvPicPr>
        <p:blipFill>
          <a:blip r:embed="rId3"/>
          <a:stretch>
            <a:fillRect/>
          </a:stretch>
        </p:blipFill>
        <p:spPr>
          <a:xfrm>
            <a:off x="0" y="1723138"/>
            <a:ext cx="10691813" cy="4460685"/>
          </a:xfrm>
          <a:prstGeom prst="rect">
            <a:avLst/>
          </a:prstGeom>
        </p:spPr>
      </p:pic>
    </p:spTree>
    <p:extLst>
      <p:ext uri="{BB962C8B-B14F-4D97-AF65-F5344CB8AC3E}">
        <p14:creationId xmlns:p14="http://schemas.microsoft.com/office/powerpoint/2010/main" val="17438778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ECFB4-653B-E743-9DF0-A834B3FAE469}"/>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366AC61C-74A3-19B6-C933-BC0AD0CF84FA}"/>
              </a:ext>
            </a:extLst>
          </p:cNvPr>
          <p:cNvPicPr>
            <a:picLocks noChangeAspect="1" noChangeArrowheads="1"/>
          </p:cNvPicPr>
          <p:nvPr/>
        </p:nvPicPr>
        <p:blipFill>
          <a:blip r:embed="rId2"/>
          <a:srcRect t="-9550" b="9550"/>
          <a:stretch>
            <a:fillRect/>
          </a:stretch>
        </p:blipFill>
        <p:spPr bwMode="auto">
          <a:xfrm>
            <a:off x="0" y="-236821"/>
            <a:ext cx="10691814" cy="5932170"/>
          </a:xfrm>
          <a:prstGeom prst="rect">
            <a:avLst/>
          </a:prstGeom>
          <a:noFill/>
        </p:spPr>
      </p:pic>
      <p:pic>
        <p:nvPicPr>
          <p:cNvPr id="3" name="Picture 2">
            <a:extLst>
              <a:ext uri="{FF2B5EF4-FFF2-40B4-BE49-F238E27FC236}">
                <a16:creationId xmlns:a16="http://schemas.microsoft.com/office/drawing/2014/main" id="{3229CE83-C9C2-0797-60E6-558A4A9C7073}"/>
              </a:ext>
            </a:extLst>
          </p:cNvPr>
          <p:cNvPicPr>
            <a:picLocks noChangeAspect="1"/>
          </p:cNvPicPr>
          <p:nvPr/>
        </p:nvPicPr>
        <p:blipFill>
          <a:blip r:embed="rId3"/>
          <a:stretch>
            <a:fillRect/>
          </a:stretch>
        </p:blipFill>
        <p:spPr>
          <a:xfrm>
            <a:off x="935915" y="706684"/>
            <a:ext cx="8283389" cy="3499487"/>
          </a:xfrm>
          <a:prstGeom prst="rect">
            <a:avLst/>
          </a:prstGeom>
        </p:spPr>
      </p:pic>
      <p:pic>
        <p:nvPicPr>
          <p:cNvPr id="5" name="Picture 4">
            <a:extLst>
              <a:ext uri="{FF2B5EF4-FFF2-40B4-BE49-F238E27FC236}">
                <a16:creationId xmlns:a16="http://schemas.microsoft.com/office/drawing/2014/main" id="{CE108FD2-63B0-C808-C977-F261737C9067}"/>
              </a:ext>
            </a:extLst>
          </p:cNvPr>
          <p:cNvPicPr>
            <a:picLocks noChangeAspect="1"/>
          </p:cNvPicPr>
          <p:nvPr/>
        </p:nvPicPr>
        <p:blipFill>
          <a:blip r:embed="rId4"/>
          <a:stretch>
            <a:fillRect/>
          </a:stretch>
        </p:blipFill>
        <p:spPr>
          <a:xfrm>
            <a:off x="935915" y="4206171"/>
            <a:ext cx="8283389" cy="3318579"/>
          </a:xfrm>
          <a:prstGeom prst="rect">
            <a:avLst/>
          </a:prstGeom>
        </p:spPr>
      </p:pic>
    </p:spTree>
    <p:extLst>
      <p:ext uri="{BB962C8B-B14F-4D97-AF65-F5344CB8AC3E}">
        <p14:creationId xmlns:p14="http://schemas.microsoft.com/office/powerpoint/2010/main" val="19784203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EC70-C082-6DFB-12AB-3976B2DC089D}"/>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74CFEAA2-E18E-FD4E-ED94-AC61386449AF}"/>
              </a:ext>
            </a:extLst>
          </p:cNvPr>
          <p:cNvPicPr>
            <a:picLocks noChangeAspect="1" noChangeArrowheads="1"/>
          </p:cNvPicPr>
          <p:nvPr/>
        </p:nvPicPr>
        <p:blipFill>
          <a:blip r:embed="rId2"/>
          <a:srcRect t="-9550" b="9550"/>
          <a:stretch>
            <a:fillRect/>
          </a:stretch>
        </p:blipFill>
        <p:spPr bwMode="auto">
          <a:xfrm>
            <a:off x="-1" y="-31950"/>
            <a:ext cx="10691814" cy="5932170"/>
          </a:xfrm>
          <a:prstGeom prst="rect">
            <a:avLst/>
          </a:prstGeom>
          <a:noFill/>
        </p:spPr>
      </p:pic>
      <p:pic>
        <p:nvPicPr>
          <p:cNvPr id="6" name="Picture 5">
            <a:extLst>
              <a:ext uri="{FF2B5EF4-FFF2-40B4-BE49-F238E27FC236}">
                <a16:creationId xmlns:a16="http://schemas.microsoft.com/office/drawing/2014/main" id="{99EC72CF-C3EF-3D6B-DDA1-196FB986980C}"/>
              </a:ext>
            </a:extLst>
          </p:cNvPr>
          <p:cNvPicPr>
            <a:picLocks noChangeAspect="1"/>
          </p:cNvPicPr>
          <p:nvPr/>
        </p:nvPicPr>
        <p:blipFill>
          <a:blip r:embed="rId3"/>
          <a:stretch>
            <a:fillRect/>
          </a:stretch>
        </p:blipFill>
        <p:spPr>
          <a:xfrm>
            <a:off x="2664692" y="2181267"/>
            <a:ext cx="2802212" cy="499119"/>
          </a:xfrm>
          <a:prstGeom prst="rect">
            <a:avLst/>
          </a:prstGeom>
        </p:spPr>
      </p:pic>
      <p:sp>
        <p:nvSpPr>
          <p:cNvPr id="10" name="TextBox 9">
            <a:extLst>
              <a:ext uri="{FF2B5EF4-FFF2-40B4-BE49-F238E27FC236}">
                <a16:creationId xmlns:a16="http://schemas.microsoft.com/office/drawing/2014/main" id="{A16856D0-14CB-6171-37B3-BC7001A52C78}"/>
              </a:ext>
            </a:extLst>
          </p:cNvPr>
          <p:cNvSpPr txBox="1"/>
          <p:nvPr/>
        </p:nvSpPr>
        <p:spPr>
          <a:xfrm>
            <a:off x="608873" y="2246161"/>
            <a:ext cx="1841017" cy="369332"/>
          </a:xfrm>
          <a:prstGeom prst="rect">
            <a:avLst/>
          </a:prstGeom>
          <a:noFill/>
        </p:spPr>
        <p:txBody>
          <a:bodyPr wrap="none" rtlCol="0">
            <a:spAutoFit/>
          </a:bodyPr>
          <a:lstStyle/>
          <a:p>
            <a:r>
              <a:rPr lang="en-US" dirty="0"/>
              <a:t>1- @ CMD write :</a:t>
            </a:r>
          </a:p>
        </p:txBody>
      </p:sp>
      <p:sp>
        <p:nvSpPr>
          <p:cNvPr id="12" name="TextBox 11">
            <a:extLst>
              <a:ext uri="{FF2B5EF4-FFF2-40B4-BE49-F238E27FC236}">
                <a16:creationId xmlns:a16="http://schemas.microsoft.com/office/drawing/2014/main" id="{64639255-1073-A190-1836-301FA2B60251}"/>
              </a:ext>
            </a:extLst>
          </p:cNvPr>
          <p:cNvSpPr txBox="1"/>
          <p:nvPr/>
        </p:nvSpPr>
        <p:spPr>
          <a:xfrm>
            <a:off x="608873" y="2720480"/>
            <a:ext cx="2055819" cy="369332"/>
          </a:xfrm>
          <a:prstGeom prst="rect">
            <a:avLst/>
          </a:prstGeom>
          <a:noFill/>
        </p:spPr>
        <p:txBody>
          <a:bodyPr wrap="none" rtlCol="0">
            <a:spAutoFit/>
          </a:bodyPr>
          <a:lstStyle/>
          <a:p>
            <a:r>
              <a:rPr lang="en-US" dirty="0"/>
              <a:t>2- Then click Enter </a:t>
            </a:r>
          </a:p>
        </p:txBody>
      </p:sp>
      <p:sp>
        <p:nvSpPr>
          <p:cNvPr id="14" name="TextBox 13">
            <a:extLst>
              <a:ext uri="{FF2B5EF4-FFF2-40B4-BE49-F238E27FC236}">
                <a16:creationId xmlns:a16="http://schemas.microsoft.com/office/drawing/2014/main" id="{0DA246AA-6B4A-B10D-D3C4-CF9ABCACF92F}"/>
              </a:ext>
            </a:extLst>
          </p:cNvPr>
          <p:cNvSpPr txBox="1"/>
          <p:nvPr/>
        </p:nvSpPr>
        <p:spPr>
          <a:xfrm>
            <a:off x="624840" y="3330882"/>
            <a:ext cx="3941272" cy="369332"/>
          </a:xfrm>
          <a:prstGeom prst="rect">
            <a:avLst/>
          </a:prstGeom>
          <a:noFill/>
        </p:spPr>
        <p:txBody>
          <a:bodyPr wrap="none" rtlCol="0">
            <a:spAutoFit/>
          </a:bodyPr>
          <a:lstStyle/>
          <a:p>
            <a:r>
              <a:rPr lang="en-US" dirty="0"/>
              <a:t>3- Then write any </a:t>
            </a:r>
            <a:r>
              <a:rPr lang="en-US" dirty="0" err="1"/>
              <a:t>uncorrect</a:t>
            </a:r>
            <a:r>
              <a:rPr lang="en-US" dirty="0"/>
              <a:t> password </a:t>
            </a:r>
          </a:p>
        </p:txBody>
      </p:sp>
      <p:sp>
        <p:nvSpPr>
          <p:cNvPr id="15" name="TextBox 14">
            <a:extLst>
              <a:ext uri="{FF2B5EF4-FFF2-40B4-BE49-F238E27FC236}">
                <a16:creationId xmlns:a16="http://schemas.microsoft.com/office/drawing/2014/main" id="{E4B85A1B-3F6A-8431-6EC5-FCE3086A8E96}"/>
              </a:ext>
            </a:extLst>
          </p:cNvPr>
          <p:cNvSpPr txBox="1"/>
          <p:nvPr/>
        </p:nvSpPr>
        <p:spPr>
          <a:xfrm>
            <a:off x="2853045" y="4430885"/>
            <a:ext cx="4645311" cy="369332"/>
          </a:xfrm>
          <a:prstGeom prst="rect">
            <a:avLst/>
          </a:prstGeom>
          <a:noFill/>
        </p:spPr>
        <p:txBody>
          <a:bodyPr wrap="none" rtlCol="0">
            <a:spAutoFit/>
          </a:bodyPr>
          <a:lstStyle/>
          <a:p>
            <a:r>
              <a:rPr lang="en-US" dirty="0" err="1"/>
              <a:t>Repeate</a:t>
            </a:r>
            <a:r>
              <a:rPr lang="en-US" dirty="0"/>
              <a:t> this steps 5 times to trigger the alert </a:t>
            </a:r>
          </a:p>
        </p:txBody>
      </p:sp>
      <p:sp>
        <p:nvSpPr>
          <p:cNvPr id="16" name="TextBox 15">
            <a:extLst>
              <a:ext uri="{FF2B5EF4-FFF2-40B4-BE49-F238E27FC236}">
                <a16:creationId xmlns:a16="http://schemas.microsoft.com/office/drawing/2014/main" id="{25653A6A-5F70-9AAC-9CF1-D778C9705D8B}"/>
              </a:ext>
            </a:extLst>
          </p:cNvPr>
          <p:cNvSpPr txBox="1"/>
          <p:nvPr/>
        </p:nvSpPr>
        <p:spPr>
          <a:xfrm>
            <a:off x="3462636" y="1371076"/>
            <a:ext cx="3426131" cy="400110"/>
          </a:xfrm>
          <a:prstGeom prst="rect">
            <a:avLst/>
          </a:prstGeom>
          <a:noFill/>
        </p:spPr>
        <p:txBody>
          <a:bodyPr wrap="none" rtlCol="0">
            <a:spAutoFit/>
          </a:bodyPr>
          <a:lstStyle/>
          <a:p>
            <a:r>
              <a:rPr lang="en-US" sz="2000" b="1" dirty="0"/>
              <a:t>Simulate Brute force attack </a:t>
            </a:r>
          </a:p>
        </p:txBody>
      </p:sp>
    </p:spTree>
    <p:extLst>
      <p:ext uri="{BB962C8B-B14F-4D97-AF65-F5344CB8AC3E}">
        <p14:creationId xmlns:p14="http://schemas.microsoft.com/office/powerpoint/2010/main" val="374202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DA7E7-6DA3-4CEA-29BF-C4EBE2003943}"/>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4F6925D7-93F7-C82C-1419-642445CCB60E}"/>
              </a:ext>
            </a:extLst>
          </p:cNvPr>
          <p:cNvPicPr>
            <a:picLocks noChangeAspect="1" noChangeArrowheads="1"/>
          </p:cNvPicPr>
          <p:nvPr/>
        </p:nvPicPr>
        <p:blipFill>
          <a:blip r:embed="rId2"/>
          <a:srcRect t="-9550" b="9550"/>
          <a:stretch>
            <a:fillRect/>
          </a:stretch>
        </p:blipFill>
        <p:spPr bwMode="auto">
          <a:xfrm>
            <a:off x="-1" y="0"/>
            <a:ext cx="10691814" cy="5932170"/>
          </a:xfrm>
          <a:prstGeom prst="rect">
            <a:avLst/>
          </a:prstGeom>
          <a:noFill/>
        </p:spPr>
      </p:pic>
      <p:sp>
        <p:nvSpPr>
          <p:cNvPr id="3" name="TextBox 2">
            <a:extLst>
              <a:ext uri="{FF2B5EF4-FFF2-40B4-BE49-F238E27FC236}">
                <a16:creationId xmlns:a16="http://schemas.microsoft.com/office/drawing/2014/main" id="{FC1839E9-8743-3C54-50E5-9318FD656BFD}"/>
              </a:ext>
            </a:extLst>
          </p:cNvPr>
          <p:cNvSpPr txBox="1"/>
          <p:nvPr/>
        </p:nvSpPr>
        <p:spPr>
          <a:xfrm>
            <a:off x="877729" y="1744980"/>
            <a:ext cx="5344160" cy="461665"/>
          </a:xfrm>
          <a:prstGeom prst="rect">
            <a:avLst/>
          </a:prstGeom>
          <a:noFill/>
        </p:spPr>
        <p:txBody>
          <a:bodyPr wrap="square">
            <a:spAutoFit/>
          </a:bodyPr>
          <a:lstStyle/>
          <a:p>
            <a:r>
              <a:rPr lang="en-US" sz="2400" dirty="0"/>
              <a:t>Alert Triage</a:t>
            </a:r>
            <a:r>
              <a:rPr lang="ar-EG" sz="2400" dirty="0"/>
              <a:t>: </a:t>
            </a:r>
            <a:endParaRPr lang="en-US" sz="2400" dirty="0"/>
          </a:p>
        </p:txBody>
      </p:sp>
      <p:graphicFrame>
        <p:nvGraphicFramePr>
          <p:cNvPr id="6" name="Table 5">
            <a:extLst>
              <a:ext uri="{FF2B5EF4-FFF2-40B4-BE49-F238E27FC236}">
                <a16:creationId xmlns:a16="http://schemas.microsoft.com/office/drawing/2014/main" id="{0FC57104-2031-5EB5-A369-3E1D9B11A1FD}"/>
              </a:ext>
            </a:extLst>
          </p:cNvPr>
          <p:cNvGraphicFramePr>
            <a:graphicFrameLocks noGrp="1"/>
          </p:cNvGraphicFramePr>
          <p:nvPr>
            <p:extLst>
              <p:ext uri="{D42A27DB-BD31-4B8C-83A1-F6EECF244321}">
                <p14:modId xmlns:p14="http://schemas.microsoft.com/office/powerpoint/2010/main" val="2637828083"/>
              </p:ext>
            </p:extLst>
          </p:nvPr>
        </p:nvGraphicFramePr>
        <p:xfrm>
          <a:off x="877728" y="2713374"/>
          <a:ext cx="8154511" cy="3664675"/>
        </p:xfrm>
        <a:graphic>
          <a:graphicData uri="http://schemas.openxmlformats.org/drawingml/2006/table">
            <a:tbl>
              <a:tblPr bandRow="1">
                <a:tableStyleId>{00A15C55-8517-42AA-B614-E9B94910E393}</a:tableStyleId>
              </a:tblPr>
              <a:tblGrid>
                <a:gridCol w="3014096">
                  <a:extLst>
                    <a:ext uri="{9D8B030D-6E8A-4147-A177-3AD203B41FA5}">
                      <a16:colId xmlns:a16="http://schemas.microsoft.com/office/drawing/2014/main" val="4042349364"/>
                    </a:ext>
                  </a:extLst>
                </a:gridCol>
                <a:gridCol w="5140415">
                  <a:extLst>
                    <a:ext uri="{9D8B030D-6E8A-4147-A177-3AD203B41FA5}">
                      <a16:colId xmlns:a16="http://schemas.microsoft.com/office/drawing/2014/main" val="3664509633"/>
                    </a:ext>
                  </a:extLst>
                </a:gridCol>
              </a:tblGrid>
              <a:tr h="594251">
                <a:tc>
                  <a:txBody>
                    <a:bodyPr/>
                    <a:lstStyle/>
                    <a:p>
                      <a:pPr algn="ctr"/>
                      <a:r>
                        <a:rPr lang="en-US" dirty="0"/>
                        <a:t>Alert Name</a:t>
                      </a:r>
                    </a:p>
                  </a:txBody>
                  <a:tcPr/>
                </a:tc>
                <a:tc>
                  <a:txBody>
                    <a:bodyPr/>
                    <a:lstStyle/>
                    <a:p>
                      <a:pPr marL="0" marR="0" lvl="0" indent="0" algn="l" defTabSz="1003280" rtl="0" eaLnBrk="1" fontAlgn="auto" latinLnBrk="0" hangingPunct="1">
                        <a:lnSpc>
                          <a:spcPct val="100000"/>
                        </a:lnSpc>
                        <a:spcBef>
                          <a:spcPts val="0"/>
                        </a:spcBef>
                        <a:spcAft>
                          <a:spcPts val="0"/>
                        </a:spcAft>
                        <a:buClrTx/>
                        <a:buSzTx/>
                        <a:buFontTx/>
                        <a:buNone/>
                        <a:tabLst/>
                        <a:defRPr/>
                      </a:pPr>
                      <a:r>
                        <a:rPr lang="en-US" dirty="0"/>
                        <a:t>Credential Access – Brute Force Detection</a:t>
                      </a:r>
                    </a:p>
                    <a:p>
                      <a:endParaRPr lang="en-US" dirty="0"/>
                    </a:p>
                  </a:txBody>
                  <a:tcPr/>
                </a:tc>
                <a:extLst>
                  <a:ext uri="{0D108BD9-81ED-4DB2-BD59-A6C34878D82A}">
                    <a16:rowId xmlns:a16="http://schemas.microsoft.com/office/drawing/2014/main" val="3064936987"/>
                  </a:ext>
                </a:extLst>
              </a:tr>
              <a:tr h="594251">
                <a:tc>
                  <a:txBody>
                    <a:bodyPr/>
                    <a:lstStyle/>
                    <a:p>
                      <a:pPr algn="ctr"/>
                      <a:r>
                        <a:rPr lang="en-US" dirty="0"/>
                        <a:t>Severity</a:t>
                      </a:r>
                    </a:p>
                  </a:txBody>
                  <a:tcPr/>
                </a:tc>
                <a:tc>
                  <a:txBody>
                    <a:bodyPr/>
                    <a:lstStyle/>
                    <a:p>
                      <a:r>
                        <a:rPr lang="en-US" dirty="0"/>
                        <a:t>Medium</a:t>
                      </a:r>
                    </a:p>
                  </a:txBody>
                  <a:tcPr/>
                </a:tc>
                <a:extLst>
                  <a:ext uri="{0D108BD9-81ED-4DB2-BD59-A6C34878D82A}">
                    <a16:rowId xmlns:a16="http://schemas.microsoft.com/office/drawing/2014/main" val="3178792509"/>
                  </a:ext>
                </a:extLst>
              </a:tr>
              <a:tr h="594251">
                <a:tc>
                  <a:txBody>
                    <a:bodyPr/>
                    <a:lstStyle/>
                    <a:p>
                      <a:pPr algn="ctr"/>
                      <a:r>
                        <a:rPr lang="en-US" dirty="0"/>
                        <a:t>Host</a:t>
                      </a:r>
                    </a:p>
                  </a:txBody>
                  <a:tcPr/>
                </a:tc>
                <a:tc>
                  <a:txBody>
                    <a:bodyPr/>
                    <a:lstStyle/>
                    <a:p>
                      <a:r>
                        <a:rPr lang="en-US" dirty="0"/>
                        <a:t>Asus</a:t>
                      </a:r>
                    </a:p>
                  </a:txBody>
                  <a:tcPr/>
                </a:tc>
                <a:extLst>
                  <a:ext uri="{0D108BD9-81ED-4DB2-BD59-A6C34878D82A}">
                    <a16:rowId xmlns:a16="http://schemas.microsoft.com/office/drawing/2014/main" val="2880365340"/>
                  </a:ext>
                </a:extLst>
              </a:tr>
              <a:tr h="594251">
                <a:tc>
                  <a:txBody>
                    <a:bodyPr/>
                    <a:lstStyle/>
                    <a:p>
                      <a:pPr algn="ctr"/>
                      <a:r>
                        <a:rPr lang="en-US" dirty="0"/>
                        <a:t>MITRE</a:t>
                      </a:r>
                    </a:p>
                  </a:txBody>
                  <a:tcPr/>
                </a:tc>
                <a:tc>
                  <a:txBody>
                    <a:bodyPr/>
                    <a:lstStyle/>
                    <a:p>
                      <a:r>
                        <a:rPr lang="en-US" dirty="0"/>
                        <a:t>T1110</a:t>
                      </a:r>
                    </a:p>
                  </a:txBody>
                  <a:tcPr/>
                </a:tc>
                <a:extLst>
                  <a:ext uri="{0D108BD9-81ED-4DB2-BD59-A6C34878D82A}">
                    <a16:rowId xmlns:a16="http://schemas.microsoft.com/office/drawing/2014/main" val="3666350517"/>
                  </a:ext>
                </a:extLst>
              </a:tr>
              <a:tr h="594251">
                <a:tc>
                  <a:txBody>
                    <a:bodyPr/>
                    <a:lstStyle/>
                    <a:p>
                      <a:pPr algn="ctr"/>
                      <a:r>
                        <a:rPr lang="en-US" dirty="0"/>
                        <a:t>Status</a:t>
                      </a:r>
                    </a:p>
                  </a:txBody>
                  <a:tcPr/>
                </a:tc>
                <a:tc>
                  <a:txBody>
                    <a:bodyPr/>
                    <a:lstStyle/>
                    <a:p>
                      <a:r>
                        <a:rPr lang="en-US" dirty="0"/>
                        <a:t>True Positive</a:t>
                      </a:r>
                    </a:p>
                  </a:txBody>
                  <a:tcPr/>
                </a:tc>
                <a:extLst>
                  <a:ext uri="{0D108BD9-81ED-4DB2-BD59-A6C34878D82A}">
                    <a16:rowId xmlns:a16="http://schemas.microsoft.com/office/drawing/2014/main" val="1268743883"/>
                  </a:ext>
                </a:extLst>
              </a:tr>
              <a:tr h="594251">
                <a:tc>
                  <a:txBody>
                    <a:bodyPr/>
                    <a:lstStyle/>
                    <a:p>
                      <a:pPr algn="ctr"/>
                      <a:r>
                        <a:rPr lang="en-US" dirty="0"/>
                        <a:t>Analyst Notes</a:t>
                      </a:r>
                    </a:p>
                  </a:txBody>
                  <a:tcPr/>
                </a:tc>
                <a:tc>
                  <a:txBody>
                    <a:bodyPr/>
                    <a:lstStyle/>
                    <a:p>
                      <a:r>
                        <a:rPr lang="en-US" dirty="0"/>
                        <a:t>Multiple failed login attempts detected</a:t>
                      </a:r>
                    </a:p>
                  </a:txBody>
                  <a:tcPr/>
                </a:tc>
                <a:extLst>
                  <a:ext uri="{0D108BD9-81ED-4DB2-BD59-A6C34878D82A}">
                    <a16:rowId xmlns:a16="http://schemas.microsoft.com/office/drawing/2014/main" val="3632913206"/>
                  </a:ext>
                </a:extLst>
              </a:tr>
            </a:tbl>
          </a:graphicData>
        </a:graphic>
      </p:graphicFrame>
    </p:spTree>
    <p:extLst>
      <p:ext uri="{BB962C8B-B14F-4D97-AF65-F5344CB8AC3E}">
        <p14:creationId xmlns:p14="http://schemas.microsoft.com/office/powerpoint/2010/main" val="37698836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E294C-D6C5-790B-BCF7-282DC329B7C3}"/>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9AC58565-7ACA-308D-9534-772D00D9C32D}"/>
              </a:ext>
            </a:extLst>
          </p:cNvPr>
          <p:cNvPicPr>
            <a:picLocks noChangeAspect="1" noChangeArrowheads="1"/>
          </p:cNvPicPr>
          <p:nvPr/>
        </p:nvPicPr>
        <p:blipFill>
          <a:blip r:embed="rId2"/>
          <a:srcRect t="-9550" b="9550"/>
          <a:stretch>
            <a:fillRect/>
          </a:stretch>
        </p:blipFill>
        <p:spPr bwMode="auto">
          <a:xfrm>
            <a:off x="-1" y="0"/>
            <a:ext cx="10691814" cy="5932170"/>
          </a:xfrm>
          <a:prstGeom prst="rect">
            <a:avLst/>
          </a:prstGeom>
          <a:noFill/>
        </p:spPr>
      </p:pic>
      <p:sp>
        <p:nvSpPr>
          <p:cNvPr id="4" name="TextBox 3">
            <a:extLst>
              <a:ext uri="{FF2B5EF4-FFF2-40B4-BE49-F238E27FC236}">
                <a16:creationId xmlns:a16="http://schemas.microsoft.com/office/drawing/2014/main" id="{4438427E-9828-8D90-71CF-F2571EEDCE3D}"/>
              </a:ext>
            </a:extLst>
          </p:cNvPr>
          <p:cNvSpPr txBox="1"/>
          <p:nvPr/>
        </p:nvSpPr>
        <p:spPr>
          <a:xfrm>
            <a:off x="2633186" y="924858"/>
            <a:ext cx="5425440" cy="461665"/>
          </a:xfrm>
          <a:prstGeom prst="rect">
            <a:avLst/>
          </a:prstGeom>
          <a:noFill/>
        </p:spPr>
        <p:txBody>
          <a:bodyPr wrap="square">
            <a:spAutoFit/>
          </a:bodyPr>
          <a:lstStyle/>
          <a:p>
            <a:r>
              <a:rPr lang="en-US" sz="2400" b="1" dirty="0"/>
              <a:t>Indicators of Compromise (IOCs)</a:t>
            </a:r>
          </a:p>
        </p:txBody>
      </p:sp>
      <p:sp>
        <p:nvSpPr>
          <p:cNvPr id="9" name="TextBox 8">
            <a:extLst>
              <a:ext uri="{FF2B5EF4-FFF2-40B4-BE49-F238E27FC236}">
                <a16:creationId xmlns:a16="http://schemas.microsoft.com/office/drawing/2014/main" id="{C7444D39-06F5-474B-8EF5-8E01A5FB4CED}"/>
              </a:ext>
            </a:extLst>
          </p:cNvPr>
          <p:cNvSpPr txBox="1"/>
          <p:nvPr/>
        </p:nvSpPr>
        <p:spPr>
          <a:xfrm>
            <a:off x="731520" y="2482334"/>
            <a:ext cx="5344160" cy="369332"/>
          </a:xfrm>
          <a:prstGeom prst="rect">
            <a:avLst/>
          </a:prstGeom>
          <a:noFill/>
        </p:spPr>
        <p:txBody>
          <a:bodyPr wrap="square">
            <a:spAutoFit/>
          </a:bodyPr>
          <a:lstStyle/>
          <a:p>
            <a:r>
              <a:rPr lang="en-US" sz="1800" b="1" dirty="0">
                <a:solidFill>
                  <a:srgbClr val="FF0000"/>
                </a:solidFill>
              </a:rPr>
              <a:t>Use Case 1: </a:t>
            </a:r>
            <a:r>
              <a:rPr lang="en-US" sz="1800" b="1" dirty="0"/>
              <a:t>Create account attack </a:t>
            </a:r>
          </a:p>
        </p:txBody>
      </p:sp>
      <p:pic>
        <p:nvPicPr>
          <p:cNvPr id="11" name="Picture 10">
            <a:extLst>
              <a:ext uri="{FF2B5EF4-FFF2-40B4-BE49-F238E27FC236}">
                <a16:creationId xmlns:a16="http://schemas.microsoft.com/office/drawing/2014/main" id="{B64613C1-2102-C4CD-A214-85831FF06CB6}"/>
              </a:ext>
            </a:extLst>
          </p:cNvPr>
          <p:cNvPicPr>
            <a:picLocks noChangeAspect="1"/>
          </p:cNvPicPr>
          <p:nvPr/>
        </p:nvPicPr>
        <p:blipFill>
          <a:blip r:embed="rId3"/>
          <a:stretch>
            <a:fillRect/>
          </a:stretch>
        </p:blipFill>
        <p:spPr>
          <a:xfrm>
            <a:off x="5098190" y="2311380"/>
            <a:ext cx="2382652" cy="711240"/>
          </a:xfrm>
          <a:prstGeom prst="rect">
            <a:avLst/>
          </a:prstGeom>
        </p:spPr>
      </p:pic>
      <p:sp>
        <p:nvSpPr>
          <p:cNvPr id="13" name="TextBox 12">
            <a:extLst>
              <a:ext uri="{FF2B5EF4-FFF2-40B4-BE49-F238E27FC236}">
                <a16:creationId xmlns:a16="http://schemas.microsoft.com/office/drawing/2014/main" id="{B4DB404E-7754-1955-147B-92DEBEDBBD82}"/>
              </a:ext>
            </a:extLst>
          </p:cNvPr>
          <p:cNvSpPr txBox="1"/>
          <p:nvPr/>
        </p:nvSpPr>
        <p:spPr>
          <a:xfrm>
            <a:off x="690880" y="3781117"/>
            <a:ext cx="5425440" cy="369332"/>
          </a:xfrm>
          <a:prstGeom prst="rect">
            <a:avLst/>
          </a:prstGeom>
          <a:noFill/>
        </p:spPr>
        <p:txBody>
          <a:bodyPr wrap="square">
            <a:spAutoFit/>
          </a:bodyPr>
          <a:lstStyle/>
          <a:p>
            <a:r>
              <a:rPr lang="en-US" sz="1800" b="1" dirty="0">
                <a:solidFill>
                  <a:srgbClr val="FF0000"/>
                </a:solidFill>
              </a:rPr>
              <a:t>Use Case 2: </a:t>
            </a:r>
            <a:r>
              <a:rPr lang="en-US" sz="1800" b="1" dirty="0"/>
              <a:t>Privilege Escalation attack </a:t>
            </a:r>
          </a:p>
        </p:txBody>
      </p:sp>
      <p:pic>
        <p:nvPicPr>
          <p:cNvPr id="15" name="Picture 14">
            <a:extLst>
              <a:ext uri="{FF2B5EF4-FFF2-40B4-BE49-F238E27FC236}">
                <a16:creationId xmlns:a16="http://schemas.microsoft.com/office/drawing/2014/main" id="{C5231A6B-787D-9E09-E3B9-62262CB12416}"/>
              </a:ext>
            </a:extLst>
          </p:cNvPr>
          <p:cNvPicPr>
            <a:picLocks noChangeAspect="1"/>
          </p:cNvPicPr>
          <p:nvPr/>
        </p:nvPicPr>
        <p:blipFill>
          <a:blip r:embed="rId4"/>
          <a:stretch>
            <a:fillRect/>
          </a:stretch>
        </p:blipFill>
        <p:spPr>
          <a:xfrm>
            <a:off x="5098190" y="3610163"/>
            <a:ext cx="2785688" cy="711240"/>
          </a:xfrm>
          <a:prstGeom prst="rect">
            <a:avLst/>
          </a:prstGeom>
        </p:spPr>
      </p:pic>
      <p:sp>
        <p:nvSpPr>
          <p:cNvPr id="17" name="TextBox 16">
            <a:extLst>
              <a:ext uri="{FF2B5EF4-FFF2-40B4-BE49-F238E27FC236}">
                <a16:creationId xmlns:a16="http://schemas.microsoft.com/office/drawing/2014/main" id="{14EC423C-DA47-327B-070E-8390CCA1F7D4}"/>
              </a:ext>
            </a:extLst>
          </p:cNvPr>
          <p:cNvSpPr txBox="1"/>
          <p:nvPr/>
        </p:nvSpPr>
        <p:spPr>
          <a:xfrm>
            <a:off x="690880" y="5211643"/>
            <a:ext cx="5344160" cy="369332"/>
          </a:xfrm>
          <a:prstGeom prst="rect">
            <a:avLst/>
          </a:prstGeom>
          <a:noFill/>
        </p:spPr>
        <p:txBody>
          <a:bodyPr wrap="square">
            <a:spAutoFit/>
          </a:bodyPr>
          <a:lstStyle/>
          <a:p>
            <a:r>
              <a:rPr lang="en-US" sz="1800" b="1" dirty="0">
                <a:solidFill>
                  <a:srgbClr val="FF0000"/>
                </a:solidFill>
              </a:rPr>
              <a:t>Use Case 3:</a:t>
            </a:r>
            <a:r>
              <a:rPr lang="en-US" sz="1800" b="1" dirty="0"/>
              <a:t> Brute Force attack</a:t>
            </a:r>
          </a:p>
        </p:txBody>
      </p:sp>
      <p:pic>
        <p:nvPicPr>
          <p:cNvPr id="19" name="Picture 18">
            <a:extLst>
              <a:ext uri="{FF2B5EF4-FFF2-40B4-BE49-F238E27FC236}">
                <a16:creationId xmlns:a16="http://schemas.microsoft.com/office/drawing/2014/main" id="{40FB4861-426A-E439-1433-F7FBD018D9AA}"/>
              </a:ext>
            </a:extLst>
          </p:cNvPr>
          <p:cNvPicPr>
            <a:picLocks noChangeAspect="1"/>
          </p:cNvPicPr>
          <p:nvPr/>
        </p:nvPicPr>
        <p:blipFill>
          <a:blip r:embed="rId5"/>
          <a:stretch>
            <a:fillRect/>
          </a:stretch>
        </p:blipFill>
        <p:spPr>
          <a:xfrm>
            <a:off x="5098190" y="5077297"/>
            <a:ext cx="2402232" cy="640595"/>
          </a:xfrm>
          <a:prstGeom prst="rect">
            <a:avLst/>
          </a:prstGeom>
        </p:spPr>
      </p:pic>
      <p:sp>
        <p:nvSpPr>
          <p:cNvPr id="21" name="TextBox 20">
            <a:extLst>
              <a:ext uri="{FF2B5EF4-FFF2-40B4-BE49-F238E27FC236}">
                <a16:creationId xmlns:a16="http://schemas.microsoft.com/office/drawing/2014/main" id="{11177554-A4D5-AEBC-545E-68D5C5F303EC}"/>
              </a:ext>
            </a:extLst>
          </p:cNvPr>
          <p:cNvSpPr txBox="1"/>
          <p:nvPr/>
        </p:nvSpPr>
        <p:spPr>
          <a:xfrm>
            <a:off x="487680" y="2498649"/>
            <a:ext cx="5344160" cy="369332"/>
          </a:xfrm>
          <a:prstGeom prst="rect">
            <a:avLst/>
          </a:prstGeom>
          <a:noFill/>
        </p:spPr>
        <p:txBody>
          <a:bodyPr wrap="square">
            <a:spAutoFit/>
          </a:bodyPr>
          <a:lstStyle/>
          <a:p>
            <a:r>
              <a:rPr lang="en-US" dirty="0"/>
              <a:t>•</a:t>
            </a:r>
          </a:p>
        </p:txBody>
      </p:sp>
      <p:sp>
        <p:nvSpPr>
          <p:cNvPr id="23" name="TextBox 22">
            <a:extLst>
              <a:ext uri="{FF2B5EF4-FFF2-40B4-BE49-F238E27FC236}">
                <a16:creationId xmlns:a16="http://schemas.microsoft.com/office/drawing/2014/main" id="{CE3E58F9-0125-2383-A525-C3AAC280DBC8}"/>
              </a:ext>
            </a:extLst>
          </p:cNvPr>
          <p:cNvSpPr txBox="1"/>
          <p:nvPr/>
        </p:nvSpPr>
        <p:spPr>
          <a:xfrm>
            <a:off x="487680" y="3762811"/>
            <a:ext cx="5344160" cy="369332"/>
          </a:xfrm>
          <a:prstGeom prst="rect">
            <a:avLst/>
          </a:prstGeom>
          <a:noFill/>
        </p:spPr>
        <p:txBody>
          <a:bodyPr wrap="square">
            <a:spAutoFit/>
          </a:bodyPr>
          <a:lstStyle/>
          <a:p>
            <a:r>
              <a:rPr lang="en-US" dirty="0"/>
              <a:t>•</a:t>
            </a:r>
          </a:p>
        </p:txBody>
      </p:sp>
      <p:sp>
        <p:nvSpPr>
          <p:cNvPr id="25" name="TextBox 24">
            <a:extLst>
              <a:ext uri="{FF2B5EF4-FFF2-40B4-BE49-F238E27FC236}">
                <a16:creationId xmlns:a16="http://schemas.microsoft.com/office/drawing/2014/main" id="{EEA47B63-1F2B-4675-F5E8-CE94D793FAB9}"/>
              </a:ext>
            </a:extLst>
          </p:cNvPr>
          <p:cNvSpPr txBox="1"/>
          <p:nvPr/>
        </p:nvSpPr>
        <p:spPr>
          <a:xfrm>
            <a:off x="487680" y="5246260"/>
            <a:ext cx="5344160" cy="369332"/>
          </a:xfrm>
          <a:prstGeom prst="rect">
            <a:avLst/>
          </a:prstGeom>
          <a:noFill/>
        </p:spPr>
        <p:txBody>
          <a:bodyPr wrap="square">
            <a:spAutoFit/>
          </a:bodyPr>
          <a:lstStyle/>
          <a:p>
            <a:r>
              <a:rPr lang="en-US" dirty="0"/>
              <a:t>•</a:t>
            </a:r>
          </a:p>
        </p:txBody>
      </p:sp>
    </p:spTree>
    <p:extLst>
      <p:ext uri="{BB962C8B-B14F-4D97-AF65-F5344CB8AC3E}">
        <p14:creationId xmlns:p14="http://schemas.microsoft.com/office/powerpoint/2010/main" val="41692508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E91AB-83E3-195C-B60D-8F9097A8246C}"/>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B0E496DE-E330-5344-12DD-39F1FB4C0D7A}"/>
              </a:ext>
            </a:extLst>
          </p:cNvPr>
          <p:cNvPicPr>
            <a:picLocks noChangeAspect="1" noChangeArrowheads="1"/>
          </p:cNvPicPr>
          <p:nvPr/>
        </p:nvPicPr>
        <p:blipFill>
          <a:blip r:embed="rId2"/>
          <a:srcRect t="-9550" b="9550"/>
          <a:stretch>
            <a:fillRect/>
          </a:stretch>
        </p:blipFill>
        <p:spPr bwMode="auto">
          <a:xfrm>
            <a:off x="-2" y="-111760"/>
            <a:ext cx="10691814" cy="5932170"/>
          </a:xfrm>
          <a:prstGeom prst="rect">
            <a:avLst/>
          </a:prstGeom>
          <a:noFill/>
        </p:spPr>
      </p:pic>
      <p:sp>
        <p:nvSpPr>
          <p:cNvPr id="4" name="TextBox 3">
            <a:extLst>
              <a:ext uri="{FF2B5EF4-FFF2-40B4-BE49-F238E27FC236}">
                <a16:creationId xmlns:a16="http://schemas.microsoft.com/office/drawing/2014/main" id="{68FC5ABD-1558-61A6-C1BD-2038D1696680}"/>
              </a:ext>
            </a:extLst>
          </p:cNvPr>
          <p:cNvSpPr txBox="1"/>
          <p:nvPr/>
        </p:nvSpPr>
        <p:spPr>
          <a:xfrm>
            <a:off x="2377440" y="995105"/>
            <a:ext cx="6156960" cy="461665"/>
          </a:xfrm>
          <a:prstGeom prst="rect">
            <a:avLst/>
          </a:prstGeom>
          <a:noFill/>
        </p:spPr>
        <p:txBody>
          <a:bodyPr wrap="square">
            <a:spAutoFit/>
          </a:bodyPr>
          <a:lstStyle/>
          <a:p>
            <a:r>
              <a:rPr lang="en-US" sz="2400" b="1" dirty="0"/>
              <a:t>Incident Response Recommendations</a:t>
            </a:r>
          </a:p>
        </p:txBody>
      </p:sp>
      <p:sp>
        <p:nvSpPr>
          <p:cNvPr id="5" name="TextBox 4">
            <a:extLst>
              <a:ext uri="{FF2B5EF4-FFF2-40B4-BE49-F238E27FC236}">
                <a16:creationId xmlns:a16="http://schemas.microsoft.com/office/drawing/2014/main" id="{C5548741-7BD5-4A84-5D41-ECB9927D675F}"/>
              </a:ext>
            </a:extLst>
          </p:cNvPr>
          <p:cNvSpPr txBox="1"/>
          <p:nvPr/>
        </p:nvSpPr>
        <p:spPr>
          <a:xfrm>
            <a:off x="955183" y="1514048"/>
            <a:ext cx="8781443" cy="369332"/>
          </a:xfrm>
          <a:prstGeom prst="rect">
            <a:avLst/>
          </a:prstGeom>
          <a:noFill/>
        </p:spPr>
        <p:txBody>
          <a:bodyPr wrap="none" rtlCol="0">
            <a:spAutoFit/>
          </a:bodyPr>
          <a:lstStyle/>
          <a:p>
            <a:r>
              <a:rPr lang="en-US" dirty="0"/>
              <a:t>Guidance notes and recommended actions to mitigate and resolve the detected attack</a:t>
            </a:r>
          </a:p>
        </p:txBody>
      </p:sp>
      <p:sp>
        <p:nvSpPr>
          <p:cNvPr id="8" name="TextBox 7">
            <a:extLst>
              <a:ext uri="{FF2B5EF4-FFF2-40B4-BE49-F238E27FC236}">
                <a16:creationId xmlns:a16="http://schemas.microsoft.com/office/drawing/2014/main" id="{849F1321-B653-7F6B-F020-584C8BCEF467}"/>
              </a:ext>
            </a:extLst>
          </p:cNvPr>
          <p:cNvSpPr txBox="1"/>
          <p:nvPr/>
        </p:nvSpPr>
        <p:spPr>
          <a:xfrm>
            <a:off x="406400" y="2282199"/>
            <a:ext cx="5344160" cy="369332"/>
          </a:xfrm>
          <a:prstGeom prst="rect">
            <a:avLst/>
          </a:prstGeom>
          <a:noFill/>
        </p:spPr>
        <p:txBody>
          <a:bodyPr wrap="square">
            <a:spAutoFit/>
          </a:bodyPr>
          <a:lstStyle/>
          <a:p>
            <a:r>
              <a:rPr lang="en-US" dirty="0"/>
              <a:t>• </a:t>
            </a:r>
            <a:r>
              <a:rPr lang="en-US" b="1" dirty="0"/>
              <a:t>Create Account</a:t>
            </a:r>
          </a:p>
        </p:txBody>
      </p:sp>
      <p:sp>
        <p:nvSpPr>
          <p:cNvPr id="10" name="TextBox 9">
            <a:extLst>
              <a:ext uri="{FF2B5EF4-FFF2-40B4-BE49-F238E27FC236}">
                <a16:creationId xmlns:a16="http://schemas.microsoft.com/office/drawing/2014/main" id="{DCEE9EE0-B118-E0FB-9EE1-651F1F3CCFB8}"/>
              </a:ext>
            </a:extLst>
          </p:cNvPr>
          <p:cNvSpPr txBox="1"/>
          <p:nvPr/>
        </p:nvSpPr>
        <p:spPr>
          <a:xfrm>
            <a:off x="406400" y="4092673"/>
            <a:ext cx="5344160" cy="369332"/>
          </a:xfrm>
          <a:prstGeom prst="rect">
            <a:avLst/>
          </a:prstGeom>
          <a:noFill/>
        </p:spPr>
        <p:txBody>
          <a:bodyPr wrap="square">
            <a:spAutoFit/>
          </a:bodyPr>
          <a:lstStyle/>
          <a:p>
            <a:r>
              <a:rPr lang="en-US" dirty="0"/>
              <a:t>• </a:t>
            </a:r>
            <a:r>
              <a:rPr lang="en-US" b="1" dirty="0"/>
              <a:t>Privilege Escalation</a:t>
            </a:r>
          </a:p>
        </p:txBody>
      </p:sp>
      <p:sp>
        <p:nvSpPr>
          <p:cNvPr id="12" name="TextBox 11">
            <a:extLst>
              <a:ext uri="{FF2B5EF4-FFF2-40B4-BE49-F238E27FC236}">
                <a16:creationId xmlns:a16="http://schemas.microsoft.com/office/drawing/2014/main" id="{8B572C07-B3DA-6532-0D6A-D035650A0812}"/>
              </a:ext>
            </a:extLst>
          </p:cNvPr>
          <p:cNvSpPr txBox="1"/>
          <p:nvPr/>
        </p:nvSpPr>
        <p:spPr>
          <a:xfrm>
            <a:off x="406400" y="5641370"/>
            <a:ext cx="5344160" cy="369332"/>
          </a:xfrm>
          <a:prstGeom prst="rect">
            <a:avLst/>
          </a:prstGeom>
          <a:noFill/>
        </p:spPr>
        <p:txBody>
          <a:bodyPr wrap="square">
            <a:spAutoFit/>
          </a:bodyPr>
          <a:lstStyle/>
          <a:p>
            <a:r>
              <a:rPr lang="en-US" dirty="0"/>
              <a:t>•  </a:t>
            </a:r>
            <a:r>
              <a:rPr lang="en-US" b="1" dirty="0"/>
              <a:t>Brute Force</a:t>
            </a:r>
          </a:p>
        </p:txBody>
      </p:sp>
      <p:sp>
        <p:nvSpPr>
          <p:cNvPr id="14" name="TextBox 13">
            <a:extLst>
              <a:ext uri="{FF2B5EF4-FFF2-40B4-BE49-F238E27FC236}">
                <a16:creationId xmlns:a16="http://schemas.microsoft.com/office/drawing/2014/main" id="{F927117F-434F-871E-BB26-E1A356A6FE68}"/>
              </a:ext>
            </a:extLst>
          </p:cNvPr>
          <p:cNvSpPr txBox="1"/>
          <p:nvPr/>
        </p:nvSpPr>
        <p:spPr>
          <a:xfrm>
            <a:off x="812802" y="2651531"/>
            <a:ext cx="5344160" cy="923330"/>
          </a:xfrm>
          <a:prstGeom prst="rect">
            <a:avLst/>
          </a:prstGeom>
          <a:noFill/>
        </p:spPr>
        <p:txBody>
          <a:bodyPr wrap="square">
            <a:spAutoFit/>
          </a:bodyPr>
          <a:lstStyle/>
          <a:p>
            <a:r>
              <a:rPr lang="en-US" dirty="0"/>
              <a:t>Disable suspicious account.</a:t>
            </a:r>
            <a:br>
              <a:rPr lang="en-US" dirty="0"/>
            </a:br>
            <a:r>
              <a:rPr lang="en-US" dirty="0"/>
              <a:t>Review local users.</a:t>
            </a:r>
            <a:br>
              <a:rPr lang="en-US" dirty="0"/>
            </a:br>
            <a:r>
              <a:rPr lang="en-US" dirty="0"/>
              <a:t>Audit account creation activities.</a:t>
            </a:r>
          </a:p>
        </p:txBody>
      </p:sp>
      <p:sp>
        <p:nvSpPr>
          <p:cNvPr id="16" name="TextBox 15">
            <a:extLst>
              <a:ext uri="{FF2B5EF4-FFF2-40B4-BE49-F238E27FC236}">
                <a16:creationId xmlns:a16="http://schemas.microsoft.com/office/drawing/2014/main" id="{026EF77A-AD6C-06F5-C10A-3F2B21F53FD5}"/>
              </a:ext>
            </a:extLst>
          </p:cNvPr>
          <p:cNvSpPr txBox="1"/>
          <p:nvPr/>
        </p:nvSpPr>
        <p:spPr>
          <a:xfrm>
            <a:off x="812802" y="4518152"/>
            <a:ext cx="5344160" cy="923330"/>
          </a:xfrm>
          <a:prstGeom prst="rect">
            <a:avLst/>
          </a:prstGeom>
          <a:noFill/>
        </p:spPr>
        <p:txBody>
          <a:bodyPr wrap="square">
            <a:spAutoFit/>
          </a:bodyPr>
          <a:lstStyle/>
          <a:p>
            <a:r>
              <a:rPr lang="en-US" dirty="0"/>
              <a:t>Remove unauthorized administrator.</a:t>
            </a:r>
            <a:br>
              <a:rPr lang="en-US" dirty="0"/>
            </a:br>
            <a:r>
              <a:rPr lang="en-US" dirty="0"/>
              <a:t>Review privilege assignments.</a:t>
            </a:r>
            <a:br>
              <a:rPr lang="en-US" dirty="0"/>
            </a:br>
            <a:r>
              <a:rPr lang="en-US" dirty="0"/>
              <a:t>Reset affected credentials.</a:t>
            </a:r>
          </a:p>
        </p:txBody>
      </p:sp>
      <p:sp>
        <p:nvSpPr>
          <p:cNvPr id="18" name="TextBox 17">
            <a:extLst>
              <a:ext uri="{FF2B5EF4-FFF2-40B4-BE49-F238E27FC236}">
                <a16:creationId xmlns:a16="http://schemas.microsoft.com/office/drawing/2014/main" id="{4B9FE3FF-27D4-22F1-69D4-308FAD46280A}"/>
              </a:ext>
            </a:extLst>
          </p:cNvPr>
          <p:cNvSpPr txBox="1"/>
          <p:nvPr/>
        </p:nvSpPr>
        <p:spPr>
          <a:xfrm>
            <a:off x="812802" y="6199338"/>
            <a:ext cx="5344160" cy="923330"/>
          </a:xfrm>
          <a:prstGeom prst="rect">
            <a:avLst/>
          </a:prstGeom>
          <a:noFill/>
        </p:spPr>
        <p:txBody>
          <a:bodyPr wrap="square">
            <a:spAutoFit/>
          </a:bodyPr>
          <a:lstStyle/>
          <a:p>
            <a:r>
              <a:rPr lang="en-US" dirty="0"/>
              <a:t>Enable account lockout policy.</a:t>
            </a:r>
            <a:br>
              <a:rPr lang="en-US" dirty="0"/>
            </a:br>
            <a:r>
              <a:rPr lang="en-US" dirty="0"/>
              <a:t>Change password.</a:t>
            </a:r>
            <a:br>
              <a:rPr lang="en-US" dirty="0"/>
            </a:br>
            <a:r>
              <a:rPr lang="en-US" dirty="0"/>
              <a:t>Enable MFA  (</a:t>
            </a:r>
            <a:r>
              <a:rPr lang="en-US" b="1" dirty="0"/>
              <a:t>Multi-Factor Authentication</a:t>
            </a:r>
            <a:r>
              <a:rPr lang="en-US" dirty="0"/>
              <a:t>).</a:t>
            </a:r>
          </a:p>
        </p:txBody>
      </p:sp>
    </p:spTree>
    <p:extLst>
      <p:ext uri="{BB962C8B-B14F-4D97-AF65-F5344CB8AC3E}">
        <p14:creationId xmlns:p14="http://schemas.microsoft.com/office/powerpoint/2010/main" val="40367070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999FB-493E-BF5C-13E6-3E352DD2DA0A}"/>
            </a:ext>
          </a:extLst>
        </p:cNvPr>
        <p:cNvGrpSpPr/>
        <p:nvPr/>
      </p:nvGrpSpPr>
      <p:grpSpPr>
        <a:xfrm>
          <a:off x="0" y="0"/>
          <a:ext cx="0" cy="0"/>
          <a:chOff x="0" y="0"/>
          <a:chExt cx="0" cy="0"/>
        </a:xfrm>
      </p:grpSpPr>
      <p:pic>
        <p:nvPicPr>
          <p:cNvPr id="1027" name="Picture 3">
            <a:extLst>
              <a:ext uri="{FF2B5EF4-FFF2-40B4-BE49-F238E27FC236}">
                <a16:creationId xmlns:a16="http://schemas.microsoft.com/office/drawing/2014/main" id="{5B5D595D-799D-B3B4-72DF-E2336BE5BF99}"/>
              </a:ext>
            </a:extLst>
          </p:cNvPr>
          <p:cNvPicPr>
            <a:picLocks noChangeAspect="1" noChangeArrowheads="1"/>
          </p:cNvPicPr>
          <p:nvPr/>
        </p:nvPicPr>
        <p:blipFill>
          <a:blip r:embed="rId2"/>
          <a:srcRect t="-9550" b="9550"/>
          <a:stretch>
            <a:fillRect/>
          </a:stretch>
        </p:blipFill>
        <p:spPr bwMode="auto">
          <a:xfrm>
            <a:off x="-1" y="-31950"/>
            <a:ext cx="10691814" cy="5932170"/>
          </a:xfrm>
          <a:prstGeom prst="rect">
            <a:avLst/>
          </a:prstGeom>
          <a:noFill/>
        </p:spPr>
      </p:pic>
      <p:sp>
        <p:nvSpPr>
          <p:cNvPr id="3" name="TextBox 2">
            <a:extLst>
              <a:ext uri="{FF2B5EF4-FFF2-40B4-BE49-F238E27FC236}">
                <a16:creationId xmlns:a16="http://schemas.microsoft.com/office/drawing/2014/main" id="{51437B3A-D130-3E04-EF82-AFE2FBFA74D6}"/>
              </a:ext>
            </a:extLst>
          </p:cNvPr>
          <p:cNvSpPr txBox="1"/>
          <p:nvPr/>
        </p:nvSpPr>
        <p:spPr>
          <a:xfrm>
            <a:off x="1998186" y="1161795"/>
            <a:ext cx="6695440" cy="461665"/>
          </a:xfrm>
          <a:prstGeom prst="rect">
            <a:avLst/>
          </a:prstGeom>
          <a:noFill/>
        </p:spPr>
        <p:txBody>
          <a:bodyPr wrap="square">
            <a:spAutoFit/>
          </a:bodyPr>
          <a:lstStyle/>
          <a:p>
            <a:r>
              <a:rPr lang="en-US" sz="2400" b="1" dirty="0"/>
              <a:t>SIEM Rule Deployment &amp; Triggering Workflow:</a:t>
            </a:r>
          </a:p>
        </p:txBody>
      </p:sp>
      <p:sp>
        <p:nvSpPr>
          <p:cNvPr id="5" name="TextBox 4">
            <a:extLst>
              <a:ext uri="{FF2B5EF4-FFF2-40B4-BE49-F238E27FC236}">
                <a16:creationId xmlns:a16="http://schemas.microsoft.com/office/drawing/2014/main" id="{13549383-8C41-000C-16A8-1057DA430CC0}"/>
              </a:ext>
            </a:extLst>
          </p:cNvPr>
          <p:cNvSpPr txBox="1"/>
          <p:nvPr/>
        </p:nvSpPr>
        <p:spPr>
          <a:xfrm>
            <a:off x="731520" y="2430044"/>
            <a:ext cx="9316720" cy="2862322"/>
          </a:xfrm>
          <a:prstGeom prst="rect">
            <a:avLst/>
          </a:prstGeom>
          <a:noFill/>
        </p:spPr>
        <p:txBody>
          <a:bodyPr wrap="square">
            <a:spAutoFit/>
          </a:bodyPr>
          <a:lstStyle/>
          <a:p>
            <a:r>
              <a:rPr lang="en-US" b="1" dirty="0"/>
              <a:t>Rule Configuration:</a:t>
            </a:r>
            <a:r>
              <a:rPr lang="en-US" dirty="0"/>
              <a:t> Custom detection rules are built within Kibana to continuously  analyze incoming log streams from monitored endpoints.</a:t>
            </a:r>
          </a:p>
          <a:p>
            <a:endParaRPr lang="en-US" dirty="0"/>
          </a:p>
          <a:p>
            <a:r>
              <a:rPr lang="en-US" b="1" dirty="0"/>
              <a:t>Detection Logic:</a:t>
            </a:r>
            <a:r>
              <a:rPr lang="en-US" dirty="0"/>
              <a:t> Each rule is precisely defined using KQL (Kibana Query Language) to target the specific Windows Event ID that represents a particular attack technique or suspicious activity.</a:t>
            </a:r>
          </a:p>
          <a:p>
            <a:endParaRPr lang="en-US" dirty="0"/>
          </a:p>
          <a:p>
            <a:r>
              <a:rPr lang="en-US" b="1" dirty="0"/>
              <a:t>Alert Triggering:</a:t>
            </a:r>
            <a:r>
              <a:rPr lang="en-US" dirty="0"/>
              <a:t> When an ingested event matches the predefined Event ID and rule conditions, the SIEM automatically generates and escalates an alert to the security dashboard for analyst review.</a:t>
            </a:r>
          </a:p>
        </p:txBody>
      </p:sp>
      <p:sp>
        <p:nvSpPr>
          <p:cNvPr id="8" name="TextBox 7">
            <a:extLst>
              <a:ext uri="{FF2B5EF4-FFF2-40B4-BE49-F238E27FC236}">
                <a16:creationId xmlns:a16="http://schemas.microsoft.com/office/drawing/2014/main" id="{0ACC5C50-B483-53C7-F8F2-EE304DB7C41B}"/>
              </a:ext>
            </a:extLst>
          </p:cNvPr>
          <p:cNvSpPr txBox="1"/>
          <p:nvPr/>
        </p:nvSpPr>
        <p:spPr>
          <a:xfrm>
            <a:off x="558800" y="2430044"/>
            <a:ext cx="5344160" cy="369332"/>
          </a:xfrm>
          <a:prstGeom prst="rect">
            <a:avLst/>
          </a:prstGeom>
          <a:noFill/>
        </p:spPr>
        <p:txBody>
          <a:bodyPr wrap="square">
            <a:spAutoFit/>
          </a:bodyPr>
          <a:lstStyle/>
          <a:p>
            <a:r>
              <a:rPr lang="en-US" dirty="0"/>
              <a:t>•</a:t>
            </a:r>
          </a:p>
        </p:txBody>
      </p:sp>
      <p:sp>
        <p:nvSpPr>
          <p:cNvPr id="11" name="TextBox 10">
            <a:extLst>
              <a:ext uri="{FF2B5EF4-FFF2-40B4-BE49-F238E27FC236}">
                <a16:creationId xmlns:a16="http://schemas.microsoft.com/office/drawing/2014/main" id="{B0D7F9FE-FEA3-7768-212A-6D1A934D9A50}"/>
              </a:ext>
            </a:extLst>
          </p:cNvPr>
          <p:cNvSpPr txBox="1"/>
          <p:nvPr/>
        </p:nvSpPr>
        <p:spPr>
          <a:xfrm>
            <a:off x="558800" y="3281010"/>
            <a:ext cx="5344160" cy="369332"/>
          </a:xfrm>
          <a:prstGeom prst="rect">
            <a:avLst/>
          </a:prstGeom>
          <a:noFill/>
        </p:spPr>
        <p:txBody>
          <a:bodyPr wrap="square">
            <a:spAutoFit/>
          </a:bodyPr>
          <a:lstStyle/>
          <a:p>
            <a:r>
              <a:rPr lang="en-US" dirty="0"/>
              <a:t>•</a:t>
            </a:r>
          </a:p>
        </p:txBody>
      </p:sp>
      <p:sp>
        <p:nvSpPr>
          <p:cNvPr id="17" name="TextBox 16">
            <a:extLst>
              <a:ext uri="{FF2B5EF4-FFF2-40B4-BE49-F238E27FC236}">
                <a16:creationId xmlns:a16="http://schemas.microsoft.com/office/drawing/2014/main" id="{EE37FB15-2E67-5F99-F728-EFFAF7BB54BB}"/>
              </a:ext>
            </a:extLst>
          </p:cNvPr>
          <p:cNvSpPr txBox="1"/>
          <p:nvPr/>
        </p:nvSpPr>
        <p:spPr>
          <a:xfrm>
            <a:off x="558800" y="4399585"/>
            <a:ext cx="5344160" cy="369332"/>
          </a:xfrm>
          <a:prstGeom prst="rect">
            <a:avLst/>
          </a:prstGeom>
          <a:noFill/>
        </p:spPr>
        <p:txBody>
          <a:bodyPr wrap="square">
            <a:spAutoFit/>
          </a:bodyPr>
          <a:lstStyle/>
          <a:p>
            <a:r>
              <a:rPr lang="en-US" dirty="0"/>
              <a:t>•</a:t>
            </a:r>
          </a:p>
        </p:txBody>
      </p:sp>
    </p:spTree>
    <p:extLst>
      <p:ext uri="{BB962C8B-B14F-4D97-AF65-F5344CB8AC3E}">
        <p14:creationId xmlns:p14="http://schemas.microsoft.com/office/powerpoint/2010/main" val="100011539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875</TotalTime>
  <Words>939</Words>
  <Application>Microsoft Office PowerPoint</Application>
  <PresentationFormat>Custom</PresentationFormat>
  <Paragraphs>130</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200025319-Mohamed  Moustafa Elsaid  Elhoot</dc:creator>
  <cp:lastModifiedBy>200025319-Mohamed  Moustafa Elsaid  Elhoot</cp:lastModifiedBy>
  <cp:revision>10</cp:revision>
  <dcterms:created xsi:type="dcterms:W3CDTF">2026-04-26T08:53:09Z</dcterms:created>
  <dcterms:modified xsi:type="dcterms:W3CDTF">2026-06-20T01:56:34Z</dcterms:modified>
</cp:coreProperties>
</file>