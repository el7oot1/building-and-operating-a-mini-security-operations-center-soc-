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70" r:id="rId3"/>
    <p:sldId id="271" r:id="rId4"/>
    <p:sldId id="283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2" r:id="rId14"/>
  </p:sldIdLst>
  <p:sldSz cx="10691813" cy="7524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469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1482"/>
            <a:ext cx="9088041" cy="2619728"/>
          </a:xfrm>
        </p:spPr>
        <p:txBody>
          <a:bodyPr anchor="b"/>
          <a:lstStyle>
            <a:lvl1pPr algn="ctr"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52236"/>
            <a:ext cx="8018860" cy="1816739"/>
          </a:xfrm>
        </p:spPr>
        <p:txBody>
          <a:bodyPr/>
          <a:lstStyle>
            <a:lvl1pPr marL="0" indent="0" algn="ctr">
              <a:buNone/>
              <a:defRPr sz="2633"/>
            </a:lvl1pPr>
            <a:lvl2pPr marL="501640" indent="0" algn="ctr">
              <a:buNone/>
              <a:defRPr sz="2194"/>
            </a:lvl2pPr>
            <a:lvl3pPr marL="1003280" indent="0" algn="ctr">
              <a:buNone/>
              <a:defRPr sz="1975"/>
            </a:lvl3pPr>
            <a:lvl4pPr marL="1504920" indent="0" algn="ctr">
              <a:buNone/>
              <a:defRPr sz="1756"/>
            </a:lvl4pPr>
            <a:lvl5pPr marL="2006559" indent="0" algn="ctr">
              <a:buNone/>
              <a:defRPr sz="1756"/>
            </a:lvl5pPr>
            <a:lvl6pPr marL="2508199" indent="0" algn="ctr">
              <a:buNone/>
              <a:defRPr sz="1756"/>
            </a:lvl6pPr>
            <a:lvl7pPr marL="3009839" indent="0" algn="ctr">
              <a:buNone/>
              <a:defRPr sz="1756"/>
            </a:lvl7pPr>
            <a:lvl8pPr marL="3511479" indent="0" algn="ctr">
              <a:buNone/>
              <a:defRPr sz="1756"/>
            </a:lvl8pPr>
            <a:lvl9pPr marL="4013119" indent="0" algn="ctr">
              <a:buNone/>
              <a:defRPr sz="1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7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2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75964"/>
            <a:ext cx="9221689" cy="3130086"/>
          </a:xfrm>
        </p:spPr>
        <p:txBody>
          <a:bodyPr anchor="b"/>
          <a:lstStyle>
            <a:lvl1pPr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35662"/>
            <a:ext cx="9221689" cy="1646039"/>
          </a:xfrm>
        </p:spPr>
        <p:txBody>
          <a:bodyPr/>
          <a:lstStyle>
            <a:lvl1pPr marL="0" indent="0">
              <a:buNone/>
              <a:defRPr sz="2633">
                <a:solidFill>
                  <a:schemeClr val="tx1">
                    <a:tint val="82000"/>
                  </a:schemeClr>
                </a:solidFill>
              </a:defRPr>
            </a:lvl1pPr>
            <a:lvl2pPr marL="501640" indent="0">
              <a:buNone/>
              <a:defRPr sz="2194">
                <a:solidFill>
                  <a:schemeClr val="tx1">
                    <a:tint val="82000"/>
                  </a:schemeClr>
                </a:solidFill>
              </a:defRPr>
            </a:lvl2pPr>
            <a:lvl3pPr marL="1003280" indent="0">
              <a:buNone/>
              <a:defRPr sz="1975">
                <a:solidFill>
                  <a:schemeClr val="tx1">
                    <a:tint val="82000"/>
                  </a:schemeClr>
                </a:solidFill>
              </a:defRPr>
            </a:lvl3pPr>
            <a:lvl4pPr marL="1504920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4pPr>
            <a:lvl5pPr marL="200655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5pPr>
            <a:lvl6pPr marL="250819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6pPr>
            <a:lvl7pPr marL="300983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7pPr>
            <a:lvl8pPr marL="351147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8pPr>
            <a:lvl9pPr marL="401311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5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0625"/>
            <a:ext cx="9221689" cy="14544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44609"/>
            <a:ext cx="4523137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48624"/>
            <a:ext cx="4523137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44609"/>
            <a:ext cx="4545413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48624"/>
            <a:ext cx="4545413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9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8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3426"/>
            <a:ext cx="5412730" cy="5347450"/>
          </a:xfrm>
        </p:spPr>
        <p:txBody>
          <a:bodyPr/>
          <a:lstStyle>
            <a:lvl1pPr>
              <a:defRPr sz="3511"/>
            </a:lvl1pPr>
            <a:lvl2pPr>
              <a:defRPr sz="3072"/>
            </a:lvl2pPr>
            <a:lvl3pPr>
              <a:defRPr sz="2633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3426"/>
            <a:ext cx="5412730" cy="5347450"/>
          </a:xfrm>
        </p:spPr>
        <p:txBody>
          <a:bodyPr anchor="t"/>
          <a:lstStyle>
            <a:lvl1pPr marL="0" indent="0">
              <a:buNone/>
              <a:defRPr sz="3511"/>
            </a:lvl1pPr>
            <a:lvl2pPr marL="501640" indent="0">
              <a:buNone/>
              <a:defRPr sz="3072"/>
            </a:lvl2pPr>
            <a:lvl3pPr marL="1003280" indent="0">
              <a:buNone/>
              <a:defRPr sz="2633"/>
            </a:lvl3pPr>
            <a:lvl4pPr marL="1504920" indent="0">
              <a:buNone/>
              <a:defRPr sz="2194"/>
            </a:lvl4pPr>
            <a:lvl5pPr marL="2006559" indent="0">
              <a:buNone/>
              <a:defRPr sz="2194"/>
            </a:lvl5pPr>
            <a:lvl6pPr marL="2508199" indent="0">
              <a:buNone/>
              <a:defRPr sz="2194"/>
            </a:lvl6pPr>
            <a:lvl7pPr marL="3009839" indent="0">
              <a:buNone/>
              <a:defRPr sz="2194"/>
            </a:lvl7pPr>
            <a:lvl8pPr marL="3511479" indent="0">
              <a:buNone/>
              <a:defRPr sz="2194"/>
            </a:lvl8pPr>
            <a:lvl9pPr marL="4013119" indent="0">
              <a:buNone/>
              <a:defRPr sz="21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18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2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0623"/>
            <a:ext cx="2305422" cy="63768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0623"/>
            <a:ext cx="6782619" cy="63768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0625"/>
            <a:ext cx="9221689" cy="1454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03116"/>
            <a:ext cx="9221689" cy="4774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DE49F-9FDB-4298-94B8-612B81C5EAC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6974330"/>
            <a:ext cx="3608487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61921-2CFC-4283-AC75-00A044E9E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2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3280" rtl="0" eaLnBrk="1" latinLnBrk="0" hangingPunct="1">
        <a:lnSpc>
          <a:spcPct val="90000"/>
        </a:lnSpc>
        <a:spcBef>
          <a:spcPct val="0"/>
        </a:spcBef>
        <a:buNone/>
        <a:defRPr sz="48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820" indent="-250820" algn="l" defTabSz="1003280" rtl="0" eaLnBrk="1" latinLnBrk="0" hangingPunct="1">
        <a:lnSpc>
          <a:spcPct val="90000"/>
        </a:lnSpc>
        <a:spcBef>
          <a:spcPts val="1097"/>
        </a:spcBef>
        <a:buFont typeface="Arial" panose="020B0604020202020204" pitchFamily="34" charset="0"/>
        <a:buChar char="•"/>
        <a:defRPr sz="3072" kern="1200">
          <a:solidFill>
            <a:schemeClr val="tx1"/>
          </a:solidFill>
          <a:latin typeface="+mn-lt"/>
          <a:ea typeface="+mn-ea"/>
          <a:cs typeface="+mn-cs"/>
        </a:defRPr>
      </a:lvl1pPr>
      <a:lvl2pPr marL="75246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633" kern="1200">
          <a:solidFill>
            <a:schemeClr val="tx1"/>
          </a:solidFill>
          <a:latin typeface="+mn-lt"/>
          <a:ea typeface="+mn-ea"/>
          <a:cs typeface="+mn-cs"/>
        </a:defRPr>
      </a:lvl2pPr>
      <a:lvl3pPr marL="125410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3pPr>
      <a:lvl4pPr marL="17557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25737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75901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26065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76229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2639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1pPr>
      <a:lvl2pPr marL="50164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2pPr>
      <a:lvl3pPr marL="100328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0492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00655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50819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00983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51147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01311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BC039A-ED4C-B825-3369-1671634947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6CADC5-D2AE-413E-6213-D2D3F552B00C}"/>
              </a:ext>
            </a:extLst>
          </p:cNvPr>
          <p:cNvSpPr txBox="1"/>
          <p:nvPr/>
        </p:nvSpPr>
        <p:spPr>
          <a:xfrm>
            <a:off x="607218" y="2008049"/>
            <a:ext cx="94773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5400" b="1" dirty="0">
                <a:cs typeface="+mj-cs"/>
              </a:rPr>
              <a:t>SIEM Deployment and</a:t>
            </a:r>
            <a:r>
              <a:rPr lang="en-US" sz="5400" b="1" dirty="0">
                <a:cs typeface="+mj-cs"/>
              </a:rPr>
              <a:t> </a:t>
            </a:r>
          </a:p>
          <a:p>
            <a:pPr algn="ctr"/>
            <a:r>
              <a:rPr lang="en-US" sz="5400" b="1" dirty="0">
                <a:cs typeface="+mj-cs"/>
              </a:rPr>
              <a:t>logs check reachability</a:t>
            </a:r>
            <a:endParaRPr lang="ar-EG" sz="54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31460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C0577-3EB0-3EFF-546C-2A3D1B66B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A97FDC-A5B7-BD1D-DE6E-ED0510BA3E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04C9FA-4259-62FC-004E-A182D6E7F56E}"/>
              </a:ext>
            </a:extLst>
          </p:cNvPr>
          <p:cNvSpPr txBox="1"/>
          <p:nvPr/>
        </p:nvSpPr>
        <p:spPr>
          <a:xfrm>
            <a:off x="883444" y="746079"/>
            <a:ext cx="7174706" cy="4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effectLst/>
                <a:latin typeface="quote-cjk-patch"/>
              </a:rPr>
              <a:t>Project Overview &amp;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1B94B-2755-8EBE-6437-22AADC55CCDE}"/>
              </a:ext>
            </a:extLst>
          </p:cNvPr>
          <p:cNvSpPr txBox="1"/>
          <p:nvPr/>
        </p:nvSpPr>
        <p:spPr>
          <a:xfrm>
            <a:off x="1045368" y="1210373"/>
            <a:ext cx="7174705" cy="5391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quote-cjk-patch"/>
              </a:rPr>
              <a:t>Goal</a:t>
            </a:r>
            <a:r>
              <a:rPr lang="en-US" b="0" i="0" dirty="0">
                <a:effectLst/>
                <a:latin typeface="quote-cjk-patch"/>
              </a:rPr>
              <a:t>: Build a complete SIEM environment using open-source Elastic Stack to collect, analyze, and monitor security logs.</a:t>
            </a:r>
          </a:p>
          <a:p>
            <a:pPr marL="285750" indent="-285750" algn="l">
              <a:spcBef>
                <a:spcPts val="45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quote-cjk-patch"/>
              </a:rPr>
              <a:t>Scope</a:t>
            </a:r>
            <a:r>
              <a:rPr lang="en-US" b="0" i="0" dirty="0">
                <a:effectLst/>
                <a:latin typeface="quote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quote-cjk-patch"/>
              </a:rPr>
              <a:t>Central Elasticsearch + Kibana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quote-cjk-patch"/>
              </a:rPr>
              <a:t>Fleet Server to manage agents (Ubuntu server)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quote-cjk-patch"/>
              </a:rPr>
              <a:t>Windows VM (</a:t>
            </a:r>
            <a:r>
              <a:rPr lang="en-US" dirty="0">
                <a:latin typeface="quote-cjk-patch"/>
              </a:rPr>
              <a:t>A</a:t>
            </a:r>
            <a:r>
              <a:rPr lang="en-US" b="0" i="0" dirty="0">
                <a:effectLst/>
                <a:latin typeface="quote-cjk-patch"/>
              </a:rPr>
              <a:t>sus)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quote-cjk-patch"/>
              </a:rPr>
              <a:t>Linux VM (kali)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quote-cjk-patch"/>
              </a:rPr>
              <a:t>Fleet Server VM (mohamed-el7oot)</a:t>
            </a:r>
          </a:p>
          <a:p>
            <a:pPr marL="285750" indent="-285750" algn="l">
              <a:spcBef>
                <a:spcPts val="45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quote-cjk-patch"/>
              </a:rPr>
              <a:t>KPIs</a:t>
            </a:r>
            <a:r>
              <a:rPr lang="en-US" b="0" i="0" dirty="0">
                <a:effectLst/>
                <a:latin typeface="quote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quote-cjk-patch"/>
              </a:rPr>
              <a:t>Collect logs from all endpoints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quote-cjk-patch"/>
              </a:rPr>
              <a:t>Detect security events (e.g., process creation)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quote-cjk-patch"/>
              </a:rPr>
              <a:t>Centralized visibility in Kibana</a:t>
            </a:r>
          </a:p>
        </p:txBody>
      </p:sp>
    </p:spTree>
    <p:extLst>
      <p:ext uri="{BB962C8B-B14F-4D97-AF65-F5344CB8AC3E}">
        <p14:creationId xmlns:p14="http://schemas.microsoft.com/office/powerpoint/2010/main" val="1970617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92E7-2F42-1A11-08D7-DAB47939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F5F80C-A4BD-4D42-867E-D0720DAE56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E8DD14-4766-8653-FCCE-D3B08AD57213}"/>
              </a:ext>
            </a:extLst>
          </p:cNvPr>
          <p:cNvSpPr txBox="1"/>
          <p:nvPr/>
        </p:nvSpPr>
        <p:spPr>
          <a:xfrm>
            <a:off x="1276546" y="975688"/>
            <a:ext cx="5348286" cy="4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effectLst/>
                <a:latin typeface="quote-cjk-patch"/>
                <a:cs typeface="+mj-cs"/>
              </a:rPr>
              <a:t>Architecture Overview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DE1A0-7287-2C11-2578-D49F19F099A9}"/>
              </a:ext>
            </a:extLst>
          </p:cNvPr>
          <p:cNvSpPr txBox="1"/>
          <p:nvPr/>
        </p:nvSpPr>
        <p:spPr>
          <a:xfrm>
            <a:off x="555812" y="2104239"/>
            <a:ext cx="8610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1- Elastic Stack Server         </a:t>
            </a:r>
            <a:r>
              <a:rPr lang="en-US" sz="2000" dirty="0">
                <a:solidFill>
                  <a:srgbClr val="FF0000"/>
                </a:solidFill>
              </a:rPr>
              <a:t>192.168.190.131</a:t>
            </a:r>
            <a:endParaRPr lang="en-US" sz="2000" dirty="0"/>
          </a:p>
          <a:p>
            <a:r>
              <a:rPr lang="en-US" sz="2000" dirty="0"/>
              <a:t>		• Elasticsearch (port 9200)</a:t>
            </a:r>
          </a:p>
          <a:p>
            <a:r>
              <a:rPr lang="en-US" sz="2000" dirty="0"/>
              <a:t>    		• Kibana (port 5601)</a:t>
            </a:r>
          </a:p>
          <a:p>
            <a:r>
              <a:rPr lang="en-US" sz="2000" dirty="0"/>
              <a:t>                 •Fleet Server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		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B5A892-8E1E-FD5A-3443-F5892ED7A3A5}"/>
              </a:ext>
            </a:extLst>
          </p:cNvPr>
          <p:cNvSpPr txBox="1"/>
          <p:nvPr/>
        </p:nvSpPr>
        <p:spPr>
          <a:xfrm>
            <a:off x="230645" y="1505710"/>
            <a:ext cx="4054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 Devices used and their IPs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F411EE-17FE-D145-2DA9-AD661E207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45" y="3527282"/>
            <a:ext cx="10230521" cy="27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02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DAD00-3B06-1A2B-AC29-C5342162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98D166-F563-7283-9F2D-877FF9EFB3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A0D656-6FF6-EE3D-0A62-3764E763E9C5}"/>
              </a:ext>
            </a:extLst>
          </p:cNvPr>
          <p:cNvSpPr txBox="1"/>
          <p:nvPr/>
        </p:nvSpPr>
        <p:spPr>
          <a:xfrm>
            <a:off x="1364873" y="645660"/>
            <a:ext cx="5348286" cy="4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effectLst/>
                <a:latin typeface="quote-cjk-patch"/>
                <a:cs typeface="+mj-cs"/>
              </a:rPr>
              <a:t>Architecture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29181D-332C-FA73-0881-77DE86C62F8F}"/>
              </a:ext>
            </a:extLst>
          </p:cNvPr>
          <p:cNvSpPr txBox="1"/>
          <p:nvPr/>
        </p:nvSpPr>
        <p:spPr>
          <a:xfrm>
            <a:off x="823873" y="1547558"/>
            <a:ext cx="64302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2- Linux </a:t>
            </a:r>
            <a:r>
              <a:rPr lang="en-US" sz="2000" dirty="0">
                <a:solidFill>
                  <a:srgbClr val="FF0000"/>
                </a:solidFill>
              </a:rPr>
              <a:t>         192.168.190.128  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attacker device used to deploy some attacks on devices </a:t>
            </a:r>
          </a:p>
          <a:p>
            <a:r>
              <a:rPr lang="en-US" sz="2000" dirty="0"/>
              <a:t>by beast using of  vulnerabilities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FC363-3295-21CF-C6E4-E65768FB1A92}"/>
              </a:ext>
            </a:extLst>
          </p:cNvPr>
          <p:cNvSpPr txBox="1"/>
          <p:nvPr/>
        </p:nvSpPr>
        <p:spPr>
          <a:xfrm>
            <a:off x="823873" y="3646841"/>
            <a:ext cx="652069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3- Windows    </a:t>
            </a:r>
            <a:r>
              <a:rPr lang="en-US" sz="2000" dirty="0">
                <a:solidFill>
                  <a:srgbClr val="FF0000"/>
                </a:solidFill>
              </a:rPr>
              <a:t>192.168.190.1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dirty="0"/>
              <a:t>Employee devices are vulnerable to attacks and need protection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D906A-F887-D958-6DCD-BB0753F90FA0}"/>
              </a:ext>
            </a:extLst>
          </p:cNvPr>
          <p:cNvSpPr txBox="1"/>
          <p:nvPr/>
        </p:nvSpPr>
        <p:spPr>
          <a:xfrm>
            <a:off x="823873" y="5472093"/>
            <a:ext cx="36177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NOTE : </a:t>
            </a:r>
          </a:p>
          <a:p>
            <a:r>
              <a:rPr lang="en-US" dirty="0"/>
              <a:t> I got IPs</a:t>
            </a:r>
          </a:p>
          <a:p>
            <a:r>
              <a:rPr lang="en-US" dirty="0"/>
              <a:t>      • using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a </a:t>
            </a:r>
            <a:r>
              <a:rPr lang="en-US" dirty="0"/>
              <a:t>) on command line, </a:t>
            </a:r>
          </a:p>
          <a:p>
            <a:r>
              <a:rPr lang="en-US" dirty="0"/>
              <a:t>      • using (</a:t>
            </a:r>
            <a:r>
              <a:rPr lang="en-US" dirty="0">
                <a:solidFill>
                  <a:srgbClr val="FF0000"/>
                </a:solidFill>
              </a:rPr>
              <a:t>ipconfig</a:t>
            </a:r>
            <a:r>
              <a:rPr lang="en-US" dirty="0"/>
              <a:t>) on CMD </a:t>
            </a:r>
          </a:p>
        </p:txBody>
      </p:sp>
    </p:spTree>
    <p:extLst>
      <p:ext uri="{BB962C8B-B14F-4D97-AF65-F5344CB8AC3E}">
        <p14:creationId xmlns:p14="http://schemas.microsoft.com/office/powerpoint/2010/main" val="4203859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D86EC-7365-896E-6417-FEC34235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A59196-7228-A070-0E66-5ED3686E14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5AD73-E3BC-80A5-A616-F9BDCCED1D86}"/>
              </a:ext>
            </a:extLst>
          </p:cNvPr>
          <p:cNvSpPr txBox="1"/>
          <p:nvPr/>
        </p:nvSpPr>
        <p:spPr>
          <a:xfrm>
            <a:off x="1173900" y="1111477"/>
            <a:ext cx="5367336" cy="4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effectLst/>
                <a:latin typeface="quote-cjk-patch"/>
                <a:cs typeface="+mj-cs"/>
              </a:rPr>
              <a:t>Fleet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03B974-1E51-13DD-31E7-3E249D86D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6756"/>
            <a:ext cx="10691813" cy="38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4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F5DE2-7FC5-2949-510F-80B93E90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200FF2-5EB1-6209-C293-FAC91F4DE7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7E487B-D51A-B53A-2262-278EF13DE77E}"/>
              </a:ext>
            </a:extLst>
          </p:cNvPr>
          <p:cNvSpPr txBox="1"/>
          <p:nvPr/>
        </p:nvSpPr>
        <p:spPr>
          <a:xfrm>
            <a:off x="900925" y="566561"/>
            <a:ext cx="6866096" cy="4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effectLst/>
                <a:latin typeface="quote-cjk-patch"/>
              </a:rPr>
              <a:t> installation of Elastic Agents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45C669-49D3-5CA6-3797-E3DF55D17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043" y="1531224"/>
            <a:ext cx="7607858" cy="3041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D3C929-C2D5-783A-86FB-ACCF52236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043" y="4993102"/>
            <a:ext cx="7688085" cy="21115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BA8DE1-9A80-06CA-AE4A-718DF870F3AF}"/>
              </a:ext>
            </a:extLst>
          </p:cNvPr>
          <p:cNvSpPr txBox="1"/>
          <p:nvPr/>
        </p:nvSpPr>
        <p:spPr>
          <a:xfrm>
            <a:off x="900925" y="1111096"/>
            <a:ext cx="5389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&gt;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successfully installed at windows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9B64F0-6767-920D-8E83-4B5D41E61ADE}"/>
              </a:ext>
            </a:extLst>
          </p:cNvPr>
          <p:cNvSpPr txBox="1"/>
          <p:nvPr/>
        </p:nvSpPr>
        <p:spPr>
          <a:xfrm>
            <a:off x="900925" y="4598372"/>
            <a:ext cx="5505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&gt; </a:t>
            </a:r>
            <a:r>
              <a:rPr lang="en-US" b="1" dirty="0">
                <a:solidFill>
                  <a:srgbClr val="FF0000"/>
                </a:solidFill>
              </a:rPr>
              <a:t>successfully installed at Linux</a:t>
            </a:r>
          </a:p>
        </p:txBody>
      </p:sp>
    </p:spTree>
    <p:extLst>
      <p:ext uri="{BB962C8B-B14F-4D97-AF65-F5344CB8AC3E}">
        <p14:creationId xmlns:p14="http://schemas.microsoft.com/office/powerpoint/2010/main" val="2605569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B7E70-549E-33DC-E098-231436BB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F731E2-74B9-B8A2-F09B-3CA65AB22F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7EB2D6-9EE9-DABF-AE5E-4139CA898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7" y="2047239"/>
            <a:ext cx="10041257" cy="4807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12BE75-4071-E62D-B100-D99B041C1674}"/>
              </a:ext>
            </a:extLst>
          </p:cNvPr>
          <p:cNvSpPr txBox="1"/>
          <p:nvPr/>
        </p:nvSpPr>
        <p:spPr>
          <a:xfrm>
            <a:off x="1034052" y="556691"/>
            <a:ext cx="5367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quote-cjk-patch"/>
              </a:rPr>
              <a:t>Windows</a:t>
            </a:r>
            <a:r>
              <a:rPr lang="en-US" sz="3600" b="1" dirty="0">
                <a:effectLst/>
                <a:latin typeface="quote-cjk-patch"/>
              </a:rPr>
              <a:t> Logs Analysis </a:t>
            </a:r>
            <a:endParaRPr lang="ar-EG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F870F-A973-E7BC-F1F4-28B110BAFB57}"/>
              </a:ext>
            </a:extLst>
          </p:cNvPr>
          <p:cNvSpPr txBox="1"/>
          <p:nvPr/>
        </p:nvSpPr>
        <p:spPr>
          <a:xfrm>
            <a:off x="1011808" y="1440464"/>
            <a:ext cx="5389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All logs indexed under "logs-*" data view</a:t>
            </a:r>
            <a:endParaRPr lang="ar-EG" sz="1800" dirty="0"/>
          </a:p>
        </p:txBody>
      </p:sp>
    </p:spTree>
    <p:extLst>
      <p:ext uri="{BB962C8B-B14F-4D97-AF65-F5344CB8AC3E}">
        <p14:creationId xmlns:p14="http://schemas.microsoft.com/office/powerpoint/2010/main" val="1827925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4DECC-021B-7403-5B79-4D246E61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5D2F47-44C3-8914-0A5A-53D1BE3A36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C28A36-12DB-20A1-CE7C-BE9DFFB8F2A8}"/>
              </a:ext>
            </a:extLst>
          </p:cNvPr>
          <p:cNvSpPr txBox="1"/>
          <p:nvPr/>
        </p:nvSpPr>
        <p:spPr>
          <a:xfrm>
            <a:off x="931069" y="755604"/>
            <a:ext cx="5367336" cy="4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effectLst/>
                <a:latin typeface="quote-cjk-patch"/>
              </a:rPr>
              <a:t>Linux Logs Analysis (kali)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F6BB20-38CD-8587-3CDF-67E5AF28A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27" y="1468307"/>
            <a:ext cx="10258425" cy="493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49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DB78-D6B3-1362-0608-E6459750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9B597C-AEEA-9832-D24F-957EC12812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180158-CB28-9251-0370-5F6380BD3D8B}"/>
              </a:ext>
            </a:extLst>
          </p:cNvPr>
          <p:cNvSpPr txBox="1"/>
          <p:nvPr/>
        </p:nvSpPr>
        <p:spPr>
          <a:xfrm>
            <a:off x="933535" y="843234"/>
            <a:ext cx="5348286" cy="4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effectLst/>
                <a:latin typeface="quote-cjk-patch"/>
              </a:rPr>
              <a:t>Fleet Server Internal Logs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3DBB75-D914-F21A-B5D5-77FD48ABF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68" y="1548068"/>
            <a:ext cx="9972675" cy="47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39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4057-2FFC-AB9C-1835-AF206B64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8FD97B-75FF-ED41-3EFA-27598D4321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1C2A87-6410-AD81-5A77-D3D1ADAC3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4896"/>
            <a:ext cx="10691813" cy="33658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6C8AAC-38C4-0DA9-4399-B6D6E0FBBF47}"/>
              </a:ext>
            </a:extLst>
          </p:cNvPr>
          <p:cNvSpPr txBox="1"/>
          <p:nvPr/>
        </p:nvSpPr>
        <p:spPr>
          <a:xfrm>
            <a:off x="715383" y="1495953"/>
            <a:ext cx="81166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1- Event ID 4624 (Successful Logon)</a:t>
            </a:r>
          </a:p>
          <a:p>
            <a:r>
              <a:rPr lang="en-US" dirty="0"/>
              <a:t>, which is crucial for tracking the attacker's lateral movement or successful access. Additionally, </a:t>
            </a:r>
          </a:p>
          <a:p>
            <a:r>
              <a:rPr lang="en-US" b="1" dirty="0"/>
              <a:t>2-Event ID 4625 (Failed Logon)</a:t>
            </a:r>
            <a:r>
              <a:rPr lang="en-US" dirty="0"/>
              <a:t> will help us detect and analyze the Brute Force attack attempts.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A43041-AE42-4DE5-B287-6C89C9A4C3E0}"/>
              </a:ext>
            </a:extLst>
          </p:cNvPr>
          <p:cNvSpPr txBox="1"/>
          <p:nvPr/>
        </p:nvSpPr>
        <p:spPr>
          <a:xfrm>
            <a:off x="1166672" y="600044"/>
            <a:ext cx="5414962" cy="4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effectLst/>
                <a:latin typeface="quote-cjk-patch"/>
              </a:rPr>
              <a:t>Security Event Examples</a:t>
            </a:r>
          </a:p>
        </p:txBody>
      </p:sp>
    </p:spTree>
    <p:extLst>
      <p:ext uri="{BB962C8B-B14F-4D97-AF65-F5344CB8AC3E}">
        <p14:creationId xmlns:p14="http://schemas.microsoft.com/office/powerpoint/2010/main" val="790766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B40D6-76AD-5EC5-F18C-D4901A30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9A1684-EE7E-673D-885C-6FA3931BE5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E78087-DE66-ECC6-11A8-F950B2F83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2375"/>
            <a:ext cx="10691813" cy="34391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0A02D0-99AE-01A0-722A-8ED4459B7B1B}"/>
              </a:ext>
            </a:extLst>
          </p:cNvPr>
          <p:cNvSpPr txBox="1"/>
          <p:nvPr/>
        </p:nvSpPr>
        <p:spPr>
          <a:xfrm>
            <a:off x="909020" y="1345960"/>
            <a:ext cx="84286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3- Event ID 4688 (Process Creation) </a:t>
            </a:r>
            <a:r>
              <a:rPr lang="en-US" dirty="0"/>
              <a:t>This allows us to monitor any application launch or any command executed via </a:t>
            </a:r>
            <a:r>
              <a:rPr lang="en-US" b="1" dirty="0"/>
              <a:t>CMD</a:t>
            </a:r>
            <a:r>
              <a:rPr lang="en-US" dirty="0"/>
              <a:t> or </a:t>
            </a:r>
            <a:r>
              <a:rPr lang="en-US" b="1" dirty="0"/>
              <a:t>PowerShell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This event ID is not enough if attacker uses </a:t>
            </a:r>
            <a:r>
              <a:rPr lang="en-US" dirty="0">
                <a:solidFill>
                  <a:srgbClr val="FF0000"/>
                </a:solidFill>
              </a:rPr>
              <a:t>Obfuscation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تشفير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أو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تمويه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للأكواد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 so  we use :</a:t>
            </a:r>
          </a:p>
          <a:p>
            <a:r>
              <a:rPr lang="en-US" b="1" dirty="0"/>
              <a:t>4- Event ID 4104 (Script Block Logging)</a:t>
            </a:r>
          </a:p>
          <a:p>
            <a:r>
              <a:rPr lang="en-US" dirty="0"/>
              <a:t>To get full visibility into </a:t>
            </a:r>
            <a:r>
              <a:rPr lang="en-US" b="1" dirty="0"/>
              <a:t>PowerShell</a:t>
            </a:r>
            <a:r>
              <a:rPr lang="en-US" dirty="0"/>
              <a:t> executions, which logs the actual content of the scripts and commands being executed, defeating most obfuscation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810036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8E6B9-166D-2F61-CD02-745857FB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05709C-A590-159F-36AD-F4BEB651E9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A55EB5-9622-6D64-6377-F6C474A5BFC8}"/>
              </a:ext>
            </a:extLst>
          </p:cNvPr>
          <p:cNvSpPr txBox="1"/>
          <p:nvPr/>
        </p:nvSpPr>
        <p:spPr>
          <a:xfrm>
            <a:off x="1081143" y="1622619"/>
            <a:ext cx="5389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5-Event ID 4720:</a:t>
            </a:r>
            <a:r>
              <a:rPr lang="en-US" dirty="0"/>
              <a:t> A user account was created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93CD2-3F9E-0F2C-BD26-38C87F22E726}"/>
              </a:ext>
            </a:extLst>
          </p:cNvPr>
          <p:cNvSpPr txBox="1"/>
          <p:nvPr/>
        </p:nvSpPr>
        <p:spPr>
          <a:xfrm>
            <a:off x="1081143" y="2463066"/>
            <a:ext cx="5389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6-Event ID 4732:</a:t>
            </a:r>
            <a:r>
              <a:rPr lang="en-US" dirty="0"/>
              <a:t> A member was added to a security-enabled local group (e.g., Administrators)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982019-3CAB-12FB-873C-7E9D9926C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62375"/>
            <a:ext cx="10691813" cy="340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19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2EF94-D069-C398-AAE7-AF00365F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DC53D1-871B-6A98-0FA6-7B28ED07B6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09624"/>
            <a:ext cx="10691814" cy="8334374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7E032A-48DE-D78A-838F-C49BFBC38FAF}"/>
              </a:ext>
            </a:extLst>
          </p:cNvPr>
          <p:cNvSpPr txBox="1"/>
          <p:nvPr/>
        </p:nvSpPr>
        <p:spPr>
          <a:xfrm>
            <a:off x="1129932" y="3002559"/>
            <a:ext cx="77451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Log filtering allows you to isolate </a:t>
            </a:r>
            <a:r>
              <a:rPr lang="en-US" sz="2800" b="1" dirty="0"/>
              <a:t>specific events</a:t>
            </a:r>
            <a:r>
              <a:rPr lang="en-US" sz="2800" dirty="0"/>
              <a:t> or  analyze data within </a:t>
            </a:r>
            <a:r>
              <a:rPr lang="en-US" sz="2800" b="1" dirty="0"/>
              <a:t>defined time periods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570350-1136-503E-A701-2F4E8AA8B632}"/>
              </a:ext>
            </a:extLst>
          </p:cNvPr>
          <p:cNvSpPr txBox="1"/>
          <p:nvPr/>
        </p:nvSpPr>
        <p:spPr>
          <a:xfrm>
            <a:off x="701108" y="3017948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</a:t>
            </a:r>
          </a:p>
        </p:txBody>
      </p:sp>
    </p:spTree>
    <p:extLst>
      <p:ext uri="{BB962C8B-B14F-4D97-AF65-F5344CB8AC3E}">
        <p14:creationId xmlns:p14="http://schemas.microsoft.com/office/powerpoint/2010/main" val="104923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</TotalTime>
  <Words>387</Words>
  <Application>Microsoft Office PowerPoint</Application>
  <PresentationFormat>Custom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quote-cjk-patch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200025319-Mohamed  Moustafa Elsaid  Elhoot</dc:creator>
  <cp:lastModifiedBy>200025319-Mohamed  Moustafa Elsaid  Elhoot</cp:lastModifiedBy>
  <cp:revision>5</cp:revision>
  <dcterms:created xsi:type="dcterms:W3CDTF">2026-04-26T08:53:09Z</dcterms:created>
  <dcterms:modified xsi:type="dcterms:W3CDTF">2026-06-16T15:49:50Z</dcterms:modified>
</cp:coreProperties>
</file>