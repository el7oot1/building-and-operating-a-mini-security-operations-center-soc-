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</p:sldIdLst>
  <p:sldSz cx="10691813" cy="75247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60"/>
  </p:normalViewPr>
  <p:slideViewPr>
    <p:cSldViewPr snapToGrid="0">
      <p:cViewPr varScale="1">
        <p:scale>
          <a:sx n="71" d="100"/>
          <a:sy n="71" d="100"/>
        </p:scale>
        <p:origin x="142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1482"/>
            <a:ext cx="9088041" cy="2619728"/>
          </a:xfrm>
        </p:spPr>
        <p:txBody>
          <a:bodyPr anchor="b"/>
          <a:lstStyle>
            <a:lvl1pPr algn="ctr"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52236"/>
            <a:ext cx="8018860" cy="1816739"/>
          </a:xfrm>
        </p:spPr>
        <p:txBody>
          <a:bodyPr/>
          <a:lstStyle>
            <a:lvl1pPr marL="0" indent="0" algn="ctr">
              <a:buNone/>
              <a:defRPr sz="2633"/>
            </a:lvl1pPr>
            <a:lvl2pPr marL="501640" indent="0" algn="ctr">
              <a:buNone/>
              <a:defRPr sz="2194"/>
            </a:lvl2pPr>
            <a:lvl3pPr marL="1003280" indent="0" algn="ctr">
              <a:buNone/>
              <a:defRPr sz="1975"/>
            </a:lvl3pPr>
            <a:lvl4pPr marL="1504920" indent="0" algn="ctr">
              <a:buNone/>
              <a:defRPr sz="1756"/>
            </a:lvl4pPr>
            <a:lvl5pPr marL="2006559" indent="0" algn="ctr">
              <a:buNone/>
              <a:defRPr sz="1756"/>
            </a:lvl5pPr>
            <a:lvl6pPr marL="2508199" indent="0" algn="ctr">
              <a:buNone/>
              <a:defRPr sz="1756"/>
            </a:lvl6pPr>
            <a:lvl7pPr marL="3009839" indent="0" algn="ctr">
              <a:buNone/>
              <a:defRPr sz="1756"/>
            </a:lvl7pPr>
            <a:lvl8pPr marL="3511479" indent="0" algn="ctr">
              <a:buNone/>
              <a:defRPr sz="1756"/>
            </a:lvl8pPr>
            <a:lvl9pPr marL="4013119" indent="0" algn="ctr">
              <a:buNone/>
              <a:defRPr sz="17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8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372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75964"/>
            <a:ext cx="9221689" cy="3130086"/>
          </a:xfrm>
        </p:spPr>
        <p:txBody>
          <a:bodyPr anchor="b"/>
          <a:lstStyle>
            <a:lvl1pPr>
              <a:defRPr sz="65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35662"/>
            <a:ext cx="9221689" cy="1646039"/>
          </a:xfrm>
        </p:spPr>
        <p:txBody>
          <a:bodyPr/>
          <a:lstStyle>
            <a:lvl1pPr marL="0" indent="0">
              <a:buNone/>
              <a:defRPr sz="2633">
                <a:solidFill>
                  <a:schemeClr val="tx1">
                    <a:tint val="82000"/>
                  </a:schemeClr>
                </a:solidFill>
              </a:defRPr>
            </a:lvl1pPr>
            <a:lvl2pPr marL="501640" indent="0">
              <a:buNone/>
              <a:defRPr sz="2194">
                <a:solidFill>
                  <a:schemeClr val="tx1">
                    <a:tint val="82000"/>
                  </a:schemeClr>
                </a:solidFill>
              </a:defRPr>
            </a:lvl2pPr>
            <a:lvl3pPr marL="1003280" indent="0">
              <a:buNone/>
              <a:defRPr sz="1975">
                <a:solidFill>
                  <a:schemeClr val="tx1">
                    <a:tint val="82000"/>
                  </a:schemeClr>
                </a:solidFill>
              </a:defRPr>
            </a:lvl3pPr>
            <a:lvl4pPr marL="1504920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4pPr>
            <a:lvl5pPr marL="200655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5pPr>
            <a:lvl6pPr marL="250819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6pPr>
            <a:lvl7pPr marL="300983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7pPr>
            <a:lvl8pPr marL="351147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8pPr>
            <a:lvl9pPr marL="4013119" indent="0">
              <a:buNone/>
              <a:defRPr sz="1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312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03116"/>
            <a:ext cx="4544021" cy="47743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94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0625"/>
            <a:ext cx="9221689" cy="14544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44609"/>
            <a:ext cx="4523137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48624"/>
            <a:ext cx="4523137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44609"/>
            <a:ext cx="4545413" cy="904015"/>
          </a:xfrm>
        </p:spPr>
        <p:txBody>
          <a:bodyPr anchor="b"/>
          <a:lstStyle>
            <a:lvl1pPr marL="0" indent="0">
              <a:buNone/>
              <a:defRPr sz="2633" b="1"/>
            </a:lvl1pPr>
            <a:lvl2pPr marL="501640" indent="0">
              <a:buNone/>
              <a:defRPr sz="2194" b="1"/>
            </a:lvl2pPr>
            <a:lvl3pPr marL="1003280" indent="0">
              <a:buNone/>
              <a:defRPr sz="1975" b="1"/>
            </a:lvl3pPr>
            <a:lvl4pPr marL="1504920" indent="0">
              <a:buNone/>
              <a:defRPr sz="1756" b="1"/>
            </a:lvl4pPr>
            <a:lvl5pPr marL="2006559" indent="0">
              <a:buNone/>
              <a:defRPr sz="1756" b="1"/>
            </a:lvl5pPr>
            <a:lvl6pPr marL="2508199" indent="0">
              <a:buNone/>
              <a:defRPr sz="1756" b="1"/>
            </a:lvl6pPr>
            <a:lvl7pPr marL="3009839" indent="0">
              <a:buNone/>
              <a:defRPr sz="1756" b="1"/>
            </a:lvl7pPr>
            <a:lvl8pPr marL="3511479" indent="0">
              <a:buNone/>
              <a:defRPr sz="1756" b="1"/>
            </a:lvl8pPr>
            <a:lvl9pPr marL="4013119" indent="0">
              <a:buNone/>
              <a:defRPr sz="17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48624"/>
            <a:ext cx="4545413" cy="40428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445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0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20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3426"/>
            <a:ext cx="5412730" cy="5347450"/>
          </a:xfrm>
        </p:spPr>
        <p:txBody>
          <a:bodyPr/>
          <a:lstStyle>
            <a:lvl1pPr>
              <a:defRPr sz="3511"/>
            </a:lvl1pPr>
            <a:lvl2pPr>
              <a:defRPr sz="3072"/>
            </a:lvl2pPr>
            <a:lvl3pPr>
              <a:defRPr sz="2633"/>
            </a:lvl3pPr>
            <a:lvl4pPr>
              <a:defRPr sz="2194"/>
            </a:lvl4pPr>
            <a:lvl5pPr>
              <a:defRPr sz="2194"/>
            </a:lvl5pPr>
            <a:lvl6pPr>
              <a:defRPr sz="2194"/>
            </a:lvl6pPr>
            <a:lvl7pPr>
              <a:defRPr sz="2194"/>
            </a:lvl7pPr>
            <a:lvl8pPr>
              <a:defRPr sz="2194"/>
            </a:lvl8pPr>
            <a:lvl9pPr>
              <a:defRPr sz="21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885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1650"/>
            <a:ext cx="3448388" cy="1755775"/>
          </a:xfrm>
        </p:spPr>
        <p:txBody>
          <a:bodyPr anchor="b"/>
          <a:lstStyle>
            <a:lvl1pPr>
              <a:defRPr sz="351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3426"/>
            <a:ext cx="5412730" cy="5347450"/>
          </a:xfrm>
        </p:spPr>
        <p:txBody>
          <a:bodyPr anchor="t"/>
          <a:lstStyle>
            <a:lvl1pPr marL="0" indent="0">
              <a:buNone/>
              <a:defRPr sz="3511"/>
            </a:lvl1pPr>
            <a:lvl2pPr marL="501640" indent="0">
              <a:buNone/>
              <a:defRPr sz="3072"/>
            </a:lvl2pPr>
            <a:lvl3pPr marL="1003280" indent="0">
              <a:buNone/>
              <a:defRPr sz="2633"/>
            </a:lvl3pPr>
            <a:lvl4pPr marL="1504920" indent="0">
              <a:buNone/>
              <a:defRPr sz="2194"/>
            </a:lvl4pPr>
            <a:lvl5pPr marL="2006559" indent="0">
              <a:buNone/>
              <a:defRPr sz="2194"/>
            </a:lvl5pPr>
            <a:lvl6pPr marL="2508199" indent="0">
              <a:buNone/>
              <a:defRPr sz="2194"/>
            </a:lvl6pPr>
            <a:lvl7pPr marL="3009839" indent="0">
              <a:buNone/>
              <a:defRPr sz="2194"/>
            </a:lvl7pPr>
            <a:lvl8pPr marL="3511479" indent="0">
              <a:buNone/>
              <a:defRPr sz="2194"/>
            </a:lvl8pPr>
            <a:lvl9pPr marL="4013119" indent="0">
              <a:buNone/>
              <a:defRPr sz="21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57425"/>
            <a:ext cx="3448388" cy="4182159"/>
          </a:xfrm>
        </p:spPr>
        <p:txBody>
          <a:bodyPr/>
          <a:lstStyle>
            <a:lvl1pPr marL="0" indent="0">
              <a:buNone/>
              <a:defRPr sz="1756"/>
            </a:lvl1pPr>
            <a:lvl2pPr marL="501640" indent="0">
              <a:buNone/>
              <a:defRPr sz="1536"/>
            </a:lvl2pPr>
            <a:lvl3pPr marL="1003280" indent="0">
              <a:buNone/>
              <a:defRPr sz="1317"/>
            </a:lvl3pPr>
            <a:lvl4pPr marL="1504920" indent="0">
              <a:buNone/>
              <a:defRPr sz="1097"/>
            </a:lvl4pPr>
            <a:lvl5pPr marL="2006559" indent="0">
              <a:buNone/>
              <a:defRPr sz="1097"/>
            </a:lvl5pPr>
            <a:lvl6pPr marL="2508199" indent="0">
              <a:buNone/>
              <a:defRPr sz="1097"/>
            </a:lvl6pPr>
            <a:lvl7pPr marL="3009839" indent="0">
              <a:buNone/>
              <a:defRPr sz="1097"/>
            </a:lvl7pPr>
            <a:lvl8pPr marL="3511479" indent="0">
              <a:buNone/>
              <a:defRPr sz="1097"/>
            </a:lvl8pPr>
            <a:lvl9pPr marL="4013119" indent="0">
              <a:buNone/>
              <a:defRPr sz="109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80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39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0623"/>
            <a:ext cx="2305422" cy="637687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0623"/>
            <a:ext cx="6782619" cy="637687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713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0625"/>
            <a:ext cx="9221689" cy="1454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03116"/>
            <a:ext cx="9221689" cy="4774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3FA4A-C922-4E7B-BE6A-F7C0B5A1E4F1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6974330"/>
            <a:ext cx="3608487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6974330"/>
            <a:ext cx="2405658" cy="4006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FFDECE-6D06-405A-9F10-5F2C46D3AE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608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3280" rtl="0" eaLnBrk="1" latinLnBrk="0" hangingPunct="1">
        <a:lnSpc>
          <a:spcPct val="90000"/>
        </a:lnSpc>
        <a:spcBef>
          <a:spcPct val="0"/>
        </a:spcBef>
        <a:buNone/>
        <a:defRPr sz="48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0820" indent="-250820" algn="l" defTabSz="1003280" rtl="0" eaLnBrk="1" latinLnBrk="0" hangingPunct="1">
        <a:lnSpc>
          <a:spcPct val="90000"/>
        </a:lnSpc>
        <a:spcBef>
          <a:spcPts val="1097"/>
        </a:spcBef>
        <a:buFont typeface="Arial" panose="020B0604020202020204" pitchFamily="34" charset="0"/>
        <a:buChar char="•"/>
        <a:defRPr sz="3072" kern="1200">
          <a:solidFill>
            <a:schemeClr val="tx1"/>
          </a:solidFill>
          <a:latin typeface="+mn-lt"/>
          <a:ea typeface="+mn-ea"/>
          <a:cs typeface="+mn-cs"/>
        </a:defRPr>
      </a:lvl1pPr>
      <a:lvl2pPr marL="75246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633" kern="1200">
          <a:solidFill>
            <a:schemeClr val="tx1"/>
          </a:solidFill>
          <a:latin typeface="+mn-lt"/>
          <a:ea typeface="+mn-ea"/>
          <a:cs typeface="+mn-cs"/>
        </a:defRPr>
      </a:lvl2pPr>
      <a:lvl3pPr marL="1254100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2194" kern="1200">
          <a:solidFill>
            <a:schemeClr val="tx1"/>
          </a:solidFill>
          <a:latin typeface="+mn-lt"/>
          <a:ea typeface="+mn-ea"/>
          <a:cs typeface="+mn-cs"/>
        </a:defRPr>
      </a:lvl3pPr>
      <a:lvl4pPr marL="17557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25737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75901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26065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76229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263939" indent="-250820" algn="l" defTabSz="1003280" rtl="0" eaLnBrk="1" latinLnBrk="0" hangingPunct="1">
        <a:lnSpc>
          <a:spcPct val="90000"/>
        </a:lnSpc>
        <a:spcBef>
          <a:spcPts val="549"/>
        </a:spcBef>
        <a:buFont typeface="Arial" panose="020B0604020202020204" pitchFamily="34" charset="0"/>
        <a:buChar char="•"/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1pPr>
      <a:lvl2pPr marL="50164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2pPr>
      <a:lvl3pPr marL="100328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3pPr>
      <a:lvl4pPr marL="1504920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4pPr>
      <a:lvl5pPr marL="200655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5pPr>
      <a:lvl6pPr marL="250819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6pPr>
      <a:lvl7pPr marL="300983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7pPr>
      <a:lvl8pPr marL="351147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8pPr>
      <a:lvl9pPr marL="4013119" algn="l" defTabSz="1003280" rtl="0" eaLnBrk="1" latinLnBrk="0" hangingPunct="1">
        <a:defRPr sz="1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ABC6-7A12-A8D3-8AC4-198A4E3C0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153AFBD-AED5-CFB3-F19D-0E628E952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0"/>
            <a:ext cx="10691814" cy="5932170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7C0243-DC36-40C4-5EBA-7646996C7AD5}"/>
              </a:ext>
            </a:extLst>
          </p:cNvPr>
          <p:cNvSpPr txBox="1"/>
          <p:nvPr/>
        </p:nvSpPr>
        <p:spPr>
          <a:xfrm>
            <a:off x="2248349" y="2700546"/>
            <a:ext cx="68633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b="1" dirty="0"/>
              <a:t>KPI Dashboard &amp; Security Metrics</a:t>
            </a:r>
          </a:p>
        </p:txBody>
      </p:sp>
    </p:spTree>
    <p:extLst>
      <p:ext uri="{BB962C8B-B14F-4D97-AF65-F5344CB8AC3E}">
        <p14:creationId xmlns:p14="http://schemas.microsoft.com/office/powerpoint/2010/main" val="1310501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F0DA-1EF4-E6FD-7F66-B24CD4F2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3E2C129C-2462-45D0-71DC-659C8C8B5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4" y="0"/>
            <a:ext cx="10691814" cy="593217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0A4C4E-39B8-D1A2-2CA0-140B503CE6F4}"/>
              </a:ext>
            </a:extLst>
          </p:cNvPr>
          <p:cNvSpPr txBox="1"/>
          <p:nvPr/>
        </p:nvSpPr>
        <p:spPr>
          <a:xfrm>
            <a:off x="2470921" y="1115275"/>
            <a:ext cx="574996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Mini SOC Security Dashboard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1637847-D351-3B96-4FF8-B47FE4FC7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84812"/>
            <a:ext cx="10691813" cy="5500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060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9B5D0-A40E-23F7-2803-B5DA818D2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097AE7B-E365-9E32-7F3A-3EEB9AB984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0"/>
            <a:ext cx="10691814" cy="593217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5E104B-5F33-0888-8A73-F90015E0C9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081" y="2211570"/>
            <a:ext cx="7056732" cy="31016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A6B677-45AA-A63E-EBBB-F7480324FC7E}"/>
              </a:ext>
            </a:extLst>
          </p:cNvPr>
          <p:cNvSpPr txBox="1"/>
          <p:nvPr/>
        </p:nvSpPr>
        <p:spPr>
          <a:xfrm>
            <a:off x="392654" y="1933351"/>
            <a:ext cx="53465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Total Events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B969ED-4054-06E4-7153-1699A3F07653}"/>
              </a:ext>
            </a:extLst>
          </p:cNvPr>
          <p:cNvSpPr txBox="1"/>
          <p:nvPr/>
        </p:nvSpPr>
        <p:spPr>
          <a:xfrm>
            <a:off x="349864" y="2596753"/>
            <a:ext cx="27160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Counts all system events </a:t>
            </a:r>
          </a:p>
        </p:txBody>
      </p:sp>
    </p:spTree>
    <p:extLst>
      <p:ext uri="{BB962C8B-B14F-4D97-AF65-F5344CB8AC3E}">
        <p14:creationId xmlns:p14="http://schemas.microsoft.com/office/powerpoint/2010/main" val="1814252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07D50-5788-22C0-4548-B6CF1B51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1B2185F2-8782-27EC-2DDC-2FD3962CC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-86061"/>
            <a:ext cx="10691814" cy="593217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D64EE5-2387-DCA9-EEAF-4085E0F922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00" t="289" r="19238" b="-289"/>
          <a:stretch>
            <a:fillRect/>
          </a:stretch>
        </p:blipFill>
        <p:spPr>
          <a:xfrm>
            <a:off x="4948517" y="1796591"/>
            <a:ext cx="5635720" cy="4305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DBABC3-D137-8859-2868-77268DFC556B}"/>
              </a:ext>
            </a:extLst>
          </p:cNvPr>
          <p:cNvSpPr txBox="1"/>
          <p:nvPr/>
        </p:nvSpPr>
        <p:spPr>
          <a:xfrm>
            <a:off x="332533" y="2177951"/>
            <a:ext cx="534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Hosts Distribution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E30D0-D530-56DD-621F-208AD192035A}"/>
              </a:ext>
            </a:extLst>
          </p:cNvPr>
          <p:cNvSpPr txBox="1"/>
          <p:nvPr/>
        </p:nvSpPr>
        <p:spPr>
          <a:xfrm>
            <a:off x="332533" y="3228653"/>
            <a:ext cx="5005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Display system-monitored endpoints distribution</a:t>
            </a:r>
          </a:p>
        </p:txBody>
      </p:sp>
    </p:spTree>
    <p:extLst>
      <p:ext uri="{BB962C8B-B14F-4D97-AF65-F5344CB8AC3E}">
        <p14:creationId xmlns:p14="http://schemas.microsoft.com/office/powerpoint/2010/main" val="197570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5BC0-DFA5-894F-C667-2C658BE52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75562A6-5CD5-F6DF-E4E9-D0BC89A693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0" y="0"/>
            <a:ext cx="10691814" cy="5932170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6C29A4-AB45-7115-0002-F06F08742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0408" y="2394894"/>
            <a:ext cx="7064352" cy="320829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C8163E9-AEE0-CF47-EC98-7596B5BC712B}"/>
              </a:ext>
            </a:extLst>
          </p:cNvPr>
          <p:cNvSpPr txBox="1"/>
          <p:nvPr/>
        </p:nvSpPr>
        <p:spPr>
          <a:xfrm>
            <a:off x="295835" y="1935039"/>
            <a:ext cx="534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Detected  Events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401F4B-6000-1CE3-34C5-492DCF4DEB17}"/>
              </a:ext>
            </a:extLst>
          </p:cNvPr>
          <p:cNvSpPr txBox="1"/>
          <p:nvPr/>
        </p:nvSpPr>
        <p:spPr>
          <a:xfrm>
            <a:off x="295835" y="2861534"/>
            <a:ext cx="248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Display system events  </a:t>
            </a:r>
          </a:p>
        </p:txBody>
      </p:sp>
    </p:spTree>
    <p:extLst>
      <p:ext uri="{BB962C8B-B14F-4D97-AF65-F5344CB8AC3E}">
        <p14:creationId xmlns:p14="http://schemas.microsoft.com/office/powerpoint/2010/main" val="38641038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B5808-FC9A-AF45-C78A-851FEAB7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81BCF416-EDF3-DF28-1612-4F433A907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1" y="-102139"/>
            <a:ext cx="10691814" cy="5932170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0D483D-134A-02B0-3655-EBBA3D0448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8572"/>
          <a:stretch>
            <a:fillRect/>
          </a:stretch>
        </p:blipFill>
        <p:spPr>
          <a:xfrm>
            <a:off x="3600146" y="2069744"/>
            <a:ext cx="7047791" cy="33852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6D2925-7C34-DB67-58FD-2251D3C83720}"/>
              </a:ext>
            </a:extLst>
          </p:cNvPr>
          <p:cNvSpPr txBox="1"/>
          <p:nvPr/>
        </p:nvSpPr>
        <p:spPr>
          <a:xfrm>
            <a:off x="370495" y="2069744"/>
            <a:ext cx="5346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Top Alerts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46A591-AF24-D0A0-FBEE-C7B43D7E8345}"/>
              </a:ext>
            </a:extLst>
          </p:cNvPr>
          <p:cNvSpPr txBox="1"/>
          <p:nvPr/>
        </p:nvSpPr>
        <p:spPr>
          <a:xfrm>
            <a:off x="43876" y="3195020"/>
            <a:ext cx="3567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Display Alerts if there is an attack  </a:t>
            </a:r>
          </a:p>
        </p:txBody>
      </p:sp>
    </p:spTree>
    <p:extLst>
      <p:ext uri="{BB962C8B-B14F-4D97-AF65-F5344CB8AC3E}">
        <p14:creationId xmlns:p14="http://schemas.microsoft.com/office/powerpoint/2010/main" val="3621939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B9BA-24ED-917A-DC9F-BB039120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AC708045-F575-62E6-17B0-26057F933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1" y="0"/>
            <a:ext cx="10691814" cy="5932170"/>
          </a:xfrm>
          <a:prstGeom prst="rect">
            <a:avLst/>
          </a:prstGeom>
          <a:noFill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179216-7691-7879-A1E8-DE6C83077592}"/>
              </a:ext>
            </a:extLst>
          </p:cNvPr>
          <p:cNvSpPr txBox="1"/>
          <p:nvPr/>
        </p:nvSpPr>
        <p:spPr>
          <a:xfrm>
            <a:off x="4007223" y="1465054"/>
            <a:ext cx="3313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Root Cause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FCBD9-35E1-3ED2-5D1D-E00F7F13E6D0}"/>
              </a:ext>
            </a:extLst>
          </p:cNvPr>
          <p:cNvSpPr txBox="1"/>
          <p:nvPr/>
        </p:nvSpPr>
        <p:spPr>
          <a:xfrm>
            <a:off x="2326340" y="968219"/>
            <a:ext cx="64169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Perform root cause analysis for a selected incident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63A81-2490-FFE2-CBFD-77C069033B51}"/>
              </a:ext>
            </a:extLst>
          </p:cNvPr>
          <p:cNvSpPr txBox="1"/>
          <p:nvPr/>
        </p:nvSpPr>
        <p:spPr>
          <a:xfrm>
            <a:off x="2563008" y="2240991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Brute Force Attack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073DA1-9AF8-3A26-D9D8-08228945BF6E}"/>
              </a:ext>
            </a:extLst>
          </p:cNvPr>
          <p:cNvSpPr txBox="1"/>
          <p:nvPr/>
        </p:nvSpPr>
        <p:spPr>
          <a:xfrm>
            <a:off x="188259" y="2240991"/>
            <a:ext cx="1409251" cy="3676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Incident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BDE1B-6E83-5C7E-5446-BE696F68B60F}"/>
              </a:ext>
            </a:extLst>
          </p:cNvPr>
          <p:cNvSpPr txBox="1"/>
          <p:nvPr/>
        </p:nvSpPr>
        <p:spPr>
          <a:xfrm>
            <a:off x="188258" y="2981304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Detection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1D7101-F831-AEA0-6AAB-FC61F540AD8D}"/>
              </a:ext>
            </a:extLst>
          </p:cNvPr>
          <p:cNvSpPr txBox="1"/>
          <p:nvPr/>
        </p:nvSpPr>
        <p:spPr>
          <a:xfrm>
            <a:off x="2563008" y="3013090"/>
            <a:ext cx="5346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Event ID 4625</a:t>
            </a:r>
          </a:p>
          <a:p>
            <a:r>
              <a:rPr lang="en-US" dirty="0"/>
              <a:t>Multiple Failed Login Attempts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3CA413-86AE-ACA5-AE6B-EF80B8AEF65E}"/>
              </a:ext>
            </a:extLst>
          </p:cNvPr>
          <p:cNvSpPr txBox="1"/>
          <p:nvPr/>
        </p:nvSpPr>
        <p:spPr>
          <a:xfrm>
            <a:off x="188258" y="3936420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Root Cause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795F31-2F85-C891-F473-4FBF7D1580AD}"/>
              </a:ext>
            </a:extLst>
          </p:cNvPr>
          <p:cNvSpPr txBox="1"/>
          <p:nvPr/>
        </p:nvSpPr>
        <p:spPr>
          <a:xfrm>
            <a:off x="2563008" y="3917408"/>
            <a:ext cx="852543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Weak password policy and repeated authentication attempts allowed the attacker to perform password guessing attacks.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822C3-ABB1-0590-69FA-C70EC9EF0534}"/>
              </a:ext>
            </a:extLst>
          </p:cNvPr>
          <p:cNvSpPr txBox="1"/>
          <p:nvPr/>
        </p:nvSpPr>
        <p:spPr>
          <a:xfrm>
            <a:off x="188258" y="4888128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070D90-D69D-A1AF-EA77-41BCB7B1BE25}"/>
              </a:ext>
            </a:extLst>
          </p:cNvPr>
          <p:cNvSpPr txBox="1"/>
          <p:nvPr/>
        </p:nvSpPr>
        <p:spPr>
          <a:xfrm>
            <a:off x="2563008" y="4915284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Potential unauthorized access to user accounts.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8537BF-D7C6-7A0B-7031-40A6DC31016E}"/>
              </a:ext>
            </a:extLst>
          </p:cNvPr>
          <p:cNvSpPr txBox="1"/>
          <p:nvPr/>
        </p:nvSpPr>
        <p:spPr>
          <a:xfrm>
            <a:off x="188258" y="5839836"/>
            <a:ext cx="5346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Recommendations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7DA943C-7597-D437-82E0-606BCEF9B3A7}"/>
              </a:ext>
            </a:extLst>
          </p:cNvPr>
          <p:cNvSpPr txBox="1"/>
          <p:nvPr/>
        </p:nvSpPr>
        <p:spPr>
          <a:xfrm>
            <a:off x="2565055" y="5800725"/>
            <a:ext cx="55617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- Enable MFA.</a:t>
            </a:r>
          </a:p>
          <a:p>
            <a:r>
              <a:rPr lang="en-US" dirty="0"/>
              <a:t>- Implement account lockout policies.</a:t>
            </a:r>
          </a:p>
          <a:p>
            <a:r>
              <a:rPr lang="en-US" dirty="0"/>
              <a:t>- Use strong passwords.</a:t>
            </a:r>
          </a:p>
          <a:p>
            <a:r>
              <a:rPr lang="en-US" dirty="0"/>
              <a:t>- Monitor Event ID 4625.</a:t>
            </a:r>
          </a:p>
        </p:txBody>
      </p:sp>
    </p:spTree>
    <p:extLst>
      <p:ext uri="{BB962C8B-B14F-4D97-AF65-F5344CB8AC3E}">
        <p14:creationId xmlns:p14="http://schemas.microsoft.com/office/powerpoint/2010/main" val="111928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F786B-55B7-DC38-28BF-3FF072844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extLst>
              <a:ext uri="{FF2B5EF4-FFF2-40B4-BE49-F238E27FC236}">
                <a16:creationId xmlns:a16="http://schemas.microsoft.com/office/drawing/2014/main" id="{50F46753-49AC-DFB9-BFC0-4AC7A189D6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t="-9550" b="9550"/>
          <a:stretch>
            <a:fillRect/>
          </a:stretch>
        </p:blipFill>
        <p:spPr bwMode="auto">
          <a:xfrm>
            <a:off x="-1" y="0"/>
            <a:ext cx="10691814" cy="5932170"/>
          </a:xfrm>
          <a:prstGeom prst="rect">
            <a:avLst/>
          </a:prstGeom>
          <a:noFill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1E437C-5AED-4F17-E9CB-FC89C6B92D4E}"/>
              </a:ext>
            </a:extLst>
          </p:cNvPr>
          <p:cNvSpPr txBox="1"/>
          <p:nvPr/>
        </p:nvSpPr>
        <p:spPr>
          <a:xfrm>
            <a:off x="305304" y="2808267"/>
            <a:ext cx="10081204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From the Dashboards section, a new dashboard was created and customized with multiple visualizations to present security KPIs, event statistics, and monitored endpoints. The dashboard serves as a centralized monitoring interface for the SOC team, enabling analysts to quickly detect anomalies, track security incidents, analyze attack patterns, and make informed decisions during incident response activities.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479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263</TotalTime>
  <Words>170</Words>
  <Application>Microsoft Office PowerPoint</Application>
  <PresentationFormat>Custom</PresentationFormat>
  <Paragraphs>27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200025319-Mohamed  Moustafa Elsaid  Elhoot</dc:creator>
  <cp:lastModifiedBy>200025319-Mohamed  Moustafa Elsaid  Elhoot</cp:lastModifiedBy>
  <cp:revision>3</cp:revision>
  <dcterms:created xsi:type="dcterms:W3CDTF">2026-04-22T22:28:22Z</dcterms:created>
  <dcterms:modified xsi:type="dcterms:W3CDTF">2026-06-21T00:11:20Z</dcterms:modified>
</cp:coreProperties>
</file>